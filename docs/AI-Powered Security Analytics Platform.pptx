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grandir Wide Bold" panose="020B0604020202020204" charset="0"/>
      <p:regular r:id="rId20"/>
    </p:embeddedFont>
    <p:embeddedFont>
      <p:font typeface="Canva Sans Bold" panose="020B0604020202020204" charset="0"/>
      <p:regular r:id="rId21"/>
    </p:embeddedFont>
    <p:embeddedFont>
      <p:font typeface="Times New Roman Bold" panose="02020803070505020304" pitchFamily="18"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87" autoAdjust="0"/>
    <p:restoredTop sz="94622" autoAdjust="0"/>
  </p:normalViewPr>
  <p:slideViewPr>
    <p:cSldViewPr>
      <p:cViewPr varScale="1">
        <p:scale>
          <a:sx n="61" d="100"/>
          <a:sy n="61" d="100"/>
        </p:scale>
        <p:origin x="46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3390/app13116610" TargetMode="External"/><Relationship Id="rId7" Type="http://schemas.openxmlformats.org/officeDocument/2006/relationships/hyperlink" Target="https://doi.org/10.1145/2939672.2939778" TargetMode="External"/><Relationship Id="rId2" Type="http://schemas.openxmlformats.org/officeDocument/2006/relationships/hyperlink" Target="https://doi.org/10.1109/ICRAIE59459.2023.10468438" TargetMode="External"/><Relationship Id="rId1" Type="http://schemas.openxmlformats.org/officeDocument/2006/relationships/slideLayout" Target="../slideLayouts/slideLayout7.xml"/><Relationship Id="rId6" Type="http://schemas.openxmlformats.org/officeDocument/2006/relationships/hyperlink" Target="https://doi.org/10.1109/ICAIC67076.2026.11395856" TargetMode="External"/><Relationship Id="rId5" Type="http://schemas.openxmlformats.org/officeDocument/2006/relationships/hyperlink" Target="https://doi.org/10.1109/ICSI70302.2026.11544238" TargetMode="External"/><Relationship Id="rId4" Type="http://schemas.openxmlformats.org/officeDocument/2006/relationships/hyperlink" Target="https://doi.org/10.1109/IEEECONF64229.2025.10948089"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109/ACCESS.2022.3168976" TargetMode="External"/><Relationship Id="rId2" Type="http://schemas.openxmlformats.org/officeDocument/2006/relationships/hyperlink" Target="https://www.mitre.org/news-insights/publication/finding-cyber-threats-attck-based-analytics" TargetMode="External"/><Relationship Id="rId1" Type="http://schemas.openxmlformats.org/officeDocument/2006/relationships/slideLayout" Target="../slideLayouts/slideLayout7.xml"/><Relationship Id="rId6" Type="http://schemas.openxmlformats.org/officeDocument/2006/relationships/hyperlink" Target="https://doi.org/10.1016/j.rineng.2024.102254" TargetMode="External"/><Relationship Id="rId5" Type="http://schemas.openxmlformats.org/officeDocument/2006/relationships/hyperlink" Target="https://doi.org/10.1016/j.comnet.2012.10.022" TargetMode="External"/><Relationship Id="rId4" Type="http://schemas.openxmlformats.org/officeDocument/2006/relationships/hyperlink" Target="https://doi.org/10.1109/NTMS.2016.779246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4" name="TextBox 4"/>
          <p:cNvSpPr txBox="1"/>
          <p:nvPr/>
        </p:nvSpPr>
        <p:spPr>
          <a:xfrm>
            <a:off x="18669000" y="-397818"/>
            <a:ext cx="1676400" cy="10684818"/>
          </a:xfrm>
          <a:prstGeom prst="rect">
            <a:avLst/>
          </a:prstGeom>
        </p:spPr>
        <p:txBody>
          <a:bodyPr lIns="50800" tIns="50800" rIns="50800" bIns="50800" rtlCol="0" anchor="ctr"/>
          <a:lstStyle/>
          <a:p>
            <a:pPr algn="ctr">
              <a:lnSpc>
                <a:spcPts val="3287"/>
              </a:lnSpc>
            </a:pPr>
            <a:endParaRPr/>
          </a:p>
        </p:txBody>
      </p:sp>
      <p:sp>
        <p:nvSpPr>
          <p:cNvPr id="5" name="TextBox 5"/>
          <p:cNvSpPr txBox="1"/>
          <p:nvPr/>
        </p:nvSpPr>
        <p:spPr>
          <a:xfrm>
            <a:off x="1028700" y="2085540"/>
            <a:ext cx="12632956" cy="4422910"/>
          </a:xfrm>
          <a:prstGeom prst="rect">
            <a:avLst/>
          </a:prstGeom>
        </p:spPr>
        <p:txBody>
          <a:bodyPr lIns="0" tIns="0" rIns="0" bIns="0" rtlCol="0" anchor="t">
            <a:spAutoFit/>
          </a:bodyPr>
          <a:lstStyle/>
          <a:p>
            <a:pPr algn="l">
              <a:lnSpc>
                <a:spcPts val="6546"/>
              </a:lnSpc>
            </a:pPr>
            <a:r>
              <a:rPr lang="en-US" sz="6546" b="1">
                <a:solidFill>
                  <a:srgbClr val="000000"/>
                </a:solidFill>
                <a:latin typeface="Times New Roman Bold"/>
                <a:ea typeface="Times New Roman Bold"/>
                <a:cs typeface="Times New Roman Bold"/>
                <a:sym typeface="Times New Roman Bold"/>
              </a:rPr>
              <a:t>AI-POWERED SECURITY ANALYTICS PLATFORM</a:t>
            </a:r>
          </a:p>
          <a:p>
            <a:pPr algn="l">
              <a:lnSpc>
                <a:spcPts val="6839"/>
              </a:lnSpc>
            </a:pPr>
            <a:endParaRPr lang="en-US" sz="6546" b="1">
              <a:solidFill>
                <a:srgbClr val="000000"/>
              </a:solidFill>
              <a:latin typeface="Times New Roman Bold"/>
              <a:ea typeface="Times New Roman Bold"/>
              <a:cs typeface="Times New Roman Bold"/>
              <a:sym typeface="Times New Roman Bold"/>
            </a:endParaRPr>
          </a:p>
          <a:p>
            <a:pPr algn="l">
              <a:lnSpc>
                <a:spcPts val="7463"/>
              </a:lnSpc>
            </a:pPr>
            <a:endParaRPr lang="en-US" sz="6546" b="1">
              <a:solidFill>
                <a:srgbClr val="000000"/>
              </a:solidFill>
              <a:latin typeface="Times New Roman Bold"/>
              <a:ea typeface="Times New Roman Bold"/>
              <a:cs typeface="Times New Roman Bold"/>
              <a:sym typeface="Times New Roman Bold"/>
            </a:endParaRPr>
          </a:p>
          <a:p>
            <a:pPr algn="l">
              <a:lnSpc>
                <a:spcPts val="7463"/>
              </a:lnSpc>
            </a:pPr>
            <a:endParaRPr lang="en-US" sz="6546" b="1">
              <a:solidFill>
                <a:srgbClr val="000000"/>
              </a:solidFill>
              <a:latin typeface="Times New Roman Bold"/>
              <a:ea typeface="Times New Roman Bold"/>
              <a:cs typeface="Times New Roman Bold"/>
              <a:sym typeface="Times New Roman Bold"/>
            </a:endParaRPr>
          </a:p>
        </p:txBody>
      </p:sp>
      <p:sp>
        <p:nvSpPr>
          <p:cNvPr id="6" name="TextBox 6"/>
          <p:cNvSpPr txBox="1"/>
          <p:nvPr/>
        </p:nvSpPr>
        <p:spPr>
          <a:xfrm>
            <a:off x="1123950" y="5508325"/>
            <a:ext cx="15449032" cy="1172845"/>
          </a:xfrm>
          <a:prstGeom prst="rect">
            <a:avLst/>
          </a:prstGeom>
        </p:spPr>
        <p:txBody>
          <a:bodyPr lIns="0" tIns="0" rIns="0" bIns="0" rtlCol="0" anchor="t">
            <a:spAutoFit/>
          </a:bodyPr>
          <a:lstStyle/>
          <a:p>
            <a:pPr algn="l">
              <a:lnSpc>
                <a:spcPts val="3079"/>
              </a:lnSpc>
            </a:pPr>
            <a:r>
              <a:rPr lang="en-US" sz="2199" b="1" dirty="0">
                <a:solidFill>
                  <a:srgbClr val="000000"/>
                </a:solidFill>
                <a:latin typeface="Times New Roman Bold"/>
                <a:ea typeface="Times New Roman Bold"/>
                <a:cs typeface="Times New Roman Bold"/>
                <a:sym typeface="Times New Roman Bold"/>
              </a:rPr>
              <a:t>Domain:</a:t>
            </a:r>
            <a:r>
              <a:rPr lang="en-US" sz="2199" dirty="0">
                <a:solidFill>
                  <a:srgbClr val="000000"/>
                </a:solidFill>
                <a:latin typeface="Times New Roman"/>
                <a:ea typeface="Times New Roman"/>
                <a:cs typeface="Times New Roman"/>
                <a:sym typeface="Times New Roman"/>
              </a:rPr>
              <a:t> Cybersecurity, Security Information and Event Management (SIEM), Compiler Design</a:t>
            </a:r>
          </a:p>
          <a:p>
            <a:pPr algn="l">
              <a:lnSpc>
                <a:spcPts val="3079"/>
              </a:lnSpc>
            </a:pPr>
            <a:r>
              <a:rPr lang="en-US" sz="2199" b="1" dirty="0">
                <a:solidFill>
                  <a:srgbClr val="000000"/>
                </a:solidFill>
                <a:latin typeface="Times New Roman Bold"/>
                <a:ea typeface="Times New Roman Bold"/>
                <a:cs typeface="Times New Roman Bold"/>
                <a:sym typeface="Times New Roman Bold"/>
              </a:rPr>
              <a:t>Project focus:</a:t>
            </a:r>
            <a:r>
              <a:rPr lang="en-US" sz="2199" dirty="0">
                <a:solidFill>
                  <a:srgbClr val="000000"/>
                </a:solidFill>
                <a:latin typeface="Times New Roman"/>
                <a:ea typeface="Times New Roman"/>
                <a:cs typeface="Times New Roman"/>
                <a:sym typeface="Times New Roman"/>
              </a:rPr>
              <a:t> Translating human-readable security detection rules into validated and executable detection logic for normalized security events.</a:t>
            </a:r>
          </a:p>
        </p:txBody>
      </p:sp>
      <p:sp>
        <p:nvSpPr>
          <p:cNvPr id="7" name="TextBox 7"/>
          <p:cNvSpPr txBox="1"/>
          <p:nvPr/>
        </p:nvSpPr>
        <p:spPr>
          <a:xfrm>
            <a:off x="1028700" y="942975"/>
            <a:ext cx="3524329" cy="574929"/>
          </a:xfrm>
          <a:prstGeom prst="rect">
            <a:avLst/>
          </a:prstGeom>
        </p:spPr>
        <p:txBody>
          <a:bodyPr lIns="0" tIns="0" rIns="0" bIns="0" rtlCol="0" anchor="t">
            <a:spAutoFit/>
          </a:bodyPr>
          <a:lstStyle/>
          <a:p>
            <a:pPr algn="l">
              <a:lnSpc>
                <a:spcPts val="4536"/>
              </a:lnSpc>
            </a:pPr>
            <a:r>
              <a:rPr lang="en-US" sz="3240">
                <a:solidFill>
                  <a:srgbClr val="000000"/>
                </a:solidFill>
                <a:latin typeface="Times New Roman"/>
                <a:ea typeface="Times New Roman"/>
                <a:cs typeface="Times New Roman"/>
                <a:sym typeface="Times New Roman"/>
              </a:rPr>
              <a:t>12 October 2026</a:t>
            </a:r>
          </a:p>
        </p:txBody>
      </p:sp>
      <p:sp>
        <p:nvSpPr>
          <p:cNvPr id="8" name="TextBox 8"/>
          <p:cNvSpPr txBox="1"/>
          <p:nvPr/>
        </p:nvSpPr>
        <p:spPr>
          <a:xfrm>
            <a:off x="1123950" y="8295321"/>
            <a:ext cx="12176344" cy="574841"/>
          </a:xfrm>
          <a:prstGeom prst="rect">
            <a:avLst/>
          </a:prstGeom>
        </p:spPr>
        <p:txBody>
          <a:bodyPr lIns="0" tIns="0" rIns="0" bIns="0" rtlCol="0" anchor="t">
            <a:spAutoFit/>
          </a:bodyPr>
          <a:lstStyle/>
          <a:p>
            <a:pPr algn="l">
              <a:lnSpc>
                <a:spcPts val="4540"/>
              </a:lnSpc>
            </a:pPr>
            <a:r>
              <a:rPr lang="en-US" sz="3243">
                <a:solidFill>
                  <a:srgbClr val="000000"/>
                </a:solidFill>
                <a:latin typeface="Times New Roman"/>
                <a:ea typeface="Times New Roman"/>
                <a:cs typeface="Times New Roman"/>
                <a:sym typeface="Times New Roman"/>
              </a:rPr>
              <a:t>Presented by: Abhay Kapale (24BCI0090), Nitu S U (24BCI0075)</a:t>
            </a:r>
          </a:p>
        </p:txBody>
      </p:sp>
      <p:sp>
        <p:nvSpPr>
          <p:cNvPr id="9" name="TextBox 9"/>
          <p:cNvSpPr txBox="1"/>
          <p:nvPr/>
        </p:nvSpPr>
        <p:spPr>
          <a:xfrm>
            <a:off x="1028700" y="4296995"/>
            <a:ext cx="13039647" cy="3418188"/>
          </a:xfrm>
          <a:prstGeom prst="rect">
            <a:avLst/>
          </a:prstGeom>
        </p:spPr>
        <p:txBody>
          <a:bodyPr lIns="0" tIns="0" rIns="0" bIns="0" rtlCol="0" anchor="t">
            <a:spAutoFit/>
          </a:bodyPr>
          <a:lstStyle/>
          <a:p>
            <a:pPr algn="l">
              <a:lnSpc>
                <a:spcPts val="3376"/>
              </a:lnSpc>
            </a:pPr>
            <a:r>
              <a:rPr lang="en-US" sz="3376" b="1" dirty="0">
                <a:solidFill>
                  <a:srgbClr val="000000"/>
                </a:solidFill>
                <a:latin typeface="Times New Roman Bold"/>
                <a:ea typeface="Times New Roman Bold"/>
                <a:cs typeface="Times New Roman Bold"/>
                <a:sym typeface="Times New Roman Bold"/>
              </a:rPr>
              <a:t>A COMPILER-BASED APPROACH TO SIEM DETECTION RULE PROCESSING</a:t>
            </a:r>
          </a:p>
          <a:p>
            <a:pPr algn="l">
              <a:lnSpc>
                <a:spcPts val="6735"/>
              </a:lnSpc>
            </a:pPr>
            <a:endParaRPr lang="en-US" sz="3376" b="1" dirty="0">
              <a:solidFill>
                <a:srgbClr val="000000"/>
              </a:solidFill>
              <a:latin typeface="Times New Roman Bold"/>
              <a:ea typeface="Times New Roman Bold"/>
              <a:cs typeface="Times New Roman Bold"/>
              <a:sym typeface="Times New Roman Bold"/>
            </a:endParaRPr>
          </a:p>
          <a:p>
            <a:pPr algn="l">
              <a:lnSpc>
                <a:spcPts val="6735"/>
              </a:lnSpc>
            </a:pPr>
            <a:endParaRPr lang="en-US" sz="3376" b="1" dirty="0">
              <a:solidFill>
                <a:srgbClr val="000000"/>
              </a:solidFill>
              <a:latin typeface="Times New Roman Bold"/>
              <a:ea typeface="Times New Roman Bold"/>
              <a:cs typeface="Times New Roman Bold"/>
              <a:sym typeface="Times New Roman Bold"/>
            </a:endParaRPr>
          </a:p>
          <a:p>
            <a:pPr algn="l">
              <a:lnSpc>
                <a:spcPts val="6735"/>
              </a:lnSpc>
            </a:pPr>
            <a:endParaRPr lang="en-US" sz="3376" b="1" dirty="0">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1123950" y="8990117"/>
            <a:ext cx="12176344" cy="574841"/>
          </a:xfrm>
          <a:prstGeom prst="rect">
            <a:avLst/>
          </a:prstGeom>
        </p:spPr>
        <p:txBody>
          <a:bodyPr lIns="0" tIns="0" rIns="0" bIns="0" rtlCol="0" anchor="t">
            <a:spAutoFit/>
          </a:bodyPr>
          <a:lstStyle/>
          <a:p>
            <a:pPr algn="l">
              <a:lnSpc>
                <a:spcPts val="4540"/>
              </a:lnSpc>
            </a:pPr>
            <a:r>
              <a:rPr lang="en-US" sz="3243">
                <a:solidFill>
                  <a:srgbClr val="000000"/>
                </a:solidFill>
                <a:latin typeface="Times New Roman"/>
                <a:ea typeface="Times New Roman"/>
                <a:cs typeface="Times New Roman"/>
                <a:sym typeface="Times New Roman"/>
              </a:rPr>
              <a:t>Faculty: Kanagraj 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1028700" y="1556870"/>
            <a:ext cx="10422463" cy="1183938"/>
          </a:xfrm>
          <a:prstGeom prst="rect">
            <a:avLst/>
          </a:prstGeom>
        </p:spPr>
        <p:txBody>
          <a:bodyPr lIns="0" tIns="0" rIns="0" bIns="0" rtlCol="0" anchor="t">
            <a:spAutoFit/>
          </a:bodyPr>
          <a:lstStyle/>
          <a:p>
            <a:pPr algn="l">
              <a:lnSpc>
                <a:spcPts val="8974"/>
              </a:lnSpc>
            </a:pPr>
            <a:r>
              <a:rPr lang="en-US" sz="7872" b="1">
                <a:solidFill>
                  <a:srgbClr val="000000"/>
                </a:solidFill>
                <a:latin typeface="Times New Roman Bold"/>
                <a:ea typeface="Times New Roman Bold"/>
                <a:cs typeface="Times New Roman Bold"/>
                <a:sym typeface="Times New Roman Bold"/>
              </a:rPr>
              <a:t>OUR CONTENTS</a:t>
            </a:r>
          </a:p>
        </p:txBody>
      </p:sp>
      <p:grpSp>
        <p:nvGrpSpPr>
          <p:cNvPr id="6" name="Group 6"/>
          <p:cNvGrpSpPr/>
          <p:nvPr/>
        </p:nvGrpSpPr>
        <p:grpSpPr>
          <a:xfrm>
            <a:off x="1028700" y="3217151"/>
            <a:ext cx="5567160" cy="838151"/>
            <a:chOff x="0" y="0"/>
            <a:chExt cx="1466248" cy="220747"/>
          </a:xfrm>
        </p:grpSpPr>
        <p:sp>
          <p:nvSpPr>
            <p:cNvPr id="7" name="Freeform 7"/>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8" name="TextBox 8"/>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9" name="Group 9"/>
          <p:cNvGrpSpPr/>
          <p:nvPr/>
        </p:nvGrpSpPr>
        <p:grpSpPr>
          <a:xfrm>
            <a:off x="7076476" y="3217151"/>
            <a:ext cx="5567160" cy="838151"/>
            <a:chOff x="0" y="0"/>
            <a:chExt cx="1466248" cy="220747"/>
          </a:xfrm>
        </p:grpSpPr>
        <p:sp>
          <p:nvSpPr>
            <p:cNvPr id="10" name="Freeform 10"/>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11" name="TextBox 11"/>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12" name="Group 12"/>
          <p:cNvGrpSpPr/>
          <p:nvPr/>
        </p:nvGrpSpPr>
        <p:grpSpPr>
          <a:xfrm>
            <a:off x="1028700" y="4386927"/>
            <a:ext cx="5567160" cy="838151"/>
            <a:chOff x="0" y="0"/>
            <a:chExt cx="1466248" cy="220747"/>
          </a:xfrm>
        </p:grpSpPr>
        <p:sp>
          <p:nvSpPr>
            <p:cNvPr id="13" name="Freeform 13"/>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14" name="TextBox 14"/>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18" name="Group 18"/>
          <p:cNvGrpSpPr/>
          <p:nvPr/>
        </p:nvGrpSpPr>
        <p:grpSpPr>
          <a:xfrm>
            <a:off x="1028700" y="5558453"/>
            <a:ext cx="5567160" cy="838151"/>
            <a:chOff x="0" y="0"/>
            <a:chExt cx="1466248" cy="220747"/>
          </a:xfrm>
        </p:grpSpPr>
        <p:sp>
          <p:nvSpPr>
            <p:cNvPr id="19" name="Freeform 19"/>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0" name="TextBox 20"/>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21" name="Group 21"/>
          <p:cNvGrpSpPr/>
          <p:nvPr/>
        </p:nvGrpSpPr>
        <p:grpSpPr>
          <a:xfrm>
            <a:off x="7076475" y="4385460"/>
            <a:ext cx="5567160" cy="838151"/>
            <a:chOff x="0" y="0"/>
            <a:chExt cx="1466248" cy="220747"/>
          </a:xfrm>
        </p:grpSpPr>
        <p:sp>
          <p:nvSpPr>
            <p:cNvPr id="22" name="Freeform 22"/>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3" name="TextBox 23"/>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24" name="Group 24"/>
          <p:cNvGrpSpPr/>
          <p:nvPr/>
        </p:nvGrpSpPr>
        <p:grpSpPr>
          <a:xfrm>
            <a:off x="1028700" y="6729979"/>
            <a:ext cx="5567160" cy="838151"/>
            <a:chOff x="0" y="0"/>
            <a:chExt cx="1466248" cy="220747"/>
          </a:xfrm>
        </p:grpSpPr>
        <p:sp>
          <p:nvSpPr>
            <p:cNvPr id="25" name="Freeform 25"/>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6" name="TextBox 26"/>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27" name="Group 27"/>
          <p:cNvGrpSpPr/>
          <p:nvPr/>
        </p:nvGrpSpPr>
        <p:grpSpPr>
          <a:xfrm>
            <a:off x="7076475" y="5614778"/>
            <a:ext cx="5567160" cy="838151"/>
            <a:chOff x="0" y="0"/>
            <a:chExt cx="1466248" cy="220747"/>
          </a:xfrm>
        </p:grpSpPr>
        <p:sp>
          <p:nvSpPr>
            <p:cNvPr id="28" name="Freeform 28"/>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9" name="TextBox 29"/>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30" name="Group 30"/>
          <p:cNvGrpSpPr/>
          <p:nvPr/>
        </p:nvGrpSpPr>
        <p:grpSpPr>
          <a:xfrm>
            <a:off x="1028700" y="7901504"/>
            <a:ext cx="5567160" cy="838151"/>
            <a:chOff x="0" y="0"/>
            <a:chExt cx="1466248" cy="220747"/>
          </a:xfrm>
        </p:grpSpPr>
        <p:sp>
          <p:nvSpPr>
            <p:cNvPr id="31" name="Freeform 31"/>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32" name="TextBox 32"/>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grpSp>
        <p:nvGrpSpPr>
          <p:cNvPr id="33" name="Group 33"/>
          <p:cNvGrpSpPr/>
          <p:nvPr/>
        </p:nvGrpSpPr>
        <p:grpSpPr>
          <a:xfrm>
            <a:off x="7076475" y="6799204"/>
            <a:ext cx="5567160" cy="838151"/>
            <a:chOff x="0" y="0"/>
            <a:chExt cx="1466248" cy="220747"/>
          </a:xfrm>
        </p:grpSpPr>
        <p:sp>
          <p:nvSpPr>
            <p:cNvPr id="34" name="Freeform 34"/>
            <p:cNvSpPr/>
            <p:nvPr/>
          </p:nvSpPr>
          <p:spPr>
            <a:xfrm>
              <a:off x="0" y="0"/>
              <a:ext cx="1466248" cy="220747"/>
            </a:xfrm>
            <a:custGeom>
              <a:avLst/>
              <a:gdLst/>
              <a:ahLst/>
              <a:cxnLst/>
              <a:rect l="l" t="t" r="r" b="b"/>
              <a:pathLst>
                <a:path w="1466248" h="220747">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dirty="0"/>
            </a:p>
          </p:txBody>
        </p:sp>
        <p:sp>
          <p:nvSpPr>
            <p:cNvPr id="35" name="TextBox 35"/>
            <p:cNvSpPr txBox="1"/>
            <p:nvPr/>
          </p:nvSpPr>
          <p:spPr>
            <a:xfrm>
              <a:off x="0" y="-104775"/>
              <a:ext cx="1466248" cy="325522"/>
            </a:xfrm>
            <a:prstGeom prst="rect">
              <a:avLst/>
            </a:prstGeom>
          </p:spPr>
          <p:txBody>
            <a:bodyPr lIns="50800" tIns="50800" rIns="50800" bIns="50800" rtlCol="0" anchor="ctr"/>
            <a:lstStyle/>
            <a:p>
              <a:pPr algn="ctr">
                <a:lnSpc>
                  <a:spcPts val="3287"/>
                </a:lnSpc>
              </a:pPr>
              <a:endParaRPr/>
            </a:p>
          </p:txBody>
        </p:sp>
      </p:grpSp>
      <p:sp>
        <p:nvSpPr>
          <p:cNvPr id="36" name="TextBox 36"/>
          <p:cNvSpPr txBox="1"/>
          <p:nvPr/>
        </p:nvSpPr>
        <p:spPr>
          <a:xfrm>
            <a:off x="1285620" y="3295418"/>
            <a:ext cx="5053319" cy="5846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01. Objectives</a:t>
            </a:r>
          </a:p>
        </p:txBody>
      </p:sp>
      <p:sp>
        <p:nvSpPr>
          <p:cNvPr id="37" name="TextBox 37"/>
          <p:cNvSpPr txBox="1"/>
          <p:nvPr/>
        </p:nvSpPr>
        <p:spPr>
          <a:xfrm>
            <a:off x="7333396" y="3295418"/>
            <a:ext cx="5053319" cy="11561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07. Architecture diagram</a:t>
            </a:r>
          </a:p>
          <a:p>
            <a:pPr algn="l">
              <a:lnSpc>
                <a:spcPts val="4522"/>
              </a:lnSpc>
            </a:pPr>
            <a:endParaRPr lang="en-US" sz="3230">
              <a:solidFill>
                <a:srgbClr val="000000"/>
              </a:solidFill>
              <a:latin typeface="Times New Roman"/>
              <a:ea typeface="Times New Roman"/>
              <a:cs typeface="Times New Roman"/>
              <a:sym typeface="Times New Roman"/>
            </a:endParaRPr>
          </a:p>
        </p:txBody>
      </p:sp>
      <p:sp>
        <p:nvSpPr>
          <p:cNvPr id="38" name="TextBox 38"/>
          <p:cNvSpPr txBox="1"/>
          <p:nvPr/>
        </p:nvSpPr>
        <p:spPr>
          <a:xfrm>
            <a:off x="1285620" y="4465194"/>
            <a:ext cx="5053319" cy="5846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02. Introduction </a:t>
            </a:r>
          </a:p>
        </p:txBody>
      </p:sp>
      <p:sp>
        <p:nvSpPr>
          <p:cNvPr id="40" name="TextBox 40"/>
          <p:cNvSpPr txBox="1"/>
          <p:nvPr/>
        </p:nvSpPr>
        <p:spPr>
          <a:xfrm>
            <a:off x="1285620" y="5636720"/>
            <a:ext cx="5053319" cy="5846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03. Literature Survey</a:t>
            </a:r>
          </a:p>
        </p:txBody>
      </p:sp>
      <p:sp>
        <p:nvSpPr>
          <p:cNvPr id="41" name="TextBox 41"/>
          <p:cNvSpPr txBox="1"/>
          <p:nvPr/>
        </p:nvSpPr>
        <p:spPr>
          <a:xfrm>
            <a:off x="7333396" y="4547485"/>
            <a:ext cx="5053319" cy="5846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08. Design</a:t>
            </a:r>
          </a:p>
        </p:txBody>
      </p:sp>
      <p:sp>
        <p:nvSpPr>
          <p:cNvPr id="42" name="TextBox 42"/>
          <p:cNvSpPr txBox="1"/>
          <p:nvPr/>
        </p:nvSpPr>
        <p:spPr>
          <a:xfrm>
            <a:off x="1285620" y="6808246"/>
            <a:ext cx="5053319" cy="5846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04. Modules in the Project</a:t>
            </a:r>
          </a:p>
        </p:txBody>
      </p:sp>
      <p:sp>
        <p:nvSpPr>
          <p:cNvPr id="43" name="TextBox 43"/>
          <p:cNvSpPr txBox="1"/>
          <p:nvPr/>
        </p:nvSpPr>
        <p:spPr>
          <a:xfrm>
            <a:off x="7333396" y="5719011"/>
            <a:ext cx="5053319" cy="5846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09. References </a:t>
            </a:r>
          </a:p>
        </p:txBody>
      </p:sp>
      <p:sp>
        <p:nvSpPr>
          <p:cNvPr id="44" name="TextBox 44"/>
          <p:cNvSpPr txBox="1"/>
          <p:nvPr/>
        </p:nvSpPr>
        <p:spPr>
          <a:xfrm>
            <a:off x="1285620" y="7979771"/>
            <a:ext cx="5053319" cy="11561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05. Module block diagram </a:t>
            </a:r>
          </a:p>
          <a:p>
            <a:pPr algn="l">
              <a:lnSpc>
                <a:spcPts val="4522"/>
              </a:lnSpc>
            </a:pPr>
            <a:endParaRPr lang="en-US" sz="3230">
              <a:solidFill>
                <a:srgbClr val="000000"/>
              </a:solidFill>
              <a:latin typeface="Times New Roman"/>
              <a:ea typeface="Times New Roman"/>
              <a:cs typeface="Times New Roman"/>
              <a:sym typeface="Times New Roman"/>
            </a:endParaRPr>
          </a:p>
        </p:txBody>
      </p:sp>
      <p:sp>
        <p:nvSpPr>
          <p:cNvPr id="45" name="TextBox 45"/>
          <p:cNvSpPr txBox="1"/>
          <p:nvPr/>
        </p:nvSpPr>
        <p:spPr>
          <a:xfrm>
            <a:off x="7333396" y="6890536"/>
            <a:ext cx="5053319" cy="584690"/>
          </a:xfrm>
          <a:prstGeom prst="rect">
            <a:avLst/>
          </a:prstGeom>
        </p:spPr>
        <p:txBody>
          <a:bodyPr lIns="0" tIns="0" rIns="0" bIns="0" rtlCol="0" anchor="t">
            <a:spAutoFit/>
          </a:bodyPr>
          <a:lstStyle/>
          <a:p>
            <a:pPr algn="l">
              <a:lnSpc>
                <a:spcPts val="4522"/>
              </a:lnSpc>
            </a:pPr>
            <a:r>
              <a:rPr lang="en-US" sz="3230">
                <a:solidFill>
                  <a:srgbClr val="000000"/>
                </a:solidFill>
                <a:latin typeface="Times New Roman"/>
                <a:ea typeface="Times New Roman"/>
                <a:cs typeface="Times New Roman"/>
                <a:sym typeface="Times New Roman"/>
              </a:rPr>
              <a:t>10.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1028700" y="1926791"/>
            <a:ext cx="7561002" cy="1183938"/>
          </a:xfrm>
          <a:prstGeom prst="rect">
            <a:avLst/>
          </a:prstGeom>
        </p:spPr>
        <p:txBody>
          <a:bodyPr lIns="0" tIns="0" rIns="0" bIns="0" rtlCol="0" anchor="t">
            <a:spAutoFit/>
          </a:bodyPr>
          <a:lstStyle/>
          <a:p>
            <a:pPr algn="l">
              <a:lnSpc>
                <a:spcPts val="8974"/>
              </a:lnSpc>
            </a:pPr>
            <a:r>
              <a:rPr lang="en-US" sz="7872" b="1">
                <a:solidFill>
                  <a:srgbClr val="000000"/>
                </a:solidFill>
                <a:latin typeface="Times New Roman Bold"/>
                <a:ea typeface="Times New Roman Bold"/>
                <a:cs typeface="Times New Roman Bold"/>
                <a:sym typeface="Times New Roman Bold"/>
              </a:rPr>
              <a:t>OBJECTIVES</a:t>
            </a:r>
          </a:p>
        </p:txBody>
      </p:sp>
      <p:sp>
        <p:nvSpPr>
          <p:cNvPr id="6" name="TextBox 6"/>
          <p:cNvSpPr txBox="1"/>
          <p:nvPr/>
        </p:nvSpPr>
        <p:spPr>
          <a:xfrm>
            <a:off x="433709" y="3099384"/>
            <a:ext cx="14598240" cy="7043556"/>
          </a:xfrm>
          <a:prstGeom prst="rect">
            <a:avLst/>
          </a:prstGeom>
        </p:spPr>
        <p:txBody>
          <a:bodyPr lIns="0" tIns="0" rIns="0" bIns="0" rtlCol="0" anchor="t">
            <a:spAutoFit/>
          </a:bodyPr>
          <a:lstStyle/>
          <a:p>
            <a:pPr marL="505068" lvl="1" indent="-252534" algn="just">
              <a:lnSpc>
                <a:spcPts val="5684"/>
              </a:lnSpc>
              <a:buFont typeface="Arial"/>
              <a:buChar char="•"/>
            </a:pPr>
            <a:r>
              <a:rPr lang="en-US" sz="2339" spc="231">
                <a:solidFill>
                  <a:srgbClr val="000000"/>
                </a:solidFill>
                <a:latin typeface="Times New Roman"/>
                <a:ea typeface="Times New Roman"/>
                <a:cs typeface="Times New Roman"/>
                <a:sym typeface="Times New Roman"/>
              </a:rPr>
              <a:t>Develop a centralized platform for collecting, normalizing, analyzing, and monitoring security event logs.</a:t>
            </a:r>
          </a:p>
          <a:p>
            <a:pPr marL="505068" lvl="1" indent="-252534" algn="just">
              <a:lnSpc>
                <a:spcPts val="4117"/>
              </a:lnSpc>
              <a:buFont typeface="Arial"/>
              <a:buChar char="•"/>
            </a:pPr>
            <a:r>
              <a:rPr lang="en-US" sz="2339" spc="231">
                <a:solidFill>
                  <a:srgbClr val="000000"/>
                </a:solidFill>
                <a:latin typeface="Times New Roman"/>
                <a:ea typeface="Times New Roman"/>
                <a:cs typeface="Times New Roman"/>
                <a:sym typeface="Times New Roman"/>
              </a:rPr>
              <a:t>Design a rule engine that processes human-readable Sigma-inspired YAML detection rules.</a:t>
            </a:r>
          </a:p>
          <a:p>
            <a:pPr marL="505068" lvl="1" indent="-252534" algn="just">
              <a:lnSpc>
                <a:spcPts val="4117"/>
              </a:lnSpc>
              <a:buFont typeface="Arial"/>
              <a:buChar char="•"/>
            </a:pPr>
            <a:r>
              <a:rPr lang="en-US" sz="2339" spc="231">
                <a:solidFill>
                  <a:srgbClr val="000000"/>
                </a:solidFill>
                <a:latin typeface="Times New Roman"/>
                <a:ea typeface="Times New Roman"/>
                <a:cs typeface="Times New Roman"/>
                <a:sym typeface="Times New Roman"/>
              </a:rPr>
              <a:t>Implement a structured language-processing pipeline incorporating tokenization, syntax analysis, semantic checks, abstract syntax tree generation, and logical condition translation.</a:t>
            </a:r>
          </a:p>
          <a:p>
            <a:pPr marL="505068" lvl="1" indent="-252534" algn="just">
              <a:lnSpc>
                <a:spcPts val="4117"/>
              </a:lnSpc>
              <a:buFont typeface="Arial"/>
              <a:buChar char="•"/>
            </a:pPr>
            <a:r>
              <a:rPr lang="en-US" sz="2339" spc="231">
                <a:solidFill>
                  <a:srgbClr val="000000"/>
                </a:solidFill>
                <a:latin typeface="Times New Roman"/>
                <a:ea typeface="Times New Roman"/>
                <a:cs typeface="Times New Roman"/>
                <a:sym typeface="Times New Roman"/>
              </a:rPr>
              <a:t>Execute compiled rules against normalized OCSF security events to identify suspicious activity.</a:t>
            </a:r>
          </a:p>
          <a:p>
            <a:pPr marL="505068" lvl="1" indent="-252534" algn="just">
              <a:lnSpc>
                <a:spcPts val="4117"/>
              </a:lnSpc>
              <a:buFont typeface="Arial"/>
              <a:buChar char="•"/>
            </a:pPr>
            <a:r>
              <a:rPr lang="en-US" sz="2339" spc="231">
                <a:solidFill>
                  <a:srgbClr val="000000"/>
                </a:solidFill>
                <a:latin typeface="Times New Roman"/>
                <a:ea typeface="Times New Roman"/>
                <a:cs typeface="Times New Roman"/>
                <a:sym typeface="Times New Roman"/>
              </a:rPr>
              <a:t>Generate structured, traceable alerts when event conditions match the configured rules.</a:t>
            </a:r>
          </a:p>
          <a:p>
            <a:pPr marL="505068" lvl="1" indent="-252534" algn="just">
              <a:lnSpc>
                <a:spcPts val="4117"/>
              </a:lnSpc>
              <a:buFont typeface="Arial"/>
              <a:buChar char="•"/>
            </a:pPr>
            <a:r>
              <a:rPr lang="en-US" sz="2339" spc="231">
                <a:solidFill>
                  <a:srgbClr val="000000"/>
                </a:solidFill>
                <a:latin typeface="Times New Roman"/>
                <a:ea typeface="Times New Roman"/>
                <a:cs typeface="Times New Roman"/>
                <a:sym typeface="Times New Roman"/>
              </a:rPr>
              <a:t>Reduce repeated rule interpretation overhead by compiling rules during loading rather than for every incoming event.</a:t>
            </a:r>
          </a:p>
          <a:p>
            <a:pPr marL="505068" lvl="1" indent="-252534" algn="just">
              <a:lnSpc>
                <a:spcPts val="4117"/>
              </a:lnSpc>
              <a:buFont typeface="Arial"/>
              <a:buChar char="•"/>
            </a:pPr>
            <a:r>
              <a:rPr lang="en-US" sz="2339" spc="231">
                <a:solidFill>
                  <a:srgbClr val="000000"/>
                </a:solidFill>
                <a:latin typeface="Times New Roman"/>
                <a:ea typeface="Times New Roman"/>
                <a:cs typeface="Times New Roman"/>
                <a:sym typeface="Times New Roman"/>
              </a:rPr>
              <a:t>Provide a modular foundation for future SIEM rule translation, AI-assisted detection, and incident correlation.</a:t>
            </a:r>
          </a:p>
          <a:p>
            <a:pPr algn="just">
              <a:lnSpc>
                <a:spcPts val="3458"/>
              </a:lnSpc>
            </a:pPr>
            <a:endParaRPr lang="en-US" sz="2339" spc="231">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3724666" y="657225"/>
            <a:ext cx="9809969" cy="1183938"/>
          </a:xfrm>
          <a:prstGeom prst="rect">
            <a:avLst/>
          </a:prstGeom>
        </p:spPr>
        <p:txBody>
          <a:bodyPr lIns="0" tIns="0" rIns="0" bIns="0" rtlCol="0" anchor="t">
            <a:spAutoFit/>
          </a:bodyPr>
          <a:lstStyle/>
          <a:p>
            <a:pPr algn="ctr">
              <a:lnSpc>
                <a:spcPts val="8974"/>
              </a:lnSpc>
            </a:pPr>
            <a:r>
              <a:rPr lang="en-US" sz="7872" b="1">
                <a:solidFill>
                  <a:srgbClr val="000000"/>
                </a:solidFill>
                <a:latin typeface="Times New Roman Bold"/>
                <a:ea typeface="Times New Roman Bold"/>
                <a:cs typeface="Times New Roman Bold"/>
                <a:sym typeface="Times New Roman Bold"/>
              </a:rPr>
              <a:t>INTRODUCTION</a:t>
            </a:r>
          </a:p>
        </p:txBody>
      </p:sp>
      <p:sp>
        <p:nvSpPr>
          <p:cNvPr id="6" name="TextBox 6"/>
          <p:cNvSpPr txBox="1"/>
          <p:nvPr/>
        </p:nvSpPr>
        <p:spPr>
          <a:xfrm>
            <a:off x="213341" y="1985118"/>
            <a:ext cx="16423588" cy="8301882"/>
          </a:xfrm>
          <a:prstGeom prst="rect">
            <a:avLst/>
          </a:prstGeom>
        </p:spPr>
        <p:txBody>
          <a:bodyPr lIns="0" tIns="0" rIns="0" bIns="0" rtlCol="0" anchor="t">
            <a:spAutoFit/>
          </a:bodyPr>
          <a:lstStyle/>
          <a:p>
            <a:pPr algn="just">
              <a:lnSpc>
                <a:spcPts val="4148"/>
              </a:lnSpc>
            </a:pPr>
            <a:r>
              <a:rPr lang="en-US" sz="2356">
                <a:solidFill>
                  <a:srgbClr val="000000"/>
                </a:solidFill>
                <a:latin typeface="Times New Roman"/>
                <a:ea typeface="Times New Roman"/>
                <a:cs typeface="Times New Roman"/>
                <a:sym typeface="Times New Roman"/>
              </a:rPr>
              <a:t>Security Information and Event Management (SIEM) systems collect and analyze API, Windows, and Linux logs to detect suspicious activities and security threats. However, differences in log formats and the complexity of detection rules make threat detection and analysis challenging.</a:t>
            </a:r>
          </a:p>
          <a:p>
            <a:pPr algn="just">
              <a:lnSpc>
                <a:spcPts val="4148"/>
              </a:lnSpc>
            </a:pPr>
            <a:r>
              <a:rPr lang="en-US" sz="2356" b="1">
                <a:solidFill>
                  <a:srgbClr val="000000"/>
                </a:solidFill>
                <a:latin typeface="Times New Roman Bold"/>
                <a:ea typeface="Times New Roman Bold"/>
                <a:cs typeface="Times New Roman Bold"/>
                <a:sym typeface="Times New Roman Bold"/>
              </a:rPr>
              <a:t>Problem statement:</a:t>
            </a:r>
          </a:p>
          <a:p>
            <a:pPr marL="508849" lvl="1" indent="-254424" algn="just">
              <a:lnSpc>
                <a:spcPts val="4148"/>
              </a:lnSpc>
              <a:buFont typeface="Arial"/>
              <a:buChar char="•"/>
            </a:pPr>
            <a:r>
              <a:rPr lang="en-US" sz="2356">
                <a:solidFill>
                  <a:srgbClr val="000000"/>
                </a:solidFill>
                <a:latin typeface="Times New Roman"/>
                <a:ea typeface="Times New Roman"/>
                <a:cs typeface="Times New Roman"/>
                <a:sym typeface="Times New Roman"/>
              </a:rPr>
              <a:t>Security logs originate from heterogeneous sources and formats.</a:t>
            </a:r>
          </a:p>
          <a:p>
            <a:pPr marL="508849" lvl="1" indent="-254424" algn="just">
              <a:lnSpc>
                <a:spcPts val="4148"/>
              </a:lnSpc>
              <a:buFont typeface="Arial"/>
              <a:buChar char="•"/>
            </a:pPr>
            <a:r>
              <a:rPr lang="en-US" sz="2356">
                <a:solidFill>
                  <a:srgbClr val="000000"/>
                </a:solidFill>
                <a:latin typeface="Times New Roman"/>
                <a:ea typeface="Times New Roman"/>
                <a:cs typeface="Times New Roman"/>
                <a:sym typeface="Times New Roman"/>
              </a:rPr>
              <a:t>Detection rules may contain nested conditions, Boolean operators, and field-level comparisons.</a:t>
            </a:r>
          </a:p>
          <a:p>
            <a:pPr marL="508849" lvl="1" indent="-254424" algn="just">
              <a:lnSpc>
                <a:spcPts val="4148"/>
              </a:lnSpc>
              <a:buFont typeface="Arial"/>
              <a:buChar char="•"/>
            </a:pPr>
            <a:r>
              <a:rPr lang="en-US" sz="2356">
                <a:solidFill>
                  <a:srgbClr val="000000"/>
                </a:solidFill>
                <a:latin typeface="Times New Roman"/>
                <a:ea typeface="Times New Roman"/>
                <a:cs typeface="Times New Roman"/>
                <a:sym typeface="Times New Roman"/>
              </a:rPr>
              <a:t>Manually interpreting and executing rule logic repeatedly introduces processing overhead.</a:t>
            </a:r>
          </a:p>
          <a:p>
            <a:pPr marL="508849" lvl="1" indent="-254424" algn="just">
              <a:lnSpc>
                <a:spcPts val="4148"/>
              </a:lnSpc>
              <a:buFont typeface="Arial"/>
              <a:buChar char="•"/>
            </a:pPr>
            <a:r>
              <a:rPr lang="en-US" sz="2356">
                <a:solidFill>
                  <a:srgbClr val="000000"/>
                </a:solidFill>
                <a:latin typeface="Times New Roman"/>
                <a:ea typeface="Times New Roman"/>
                <a:cs typeface="Times New Roman"/>
                <a:sym typeface="Times New Roman"/>
              </a:rPr>
              <a:t>Invalid rule syntax or incorrect field references can result in failed or unreliable detections.</a:t>
            </a:r>
          </a:p>
          <a:p>
            <a:pPr marL="508849" lvl="1" indent="-254424" algn="just">
              <a:lnSpc>
                <a:spcPts val="4148"/>
              </a:lnSpc>
              <a:buFont typeface="Arial"/>
              <a:buChar char="•"/>
            </a:pPr>
            <a:r>
              <a:rPr lang="en-US" sz="2356">
                <a:solidFill>
                  <a:srgbClr val="000000"/>
                </a:solidFill>
                <a:latin typeface="Times New Roman"/>
                <a:ea typeface="Times New Roman"/>
                <a:cs typeface="Times New Roman"/>
                <a:sym typeface="Times New Roman"/>
              </a:rPr>
              <a:t>Analysts need a consistent and explainable method to transform detection logic into executable conditions.</a:t>
            </a:r>
          </a:p>
          <a:p>
            <a:pPr algn="just">
              <a:lnSpc>
                <a:spcPts val="4148"/>
              </a:lnSpc>
            </a:pPr>
            <a:endParaRPr lang="en-US" sz="2356">
              <a:solidFill>
                <a:srgbClr val="000000"/>
              </a:solidFill>
              <a:latin typeface="Times New Roman"/>
              <a:ea typeface="Times New Roman"/>
              <a:cs typeface="Times New Roman"/>
              <a:sym typeface="Times New Roman"/>
            </a:endParaRPr>
          </a:p>
          <a:p>
            <a:pPr algn="just">
              <a:lnSpc>
                <a:spcPts val="4148"/>
              </a:lnSpc>
            </a:pPr>
            <a:r>
              <a:rPr lang="en-US" sz="2356" b="1">
                <a:solidFill>
                  <a:srgbClr val="000000"/>
                </a:solidFill>
                <a:latin typeface="Times New Roman Bold"/>
                <a:ea typeface="Times New Roman Bold"/>
                <a:cs typeface="Times New Roman Bold"/>
                <a:sym typeface="Times New Roman Bold"/>
              </a:rPr>
              <a:t>Proposed approach:</a:t>
            </a:r>
          </a:p>
          <a:p>
            <a:pPr algn="just">
              <a:lnSpc>
                <a:spcPts val="4148"/>
              </a:lnSpc>
            </a:pPr>
            <a:r>
              <a:rPr lang="en-US" sz="2356">
                <a:solidFill>
                  <a:srgbClr val="000000"/>
                </a:solidFill>
                <a:latin typeface="Times New Roman"/>
                <a:ea typeface="Times New Roman"/>
                <a:cs typeface="Times New Roman"/>
                <a:sym typeface="Times New Roman"/>
              </a:rPr>
              <a:t>The project uses a domain-specific compiler for security detection rules. Rules are parsed and validated during loading, converted into an executable representation, and evaluated against normalized security events. Matching events generate structured rule alerts that can be passed to incident correlation and dashboard components.</a:t>
            </a:r>
          </a:p>
          <a:p>
            <a:pPr algn="just">
              <a:lnSpc>
                <a:spcPts val="4148"/>
              </a:lnSpc>
            </a:pPr>
            <a:endParaRPr lang="en-US" sz="2356">
              <a:solidFill>
                <a:srgbClr val="000000"/>
              </a:solidFill>
              <a:latin typeface="Times New Roman"/>
              <a:ea typeface="Times New Roman"/>
              <a:cs typeface="Times New Roman"/>
              <a:sym typeface="Times New Roman"/>
            </a:endParaRPr>
          </a:p>
          <a:p>
            <a:pPr algn="just">
              <a:lnSpc>
                <a:spcPts val="4148"/>
              </a:lnSpc>
            </a:pPr>
            <a:endParaRPr lang="en-US" sz="2356">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graphicFrame>
        <p:nvGraphicFramePr>
          <p:cNvPr id="5" name="Table 5"/>
          <p:cNvGraphicFramePr>
            <a:graphicFrameLocks noGrp="1"/>
          </p:cNvGraphicFramePr>
          <p:nvPr/>
        </p:nvGraphicFramePr>
        <p:xfrm>
          <a:off x="609017" y="2225402"/>
          <a:ext cx="16168471" cy="7610476"/>
        </p:xfrm>
        <a:graphic>
          <a:graphicData uri="http://schemas.openxmlformats.org/drawingml/2006/table">
            <a:tbl>
              <a:tblPr/>
              <a:tblGrid>
                <a:gridCol w="1106078">
                  <a:extLst>
                    <a:ext uri="{9D8B030D-6E8A-4147-A177-3AD203B41FA5}">
                      <a16:colId xmlns:a16="http://schemas.microsoft.com/office/drawing/2014/main" val="20000"/>
                    </a:ext>
                  </a:extLst>
                </a:gridCol>
                <a:gridCol w="7060701">
                  <a:extLst>
                    <a:ext uri="{9D8B030D-6E8A-4147-A177-3AD203B41FA5}">
                      <a16:colId xmlns:a16="http://schemas.microsoft.com/office/drawing/2014/main" val="20001"/>
                    </a:ext>
                  </a:extLst>
                </a:gridCol>
                <a:gridCol w="8001692">
                  <a:extLst>
                    <a:ext uri="{9D8B030D-6E8A-4147-A177-3AD203B41FA5}">
                      <a16:colId xmlns:a16="http://schemas.microsoft.com/office/drawing/2014/main" val="20002"/>
                    </a:ext>
                  </a:extLst>
                </a:gridCol>
              </a:tblGrid>
              <a:tr h="823272">
                <a:tc>
                  <a:txBody>
                    <a:bodyPr/>
                    <a:lstStyle/>
                    <a:p>
                      <a:pPr algn="ctr">
                        <a:lnSpc>
                          <a:spcPts val="2800"/>
                        </a:lnSpc>
                        <a:defRPr/>
                      </a:pPr>
                      <a:r>
                        <a:rPr lang="en-US" sz="2000" b="1">
                          <a:solidFill>
                            <a:srgbClr val="000000"/>
                          </a:solidFill>
                          <a:latin typeface="Times New Roman Bold"/>
                          <a:ea typeface="Times New Roman Bold"/>
                          <a:cs typeface="Times New Roman Bold"/>
                          <a:sym typeface="Times New Roman Bold"/>
                        </a:rPr>
                        <a:t>S.No.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Times New Roman Bold"/>
                          <a:ea typeface="Times New Roman Bold"/>
                          <a:cs typeface="Times New Roman Bold"/>
                          <a:sym typeface="Times New Roman Bold"/>
                        </a:rPr>
                        <a:t>Research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dirty="0">
                          <a:solidFill>
                            <a:srgbClr val="000000"/>
                          </a:solidFill>
                          <a:latin typeface="Times New Roman Bold"/>
                          <a:ea typeface="Times New Roman Bold"/>
                          <a:cs typeface="Times New Roman Bold"/>
                          <a:sym typeface="Times New Roman Bold"/>
                        </a:rPr>
                        <a:t>Key Contribution / Relevance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77470">
                <a:tc>
                  <a:txBody>
                    <a:bodyPr/>
                    <a:lstStyle/>
                    <a:p>
                      <a:pPr algn="ctr">
                        <a:lnSpc>
                          <a:spcPts val="2800"/>
                        </a:lnSpc>
                        <a:defRPr/>
                      </a:pPr>
                      <a:r>
                        <a:rPr lang="en-US" sz="2000">
                          <a:solidFill>
                            <a:srgbClr val="000000"/>
                          </a:solidFill>
                          <a:latin typeface="Times New Roman"/>
                          <a:ea typeface="Times New Roman"/>
                          <a:cs typeface="Times New Roman"/>
                          <a:sym typeface="Times New Roman"/>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Darus et al. (2023), A Log Aggregation Design Criteria for Robust SIEM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Examines log aggregation, collection efficiency and SIEM performance.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46543">
                <a:tc>
                  <a:txBody>
                    <a:bodyPr/>
                    <a:lstStyle/>
                    <a:p>
                      <a:pPr algn="ctr">
                        <a:lnSpc>
                          <a:spcPts val="2800"/>
                        </a:lnSpc>
                        <a:defRPr/>
                      </a:pPr>
                      <a:r>
                        <a:rPr lang="en-US" sz="2000">
                          <a:solidFill>
                            <a:srgbClr val="000000"/>
                          </a:solidFill>
                          <a:latin typeface="Times New Roman"/>
                          <a:ea typeface="Times New Roman"/>
                          <a:cs typeface="Times New Roman"/>
                          <a:sym typeface="Times New Roman"/>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99"/>
                        </a:lnSpc>
                        <a:defRPr/>
                      </a:pPr>
                      <a:r>
                        <a:rPr lang="en-US" sz="1999">
                          <a:solidFill>
                            <a:srgbClr val="000000"/>
                          </a:solidFill>
                          <a:latin typeface="Times New Roman"/>
                          <a:ea typeface="Times New Roman"/>
                          <a:cs typeface="Times New Roman"/>
                          <a:sym typeface="Times New Roman"/>
                        </a:rPr>
                        <a:t>Lin et al. (2025), Design of a Heterogeneous-Based Network Intrusion Detection System and Compiler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Uses compiler-based rule processing and optimization to improve intrusion detection performance.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54053">
                <a:tc>
                  <a:txBody>
                    <a:bodyPr/>
                    <a:lstStyle/>
                    <a:p>
                      <a:pPr algn="ctr">
                        <a:lnSpc>
                          <a:spcPts val="2800"/>
                        </a:lnSpc>
                        <a:defRPr/>
                      </a:pPr>
                      <a:r>
                        <a:rPr lang="en-US" sz="2000">
                          <a:solidFill>
                            <a:srgbClr val="000000"/>
                          </a:solidFill>
                          <a:latin typeface="Times New Roman"/>
                          <a:ea typeface="Times New Roman"/>
                          <a:cs typeface="Times New Roman"/>
                          <a:sym typeface="Times New Roman"/>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EvoSIEM: Detecting and Generating SIEM Rule Evasion Behaviors in Network Systems (2025)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Translates Sigma rules into executable queries and evaluates detection effectiveness against evasive attack behaviors.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531668">
                <a:tc>
                  <a:txBody>
                    <a:bodyPr/>
                    <a:lstStyle/>
                    <a:p>
                      <a:pPr algn="ctr">
                        <a:lnSpc>
                          <a:spcPts val="2800"/>
                        </a:lnSpc>
                        <a:defRPr/>
                      </a:pPr>
                      <a:r>
                        <a:rPr lang="en-US" sz="2000">
                          <a:solidFill>
                            <a:srgbClr val="000000"/>
                          </a:solidFill>
                          <a:latin typeface="Times New Roman"/>
                          <a:ea typeface="Times New Roman"/>
                          <a:cs typeface="Times New Roman"/>
                          <a:sym typeface="Times New Roman"/>
                        </a:rPr>
                        <a:t>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Bulgakova et al. (2025), Analysis of Explainable Artificial Intelligence Methods in Security Information and Event Management Systems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Discusses LIME, SHAP and other explainability techniques for security decisions.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77470">
                <a:tc>
                  <a:txBody>
                    <a:bodyPr/>
                    <a:lstStyle/>
                    <a:p>
                      <a:pPr algn="ctr">
                        <a:lnSpc>
                          <a:spcPts val="2800"/>
                        </a:lnSpc>
                        <a:defRPr/>
                      </a:pPr>
                      <a:r>
                        <a:rPr lang="en-US" sz="2000">
                          <a:solidFill>
                            <a:srgbClr val="000000"/>
                          </a:solidFill>
                          <a:latin typeface="Times New Roman"/>
                          <a:ea typeface="Times New Roman"/>
                          <a:cs typeface="Times New Roman"/>
                          <a:sym typeface="Times New Roman"/>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Cybersecurity Analytics for the Enterprise Environment: A Systematic Literature Review (2025)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dirty="0">
                          <a:solidFill>
                            <a:srgbClr val="000000"/>
                          </a:solidFill>
                          <a:latin typeface="Times New Roman"/>
                          <a:ea typeface="Times New Roman"/>
                          <a:cs typeface="Times New Roman"/>
                          <a:sym typeface="Times New Roman"/>
                        </a:rPr>
                        <a:t>Reviews existing cybersecurity analytics approaches, including SIEM, threat detection, and security event analysis.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Box 6"/>
          <p:cNvSpPr txBox="1"/>
          <p:nvPr/>
        </p:nvSpPr>
        <p:spPr>
          <a:xfrm>
            <a:off x="2627841" y="460543"/>
            <a:ext cx="12296262" cy="1183938"/>
          </a:xfrm>
          <a:prstGeom prst="rect">
            <a:avLst/>
          </a:prstGeom>
        </p:spPr>
        <p:txBody>
          <a:bodyPr lIns="0" tIns="0" rIns="0" bIns="0" rtlCol="0" anchor="t">
            <a:spAutoFit/>
          </a:bodyPr>
          <a:lstStyle/>
          <a:p>
            <a:pPr algn="ctr">
              <a:lnSpc>
                <a:spcPts val="8974"/>
              </a:lnSpc>
            </a:pPr>
            <a:r>
              <a:rPr lang="en-US" sz="7872" b="1">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graphicFrame>
        <p:nvGraphicFramePr>
          <p:cNvPr id="5" name="Table 5"/>
          <p:cNvGraphicFramePr>
            <a:graphicFrameLocks noGrp="1"/>
          </p:cNvGraphicFramePr>
          <p:nvPr/>
        </p:nvGraphicFramePr>
        <p:xfrm>
          <a:off x="609017" y="2225402"/>
          <a:ext cx="16333910" cy="7610476"/>
        </p:xfrm>
        <a:graphic>
          <a:graphicData uri="http://schemas.openxmlformats.org/drawingml/2006/table">
            <a:tbl>
              <a:tblPr/>
              <a:tblGrid>
                <a:gridCol w="1271878">
                  <a:extLst>
                    <a:ext uri="{9D8B030D-6E8A-4147-A177-3AD203B41FA5}">
                      <a16:colId xmlns:a16="http://schemas.microsoft.com/office/drawing/2014/main" val="20000"/>
                    </a:ext>
                  </a:extLst>
                </a:gridCol>
                <a:gridCol w="7060532">
                  <a:extLst>
                    <a:ext uri="{9D8B030D-6E8A-4147-A177-3AD203B41FA5}">
                      <a16:colId xmlns:a16="http://schemas.microsoft.com/office/drawing/2014/main" val="20001"/>
                    </a:ext>
                  </a:extLst>
                </a:gridCol>
                <a:gridCol w="8001500">
                  <a:extLst>
                    <a:ext uri="{9D8B030D-6E8A-4147-A177-3AD203B41FA5}">
                      <a16:colId xmlns:a16="http://schemas.microsoft.com/office/drawing/2014/main" val="20002"/>
                    </a:ext>
                  </a:extLst>
                </a:gridCol>
              </a:tblGrid>
              <a:tr h="823272">
                <a:tc>
                  <a:txBody>
                    <a:bodyPr/>
                    <a:lstStyle/>
                    <a:p>
                      <a:pPr algn="ctr">
                        <a:lnSpc>
                          <a:spcPts val="2800"/>
                        </a:lnSpc>
                        <a:defRPr/>
                      </a:pPr>
                      <a:r>
                        <a:rPr lang="en-US" sz="2000" b="1">
                          <a:solidFill>
                            <a:srgbClr val="000000"/>
                          </a:solidFill>
                          <a:latin typeface="Times New Roman Bold"/>
                          <a:ea typeface="Times New Roman Bold"/>
                          <a:cs typeface="Times New Roman Bold"/>
                          <a:sym typeface="Times New Roman Bold"/>
                        </a:rPr>
                        <a:t>S.No.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Times New Roman Bold"/>
                          <a:ea typeface="Times New Roman Bold"/>
                          <a:cs typeface="Times New Roman Bold"/>
                          <a:sym typeface="Times New Roman Bold"/>
                        </a:rPr>
                        <a:t>Research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Times New Roman Bold"/>
                          <a:ea typeface="Times New Roman Bold"/>
                          <a:cs typeface="Times New Roman Bold"/>
                          <a:sym typeface="Times New Roman Bold"/>
                        </a:rPr>
                        <a:t>Key Contribution / Relevance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77470">
                <a:tc>
                  <a:txBody>
                    <a:bodyPr/>
                    <a:lstStyle/>
                    <a:p>
                      <a:pPr algn="ctr">
                        <a:lnSpc>
                          <a:spcPts val="2800"/>
                        </a:lnSpc>
                        <a:defRPr/>
                      </a:pPr>
                      <a:r>
                        <a:rPr lang="en-US" sz="2000">
                          <a:solidFill>
                            <a:srgbClr val="000000"/>
                          </a:solidFill>
                          <a:latin typeface="Times New Roman"/>
                          <a:ea typeface="Times New Roman"/>
                          <a:cs typeface="Times New Roman"/>
                          <a:sym typeface="Times New Roman"/>
                        </a:rPr>
                        <a:t>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Ibragimova et al. (2026), Automated SIEM Detection Rule Translation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Combines RAG, hybrid retrieval, workflow orchestration and SIEM-native syntax validation.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46543">
                <a:tc>
                  <a:txBody>
                    <a:bodyPr/>
                    <a:lstStyle/>
                    <a:p>
                      <a:pPr algn="ctr">
                        <a:lnSpc>
                          <a:spcPts val="2800"/>
                        </a:lnSpc>
                        <a:defRPr/>
                      </a:pPr>
                      <a:r>
                        <a:rPr lang="en-US" sz="2000">
                          <a:solidFill>
                            <a:srgbClr val="000000"/>
                          </a:solidFill>
                          <a:latin typeface="Times New Roman"/>
                          <a:ea typeface="Times New Roman"/>
                          <a:cs typeface="Times New Roman"/>
                          <a:sym typeface="Times New Roman"/>
                        </a:rPr>
                        <a:t>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99"/>
                        </a:lnSpc>
                        <a:defRPr/>
                      </a:pPr>
                      <a:r>
                        <a:rPr lang="en-US" sz="1999">
                          <a:solidFill>
                            <a:srgbClr val="000000"/>
                          </a:solidFill>
                          <a:latin typeface="Times New Roman"/>
                          <a:ea typeface="Times New Roman"/>
                          <a:cs typeface="Times New Roman"/>
                          <a:sym typeface="Times New Roman"/>
                        </a:rPr>
                        <a:t>Lewis et al. (2020), Retrieval-Augmented Generation for Knowledge-Intensive NLP Tasks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Establishes the RAG approach for grounding generated output in retrieved information.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54053">
                <a:tc>
                  <a:txBody>
                    <a:bodyPr/>
                    <a:lstStyle/>
                    <a:p>
                      <a:pPr algn="ctr">
                        <a:lnSpc>
                          <a:spcPts val="2800"/>
                        </a:lnSpc>
                        <a:defRPr/>
                      </a:pPr>
                      <a:r>
                        <a:rPr lang="en-US" sz="2000">
                          <a:solidFill>
                            <a:srgbClr val="000000"/>
                          </a:solidFill>
                          <a:latin typeface="Times New Roman"/>
                          <a:ea typeface="Times New Roman"/>
                          <a:cs typeface="Times New Roman"/>
                          <a:sym typeface="Times New Roman"/>
                        </a:rPr>
                        <a:t>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Thakur et al. (2021), BEIR: A Heterogeneous Benchmark for Zero-shot Retrieval Models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Provides a benchmark for evaluating information retrieval methods.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531668">
                <a:tc>
                  <a:txBody>
                    <a:bodyPr/>
                    <a:lstStyle/>
                    <a:p>
                      <a:pPr algn="ctr">
                        <a:lnSpc>
                          <a:spcPts val="2800"/>
                        </a:lnSpc>
                        <a:defRPr/>
                      </a:pPr>
                      <a:r>
                        <a:rPr lang="en-US" sz="2000">
                          <a:solidFill>
                            <a:srgbClr val="000000"/>
                          </a:solidFill>
                          <a:latin typeface="Times New Roman"/>
                          <a:ea typeface="Times New Roman"/>
                          <a:cs typeface="Times New Roman"/>
                          <a:sym typeface="Times New Roman"/>
                        </a:rPr>
                        <a:t>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Bulgakova et al. (2025), Analysis of Explainable Artificial Intelligence Methods in Security Information and Event Management Systems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Supports the requirement for interpretable security analysis and decision explanations.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77470">
                <a:tc>
                  <a:txBody>
                    <a:bodyPr/>
                    <a:lstStyle/>
                    <a:p>
                      <a:pPr algn="ctr">
                        <a:lnSpc>
                          <a:spcPts val="2800"/>
                        </a:lnSpc>
                        <a:defRPr/>
                      </a:pPr>
                      <a:r>
                        <a:rPr lang="en-US" sz="2000">
                          <a:solidFill>
                            <a:srgbClr val="000000"/>
                          </a:solidFill>
                          <a:latin typeface="Times New Roman"/>
                          <a:ea typeface="Times New Roman"/>
                          <a:cs typeface="Times New Roman"/>
                          <a:sym typeface="Times New Roman"/>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Lawal (2024), Human-AI Collaboration in Security Operations Centers (SOC 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Highlights human oversight, trust calibration and the risks of excessive automation.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Box 6"/>
          <p:cNvSpPr txBox="1"/>
          <p:nvPr/>
        </p:nvSpPr>
        <p:spPr>
          <a:xfrm>
            <a:off x="2627841" y="460543"/>
            <a:ext cx="12296262" cy="1183938"/>
          </a:xfrm>
          <a:prstGeom prst="rect">
            <a:avLst/>
          </a:prstGeom>
        </p:spPr>
        <p:txBody>
          <a:bodyPr lIns="0" tIns="0" rIns="0" bIns="0" rtlCol="0" anchor="t">
            <a:spAutoFit/>
          </a:bodyPr>
          <a:lstStyle/>
          <a:p>
            <a:pPr algn="ctr">
              <a:lnSpc>
                <a:spcPts val="8974"/>
              </a:lnSpc>
            </a:pPr>
            <a:r>
              <a:rPr lang="en-US" sz="7872" b="1">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627841" y="460543"/>
            <a:ext cx="12296262" cy="1183938"/>
          </a:xfrm>
          <a:prstGeom prst="rect">
            <a:avLst/>
          </a:prstGeom>
        </p:spPr>
        <p:txBody>
          <a:bodyPr lIns="0" tIns="0" rIns="0" bIns="0" rtlCol="0" anchor="t">
            <a:spAutoFit/>
          </a:bodyPr>
          <a:lstStyle/>
          <a:p>
            <a:pPr algn="ctr">
              <a:lnSpc>
                <a:spcPts val="8974"/>
              </a:lnSpc>
            </a:pPr>
            <a:r>
              <a:rPr lang="en-US" sz="7872" b="1">
                <a:solidFill>
                  <a:srgbClr val="000000"/>
                </a:solidFill>
                <a:latin typeface="Times New Roman Bold"/>
                <a:ea typeface="Times New Roman Bold"/>
                <a:cs typeface="Times New Roman Bold"/>
                <a:sym typeface="Times New Roman Bold"/>
              </a:rPr>
              <a:t>LITERATURE SURVEY</a:t>
            </a:r>
          </a:p>
        </p:txBody>
      </p:sp>
      <p:sp>
        <p:nvSpPr>
          <p:cNvPr id="6" name="TextBox 6"/>
          <p:cNvSpPr txBox="1"/>
          <p:nvPr/>
        </p:nvSpPr>
        <p:spPr>
          <a:xfrm>
            <a:off x="6292453" y="1587332"/>
            <a:ext cx="5703094" cy="431800"/>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Times New Roman Bold"/>
                <a:ea typeface="Times New Roman Bold"/>
                <a:cs typeface="Times New Roman Bold"/>
                <a:sym typeface="Times New Roman Bold"/>
              </a:rPr>
              <a:t>Research Gap and Proposed Contribution</a:t>
            </a:r>
          </a:p>
        </p:txBody>
      </p:sp>
      <p:sp>
        <p:nvSpPr>
          <p:cNvPr id="7" name="TextBox 7"/>
          <p:cNvSpPr txBox="1"/>
          <p:nvPr/>
        </p:nvSpPr>
        <p:spPr>
          <a:xfrm>
            <a:off x="533400" y="2651546"/>
            <a:ext cx="16210713" cy="7635454"/>
          </a:xfrm>
          <a:prstGeom prst="rect">
            <a:avLst/>
          </a:prstGeom>
        </p:spPr>
        <p:txBody>
          <a:bodyPr lIns="0" tIns="0" rIns="0" bIns="0" rtlCol="0" anchor="t">
            <a:spAutoFit/>
          </a:bodyPr>
          <a:lstStyle/>
          <a:p>
            <a:pPr algn="l">
              <a:lnSpc>
                <a:spcPts val="3169"/>
              </a:lnSpc>
            </a:pPr>
            <a:r>
              <a:rPr lang="en-US" sz="2263" b="1" dirty="0">
                <a:solidFill>
                  <a:srgbClr val="000000"/>
                </a:solidFill>
                <a:latin typeface="Times New Roman Bold"/>
                <a:ea typeface="Times New Roman Bold"/>
                <a:cs typeface="Times New Roman Bold"/>
                <a:sym typeface="Times New Roman Bold"/>
              </a:rPr>
              <a:t>Research gap: </a:t>
            </a:r>
            <a:r>
              <a:rPr lang="en-US" sz="2263" dirty="0">
                <a:solidFill>
                  <a:srgbClr val="000000"/>
                </a:solidFill>
                <a:latin typeface="Times New Roman"/>
                <a:ea typeface="Times New Roman"/>
                <a:cs typeface="Times New Roman"/>
                <a:sym typeface="Times New Roman"/>
              </a:rPr>
              <a:t>The supplied research highlights several limitations:</a:t>
            </a:r>
          </a:p>
          <a:p>
            <a:pPr marL="488796" lvl="1" indent="-244398" algn="l">
              <a:lnSpc>
                <a:spcPts val="3169"/>
              </a:lnSpc>
              <a:spcBef>
                <a:spcPct val="0"/>
              </a:spcBef>
              <a:buFont typeface="Arial"/>
              <a:buChar char="•"/>
            </a:pPr>
            <a:r>
              <a:rPr lang="en-US" sz="2263" dirty="0">
                <a:solidFill>
                  <a:srgbClr val="000000"/>
                </a:solidFill>
                <a:latin typeface="Times New Roman"/>
                <a:ea typeface="Times New Roman"/>
                <a:cs typeface="Times New Roman"/>
                <a:sym typeface="Times New Roman"/>
              </a:rPr>
              <a:t>Conventional SIEM rules are often coupled to platform-specific syntax and data models.</a:t>
            </a:r>
          </a:p>
          <a:p>
            <a:pPr marL="488796" lvl="1" indent="-244398" algn="l">
              <a:lnSpc>
                <a:spcPts val="3169"/>
              </a:lnSpc>
              <a:spcBef>
                <a:spcPct val="0"/>
              </a:spcBef>
              <a:buFont typeface="Arial"/>
              <a:buChar char="•"/>
            </a:pPr>
            <a:r>
              <a:rPr lang="en-US" sz="2263" dirty="0">
                <a:solidFill>
                  <a:srgbClr val="000000"/>
                </a:solidFill>
                <a:latin typeface="Times New Roman"/>
                <a:ea typeface="Times New Roman"/>
                <a:cs typeface="Times New Roman"/>
                <a:sym typeface="Times New Roman"/>
              </a:rPr>
              <a:t>Unrestricted LLM-based rule translation may generate incorrect field mappings or invalid queries.</a:t>
            </a:r>
          </a:p>
          <a:p>
            <a:pPr marL="488796" lvl="1" indent="-244398" algn="l">
              <a:lnSpc>
                <a:spcPts val="3169"/>
              </a:lnSpc>
              <a:spcBef>
                <a:spcPct val="0"/>
              </a:spcBef>
              <a:buFont typeface="Arial"/>
              <a:buChar char="•"/>
            </a:pPr>
            <a:r>
              <a:rPr lang="en-US" sz="2263" dirty="0">
                <a:solidFill>
                  <a:srgbClr val="000000"/>
                </a:solidFill>
                <a:latin typeface="Times New Roman"/>
                <a:ea typeface="Times New Roman"/>
                <a:cs typeface="Times New Roman"/>
                <a:sym typeface="Times New Roman"/>
              </a:rPr>
              <a:t>High volumes of alerts increase the workload on security analysts.</a:t>
            </a:r>
          </a:p>
          <a:p>
            <a:pPr marL="488796" lvl="1" indent="-244398" algn="l">
              <a:lnSpc>
                <a:spcPts val="3169"/>
              </a:lnSpc>
              <a:spcBef>
                <a:spcPct val="0"/>
              </a:spcBef>
              <a:buFont typeface="Arial"/>
              <a:buChar char="•"/>
            </a:pPr>
            <a:r>
              <a:rPr lang="en-US" sz="2263" dirty="0">
                <a:solidFill>
                  <a:srgbClr val="000000"/>
                </a:solidFill>
                <a:latin typeface="Times New Roman"/>
                <a:ea typeface="Times New Roman"/>
                <a:cs typeface="Times New Roman"/>
                <a:sym typeface="Times New Roman"/>
              </a:rPr>
              <a:t>AI-based security decisions require explainability and appropriate human oversight.</a:t>
            </a:r>
          </a:p>
          <a:p>
            <a:pPr marL="488796" lvl="1" indent="-244398" algn="l">
              <a:lnSpc>
                <a:spcPts val="3169"/>
              </a:lnSpc>
              <a:spcBef>
                <a:spcPct val="0"/>
              </a:spcBef>
              <a:buFont typeface="Arial"/>
              <a:buChar char="•"/>
            </a:pPr>
            <a:r>
              <a:rPr lang="en-US" sz="2263" dirty="0">
                <a:solidFill>
                  <a:srgbClr val="000000"/>
                </a:solidFill>
                <a:latin typeface="Times New Roman"/>
                <a:ea typeface="Times New Roman"/>
                <a:cs typeface="Times New Roman"/>
                <a:sym typeface="Times New Roman"/>
              </a:rPr>
              <a:t>Repeated interpretation of rule definitions during event processing introduces avoidable work.</a:t>
            </a:r>
          </a:p>
          <a:p>
            <a:pPr algn="l">
              <a:lnSpc>
                <a:spcPts val="3169"/>
              </a:lnSpc>
              <a:spcBef>
                <a:spcPct val="0"/>
              </a:spcBef>
            </a:pPr>
            <a:endParaRPr lang="en-US" sz="2263" dirty="0">
              <a:solidFill>
                <a:srgbClr val="000000"/>
              </a:solidFill>
              <a:latin typeface="Times New Roman"/>
              <a:ea typeface="Times New Roman"/>
              <a:cs typeface="Times New Roman"/>
              <a:sym typeface="Times New Roman"/>
            </a:endParaRPr>
          </a:p>
          <a:p>
            <a:pPr algn="l">
              <a:lnSpc>
                <a:spcPts val="3169"/>
              </a:lnSpc>
              <a:spcBef>
                <a:spcPct val="0"/>
              </a:spcBef>
            </a:pPr>
            <a:r>
              <a:rPr lang="en-US" sz="2263" b="1" dirty="0">
                <a:solidFill>
                  <a:srgbClr val="000000"/>
                </a:solidFill>
                <a:latin typeface="Times New Roman Bold"/>
                <a:ea typeface="Times New Roman Bold"/>
                <a:cs typeface="Times New Roman Bold"/>
                <a:sym typeface="Times New Roman Bold"/>
              </a:rPr>
              <a:t>Proposed contribution: </a:t>
            </a:r>
          </a:p>
          <a:p>
            <a:pPr marL="488796" lvl="1" indent="-244398" algn="l">
              <a:lnSpc>
                <a:spcPts val="3169"/>
              </a:lnSpc>
              <a:spcBef>
                <a:spcPct val="0"/>
              </a:spcBef>
              <a:buFont typeface="Arial"/>
              <a:buChar char="•"/>
            </a:pPr>
            <a:r>
              <a:rPr lang="en-US" sz="2263" b="1" dirty="0">
                <a:solidFill>
                  <a:srgbClr val="000000"/>
                </a:solidFill>
                <a:latin typeface="Times New Roman Bold"/>
                <a:ea typeface="Times New Roman Bold"/>
                <a:cs typeface="Times New Roman Bold"/>
                <a:sym typeface="Times New Roman Bold"/>
              </a:rPr>
              <a:t>Formal rule language:</a:t>
            </a:r>
            <a:r>
              <a:rPr lang="en-US" sz="2263" dirty="0">
                <a:solidFill>
                  <a:srgbClr val="000000"/>
                </a:solidFill>
                <a:latin typeface="Times New Roman"/>
                <a:ea typeface="Times New Roman"/>
                <a:cs typeface="Times New Roman"/>
                <a:sym typeface="Times New Roman"/>
              </a:rPr>
              <a:t> Use a restricted Sigma-inspired YAML format.</a:t>
            </a:r>
          </a:p>
          <a:p>
            <a:pPr marL="488796" lvl="1" indent="-244398" algn="l">
              <a:lnSpc>
                <a:spcPts val="3169"/>
              </a:lnSpc>
              <a:spcBef>
                <a:spcPct val="0"/>
              </a:spcBef>
              <a:buFont typeface="Arial"/>
              <a:buChar char="•"/>
            </a:pPr>
            <a:r>
              <a:rPr lang="en-US" sz="2263" b="1" dirty="0">
                <a:solidFill>
                  <a:srgbClr val="000000"/>
                </a:solidFill>
                <a:latin typeface="Times New Roman Bold"/>
                <a:ea typeface="Times New Roman Bold"/>
                <a:cs typeface="Times New Roman Bold"/>
                <a:sym typeface="Times New Roman Bold"/>
              </a:rPr>
              <a:t>Syntax processing: </a:t>
            </a:r>
            <a:r>
              <a:rPr lang="en-US" sz="2263" dirty="0">
                <a:solidFill>
                  <a:srgbClr val="000000"/>
                </a:solidFill>
                <a:latin typeface="Times New Roman"/>
                <a:ea typeface="Times New Roman"/>
                <a:cs typeface="Times New Roman"/>
                <a:sym typeface="Times New Roman"/>
              </a:rPr>
              <a:t>Parse Boolean conditions using a defined grammar.</a:t>
            </a:r>
          </a:p>
          <a:p>
            <a:pPr marL="488796" lvl="1" indent="-244398" algn="l">
              <a:lnSpc>
                <a:spcPts val="3169"/>
              </a:lnSpc>
              <a:spcBef>
                <a:spcPct val="0"/>
              </a:spcBef>
              <a:buFont typeface="Arial"/>
              <a:buChar char="•"/>
            </a:pPr>
            <a:r>
              <a:rPr lang="en-US" sz="2263" b="1" dirty="0">
                <a:solidFill>
                  <a:srgbClr val="000000"/>
                </a:solidFill>
                <a:latin typeface="Times New Roman Bold"/>
                <a:ea typeface="Times New Roman Bold"/>
                <a:cs typeface="Times New Roman Bold"/>
                <a:sym typeface="Times New Roman Bold"/>
              </a:rPr>
              <a:t>Semantic validation: </a:t>
            </a:r>
            <a:r>
              <a:rPr lang="en-US" sz="2263" dirty="0">
                <a:solidFill>
                  <a:srgbClr val="000000"/>
                </a:solidFill>
                <a:latin typeface="Times New Roman"/>
                <a:ea typeface="Times New Roman"/>
                <a:cs typeface="Times New Roman"/>
                <a:sym typeface="Times New Roman"/>
              </a:rPr>
              <a:t>Verify rule structure, operators and referenced selections.</a:t>
            </a:r>
          </a:p>
          <a:p>
            <a:pPr marL="488796" lvl="1" indent="-244398" algn="l">
              <a:lnSpc>
                <a:spcPts val="3169"/>
              </a:lnSpc>
              <a:spcBef>
                <a:spcPct val="0"/>
              </a:spcBef>
              <a:buFont typeface="Arial"/>
              <a:buChar char="•"/>
            </a:pPr>
            <a:r>
              <a:rPr lang="en-US" sz="2263" b="1" dirty="0">
                <a:solidFill>
                  <a:srgbClr val="000000"/>
                </a:solidFill>
                <a:latin typeface="Times New Roman Bold"/>
                <a:ea typeface="Times New Roman Bold"/>
                <a:cs typeface="Times New Roman Bold"/>
                <a:sym typeface="Times New Roman Bold"/>
              </a:rPr>
              <a:t>Intermediate representation: </a:t>
            </a:r>
            <a:r>
              <a:rPr lang="en-US" sz="2263" dirty="0">
                <a:solidFill>
                  <a:srgbClr val="000000"/>
                </a:solidFill>
                <a:latin typeface="Times New Roman"/>
                <a:ea typeface="Times New Roman"/>
                <a:cs typeface="Times New Roman"/>
                <a:sym typeface="Times New Roman"/>
              </a:rPr>
              <a:t>Build a Boolean AST and compiled rule representation.</a:t>
            </a:r>
          </a:p>
          <a:p>
            <a:pPr marL="488796" lvl="1" indent="-244398" algn="l">
              <a:lnSpc>
                <a:spcPts val="3169"/>
              </a:lnSpc>
              <a:spcBef>
                <a:spcPct val="0"/>
              </a:spcBef>
              <a:buFont typeface="Arial"/>
              <a:buChar char="•"/>
            </a:pPr>
            <a:r>
              <a:rPr lang="en-US" sz="2263" b="1" dirty="0">
                <a:solidFill>
                  <a:srgbClr val="000000"/>
                </a:solidFill>
                <a:latin typeface="Times New Roman Bold"/>
                <a:ea typeface="Times New Roman Bold"/>
                <a:cs typeface="Times New Roman Bold"/>
                <a:sym typeface="Times New Roman Bold"/>
              </a:rPr>
              <a:t>Predicate generation: </a:t>
            </a:r>
            <a:r>
              <a:rPr lang="en-US" sz="2263" dirty="0">
                <a:solidFill>
                  <a:srgbClr val="000000"/>
                </a:solidFill>
                <a:latin typeface="Times New Roman"/>
                <a:ea typeface="Times New Roman"/>
                <a:cs typeface="Times New Roman"/>
                <a:sym typeface="Times New Roman"/>
              </a:rPr>
              <a:t>Convert validated conditions into reusable executable functions.</a:t>
            </a:r>
          </a:p>
          <a:p>
            <a:pPr marL="488796" lvl="1" indent="-244398" algn="l">
              <a:lnSpc>
                <a:spcPts val="3169"/>
              </a:lnSpc>
              <a:spcBef>
                <a:spcPct val="0"/>
              </a:spcBef>
              <a:buFont typeface="Arial"/>
              <a:buChar char="•"/>
            </a:pPr>
            <a:r>
              <a:rPr lang="en-US" sz="2263" b="1" dirty="0">
                <a:solidFill>
                  <a:srgbClr val="000000"/>
                </a:solidFill>
                <a:latin typeface="Times New Roman Bold"/>
                <a:ea typeface="Times New Roman Bold"/>
                <a:cs typeface="Times New Roman Bold"/>
                <a:sym typeface="Times New Roman Bold"/>
              </a:rPr>
              <a:t>Optimized execution:</a:t>
            </a:r>
            <a:r>
              <a:rPr lang="en-US" sz="2263" dirty="0">
                <a:solidFill>
                  <a:srgbClr val="000000"/>
                </a:solidFill>
                <a:latin typeface="Times New Roman"/>
                <a:ea typeface="Times New Roman"/>
                <a:cs typeface="Times New Roman"/>
                <a:sym typeface="Times New Roman"/>
              </a:rPr>
              <a:t> Evaluate relevant compiled rules against normalized OCSF events.</a:t>
            </a:r>
          </a:p>
          <a:p>
            <a:pPr marL="488796" lvl="1" indent="-244398" algn="l">
              <a:lnSpc>
                <a:spcPts val="3169"/>
              </a:lnSpc>
              <a:spcBef>
                <a:spcPct val="0"/>
              </a:spcBef>
              <a:buFont typeface="Arial"/>
              <a:buChar char="•"/>
            </a:pPr>
            <a:r>
              <a:rPr lang="en-US" sz="2263" b="1" dirty="0">
                <a:solidFill>
                  <a:srgbClr val="000000"/>
                </a:solidFill>
                <a:latin typeface="Times New Roman Bold"/>
                <a:ea typeface="Times New Roman Bold"/>
                <a:cs typeface="Times New Roman Bold"/>
                <a:sym typeface="Times New Roman Bold"/>
              </a:rPr>
              <a:t>Structured alert generation:</a:t>
            </a:r>
            <a:r>
              <a:rPr lang="en-US" sz="2263" dirty="0">
                <a:solidFill>
                  <a:srgbClr val="000000"/>
                </a:solidFill>
                <a:latin typeface="Times New Roman"/>
                <a:ea typeface="Times New Roman"/>
                <a:cs typeface="Times New Roman"/>
                <a:sym typeface="Times New Roman"/>
              </a:rPr>
              <a:t> Produce rule alerts for downstream incident correlation.</a:t>
            </a:r>
          </a:p>
          <a:p>
            <a:pPr algn="l">
              <a:lnSpc>
                <a:spcPts val="3169"/>
              </a:lnSpc>
              <a:spcBef>
                <a:spcPct val="0"/>
              </a:spcBef>
            </a:pPr>
            <a:endParaRPr lang="en-US" sz="2263" dirty="0">
              <a:solidFill>
                <a:srgbClr val="000000"/>
              </a:solidFill>
              <a:latin typeface="Times New Roman"/>
              <a:ea typeface="Times New Roman"/>
              <a:cs typeface="Times New Roman"/>
              <a:sym typeface="Times New Roman"/>
            </a:endParaRPr>
          </a:p>
          <a:p>
            <a:pPr algn="l">
              <a:lnSpc>
                <a:spcPts val="3169"/>
              </a:lnSpc>
              <a:spcBef>
                <a:spcPct val="0"/>
              </a:spcBef>
            </a:pPr>
            <a:r>
              <a:rPr lang="en-US" sz="2263" dirty="0">
                <a:solidFill>
                  <a:srgbClr val="000000"/>
                </a:solidFill>
                <a:latin typeface="Times New Roman"/>
                <a:ea typeface="Times New Roman"/>
                <a:cs typeface="Times New Roman"/>
                <a:sym typeface="Times New Roman"/>
              </a:rPr>
              <a:t>The supplied rule-translation paper focuses on translating rules between SIEM languages using RAG and validation. The current rule engine focuses on compiling and executing a restricted security-rule language. They are related, but they are not the same subsystem.</a:t>
            </a:r>
          </a:p>
          <a:p>
            <a:pPr algn="l">
              <a:lnSpc>
                <a:spcPts val="3169"/>
              </a:lnSpc>
              <a:spcBef>
                <a:spcPct val="0"/>
              </a:spcBef>
            </a:pPr>
            <a:endParaRPr lang="en-US" sz="226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1028700" y="652111"/>
            <a:ext cx="15764442" cy="1183938"/>
          </a:xfrm>
          <a:prstGeom prst="rect">
            <a:avLst/>
          </a:prstGeom>
        </p:spPr>
        <p:txBody>
          <a:bodyPr lIns="0" tIns="0" rIns="0" bIns="0" rtlCol="0" anchor="t">
            <a:spAutoFit/>
          </a:bodyPr>
          <a:lstStyle/>
          <a:p>
            <a:pPr algn="l">
              <a:lnSpc>
                <a:spcPts val="8974"/>
              </a:lnSpc>
            </a:pPr>
            <a:r>
              <a:rPr lang="en-US" sz="7872" b="1">
                <a:solidFill>
                  <a:srgbClr val="000000"/>
                </a:solidFill>
                <a:latin typeface="Times New Roman" panose="02020603050405020304" pitchFamily="18" charset="0"/>
                <a:ea typeface="Times New Roman Bold"/>
                <a:cs typeface="Times New Roman" panose="02020603050405020304" pitchFamily="18" charset="0"/>
                <a:sym typeface="Times New Roman Bold"/>
              </a:rPr>
              <a:t>MODULES IN THE PROJECT</a:t>
            </a:r>
          </a:p>
        </p:txBody>
      </p:sp>
      <p:grpSp>
        <p:nvGrpSpPr>
          <p:cNvPr id="6" name="Group 6"/>
          <p:cNvGrpSpPr/>
          <p:nvPr/>
        </p:nvGrpSpPr>
        <p:grpSpPr>
          <a:xfrm>
            <a:off x="1028700" y="2558010"/>
            <a:ext cx="4446588" cy="2422490"/>
            <a:chOff x="0" y="-38100"/>
            <a:chExt cx="5928784" cy="3229987"/>
          </a:xfrm>
        </p:grpSpPr>
        <p:sp>
          <p:nvSpPr>
            <p:cNvPr id="7" name="TextBox 7"/>
            <p:cNvSpPr txBox="1"/>
            <p:nvPr/>
          </p:nvSpPr>
          <p:spPr>
            <a:xfrm>
              <a:off x="0" y="867575"/>
              <a:ext cx="5928784" cy="2324312"/>
            </a:xfrm>
            <a:prstGeom prst="rect">
              <a:avLst/>
            </a:prstGeom>
          </p:spPr>
          <p:txBody>
            <a:bodyPr lIns="0" tIns="0" rIns="0" bIns="0" rtlCol="0" anchor="t">
              <a:spAutoFit/>
            </a:bodyPr>
            <a:lstStyle/>
            <a:p>
              <a:pPr algn="l">
                <a:lnSpc>
                  <a:spcPts val="3520"/>
                </a:lnSpc>
              </a:pPr>
              <a:r>
                <a:rPr lang="en-US" sz="2000">
                  <a:solidFill>
                    <a:srgbClr val="000000"/>
                  </a:solidFill>
                  <a:latin typeface="Times New Roman" panose="02020603050405020304" pitchFamily="18" charset="0"/>
                  <a:ea typeface="Nunito"/>
                  <a:cs typeface="Times New Roman" panose="02020603050405020304" pitchFamily="18" charset="0"/>
                  <a:sym typeface="Nunito"/>
                </a:rPr>
                <a:t>Collects events from files, syslog, Windows event sources and applications. Converts and batches them into OCSF-compatible JSON.</a:t>
              </a:r>
            </a:p>
          </p:txBody>
        </p:sp>
        <p:sp>
          <p:nvSpPr>
            <p:cNvPr id="8" name="TextBox 8"/>
            <p:cNvSpPr txBox="1"/>
            <p:nvPr/>
          </p:nvSpPr>
          <p:spPr>
            <a:xfrm>
              <a:off x="0" y="-38100"/>
              <a:ext cx="5928784" cy="484293"/>
            </a:xfrm>
            <a:prstGeom prst="rect">
              <a:avLst/>
            </a:prstGeom>
          </p:spPr>
          <p:txBody>
            <a:bodyPr lIns="0" tIns="0" rIns="0" bIns="0" rtlCol="0" anchor="t">
              <a:spAutoFit/>
            </a:bodyPr>
            <a:lstStyle/>
            <a:p>
              <a:pPr algn="l">
                <a:lnSpc>
                  <a:spcPts val="3079"/>
                </a:lnSpc>
              </a:pPr>
              <a:r>
                <a:rPr lang="en-US" sz="2199" b="1">
                  <a:solidFill>
                    <a:srgbClr val="000000"/>
                  </a:solidFill>
                  <a:latin typeface="Times New Roman" panose="02020603050405020304" pitchFamily="18" charset="0"/>
                  <a:ea typeface="Nunito Bold"/>
                  <a:cs typeface="Times New Roman" panose="02020603050405020304" pitchFamily="18" charset="0"/>
                  <a:sym typeface="Nunito Bold"/>
                </a:rPr>
                <a:t>1. Log Collection and Ingestion</a:t>
              </a:r>
            </a:p>
          </p:txBody>
        </p:sp>
      </p:grpSp>
      <p:grpSp>
        <p:nvGrpSpPr>
          <p:cNvPr id="9" name="Group 9"/>
          <p:cNvGrpSpPr/>
          <p:nvPr/>
        </p:nvGrpSpPr>
        <p:grpSpPr>
          <a:xfrm>
            <a:off x="6041193" y="2558010"/>
            <a:ext cx="4446588" cy="1973649"/>
            <a:chOff x="0" y="-38100"/>
            <a:chExt cx="5928784" cy="2631532"/>
          </a:xfrm>
        </p:grpSpPr>
        <p:sp>
          <p:nvSpPr>
            <p:cNvPr id="10" name="TextBox 10"/>
            <p:cNvSpPr txBox="1"/>
            <p:nvPr/>
          </p:nvSpPr>
          <p:spPr>
            <a:xfrm>
              <a:off x="0" y="867575"/>
              <a:ext cx="5928784" cy="1725857"/>
            </a:xfrm>
            <a:prstGeom prst="rect">
              <a:avLst/>
            </a:prstGeom>
          </p:spPr>
          <p:txBody>
            <a:bodyPr lIns="0" tIns="0" rIns="0" bIns="0" rtlCol="0" anchor="t">
              <a:spAutoFit/>
            </a:bodyPr>
            <a:lstStyle/>
            <a:p>
              <a:pPr algn="l">
                <a:lnSpc>
                  <a:spcPts val="3520"/>
                </a:lnSpc>
              </a:pPr>
              <a:r>
                <a:rPr lang="en-US" sz="2000">
                  <a:solidFill>
                    <a:srgbClr val="000000"/>
                  </a:solidFill>
                  <a:latin typeface="Times New Roman" panose="02020603050405020304" pitchFamily="18" charset="0"/>
                  <a:ea typeface="Nunito"/>
                  <a:cs typeface="Times New Roman" panose="02020603050405020304" pitchFamily="18" charset="0"/>
                  <a:sym typeface="Nunito"/>
                </a:rPr>
                <a:t>Validates incoming event structures and normalizes fields into a consistent schema for downstream processing.</a:t>
              </a:r>
            </a:p>
          </p:txBody>
        </p:sp>
        <p:sp>
          <p:nvSpPr>
            <p:cNvPr id="11" name="TextBox 11"/>
            <p:cNvSpPr txBox="1"/>
            <p:nvPr/>
          </p:nvSpPr>
          <p:spPr>
            <a:xfrm>
              <a:off x="0" y="-38100"/>
              <a:ext cx="5928784" cy="484293"/>
            </a:xfrm>
            <a:prstGeom prst="rect">
              <a:avLst/>
            </a:prstGeom>
          </p:spPr>
          <p:txBody>
            <a:bodyPr lIns="0" tIns="0" rIns="0" bIns="0" rtlCol="0" anchor="t">
              <a:spAutoFit/>
            </a:bodyPr>
            <a:lstStyle/>
            <a:p>
              <a:pPr algn="l">
                <a:lnSpc>
                  <a:spcPts val="3079"/>
                </a:lnSpc>
              </a:pPr>
              <a:r>
                <a:rPr lang="en-US" sz="2199" b="1">
                  <a:solidFill>
                    <a:srgbClr val="000000"/>
                  </a:solidFill>
                  <a:latin typeface="Times New Roman" panose="02020603050405020304" pitchFamily="18" charset="0"/>
                  <a:ea typeface="Nunito Bold"/>
                  <a:cs typeface="Times New Roman" panose="02020603050405020304" pitchFamily="18" charset="0"/>
                  <a:sym typeface="Nunito Bold"/>
                </a:rPr>
                <a:t>2. Parsing and Normalization</a:t>
              </a:r>
            </a:p>
          </p:txBody>
        </p:sp>
      </p:grpSp>
      <p:grpSp>
        <p:nvGrpSpPr>
          <p:cNvPr id="12" name="Group 12"/>
          <p:cNvGrpSpPr/>
          <p:nvPr/>
        </p:nvGrpSpPr>
        <p:grpSpPr>
          <a:xfrm>
            <a:off x="11053685" y="2558010"/>
            <a:ext cx="4446588" cy="2813015"/>
            <a:chOff x="0" y="-38100"/>
            <a:chExt cx="5928784" cy="3750687"/>
          </a:xfrm>
        </p:grpSpPr>
        <p:sp>
          <p:nvSpPr>
            <p:cNvPr id="13" name="TextBox 13"/>
            <p:cNvSpPr txBox="1"/>
            <p:nvPr/>
          </p:nvSpPr>
          <p:spPr>
            <a:xfrm>
              <a:off x="0" y="1388275"/>
              <a:ext cx="5928784" cy="2324312"/>
            </a:xfrm>
            <a:prstGeom prst="rect">
              <a:avLst/>
            </a:prstGeom>
          </p:spPr>
          <p:txBody>
            <a:bodyPr lIns="0" tIns="0" rIns="0" bIns="0" rtlCol="0" anchor="t">
              <a:spAutoFit/>
            </a:bodyPr>
            <a:lstStyle/>
            <a:p>
              <a:pPr algn="l">
                <a:lnSpc>
                  <a:spcPts val="3520"/>
                </a:lnSpc>
              </a:pPr>
              <a:r>
                <a:rPr lang="en-US" sz="2000">
                  <a:solidFill>
                    <a:srgbClr val="000000"/>
                  </a:solidFill>
                  <a:latin typeface="Times New Roman" panose="02020603050405020304" pitchFamily="18" charset="0"/>
                  <a:ea typeface="Nunito"/>
                  <a:cs typeface="Times New Roman" panose="02020603050405020304" pitchFamily="18" charset="0"/>
                  <a:sym typeface="Nunito"/>
                </a:rPr>
                <a:t>Loads YAML rules, validates syntax and semantics, builds the Boolean AST, compiles predicates, and evaluates security events.</a:t>
              </a:r>
            </a:p>
          </p:txBody>
        </p:sp>
        <p:sp>
          <p:nvSpPr>
            <p:cNvPr id="14" name="TextBox 14"/>
            <p:cNvSpPr txBox="1"/>
            <p:nvPr/>
          </p:nvSpPr>
          <p:spPr>
            <a:xfrm>
              <a:off x="0" y="-38100"/>
              <a:ext cx="5928784" cy="1015749"/>
            </a:xfrm>
            <a:prstGeom prst="rect">
              <a:avLst/>
            </a:prstGeom>
          </p:spPr>
          <p:txBody>
            <a:bodyPr lIns="0" tIns="0" rIns="0" bIns="0" rtlCol="0" anchor="t">
              <a:spAutoFit/>
            </a:bodyPr>
            <a:lstStyle/>
            <a:p>
              <a:pPr algn="l">
                <a:lnSpc>
                  <a:spcPts val="3079"/>
                </a:lnSpc>
              </a:pPr>
              <a:r>
                <a:rPr lang="en-US" sz="2199" b="1">
                  <a:solidFill>
                    <a:srgbClr val="000000"/>
                  </a:solidFill>
                  <a:latin typeface="Times New Roman" panose="02020603050405020304" pitchFamily="18" charset="0"/>
                  <a:ea typeface="Nunito Bold"/>
                  <a:cs typeface="Times New Roman" panose="02020603050405020304" pitchFamily="18" charset="0"/>
                  <a:sym typeface="Nunito Bold"/>
                </a:rPr>
                <a:t>3. Rule Compiler and Engine: Core Module</a:t>
              </a:r>
            </a:p>
          </p:txBody>
        </p:sp>
      </p:grpSp>
      <p:grpSp>
        <p:nvGrpSpPr>
          <p:cNvPr id="15" name="Group 15"/>
          <p:cNvGrpSpPr/>
          <p:nvPr/>
        </p:nvGrpSpPr>
        <p:grpSpPr>
          <a:xfrm>
            <a:off x="1028700" y="6162675"/>
            <a:ext cx="4446588" cy="3261857"/>
            <a:chOff x="0" y="-38100"/>
            <a:chExt cx="5928784" cy="4349142"/>
          </a:xfrm>
        </p:grpSpPr>
        <p:sp>
          <p:nvSpPr>
            <p:cNvPr id="16" name="TextBox 16"/>
            <p:cNvSpPr txBox="1"/>
            <p:nvPr/>
          </p:nvSpPr>
          <p:spPr>
            <a:xfrm>
              <a:off x="0" y="1388275"/>
              <a:ext cx="5928784" cy="2922767"/>
            </a:xfrm>
            <a:prstGeom prst="rect">
              <a:avLst/>
            </a:prstGeom>
          </p:spPr>
          <p:txBody>
            <a:bodyPr lIns="0" tIns="0" rIns="0" bIns="0" rtlCol="0" anchor="t">
              <a:spAutoFit/>
            </a:bodyPr>
            <a:lstStyle/>
            <a:p>
              <a:pPr algn="l">
                <a:lnSpc>
                  <a:spcPts val="3520"/>
                </a:lnSpc>
              </a:pPr>
              <a:r>
                <a:rPr lang="en-US" sz="2000">
                  <a:solidFill>
                    <a:srgbClr val="000000"/>
                  </a:solidFill>
                  <a:latin typeface="Times New Roman" panose="02020603050405020304" pitchFamily="18" charset="0"/>
                  <a:ea typeface="Nunito"/>
                  <a:cs typeface="Times New Roman" panose="02020603050405020304" pitchFamily="18" charset="0"/>
                  <a:sym typeface="Nunito"/>
                </a:rPr>
                <a:t>Caches compiled rules, optimizes evaluation using indexing, and executes match, count, and sequence rules against security events.</a:t>
              </a:r>
            </a:p>
            <a:p>
              <a:pPr algn="l">
                <a:lnSpc>
                  <a:spcPts val="3520"/>
                </a:lnSpc>
              </a:pPr>
              <a:endParaRPr lang="en-US" sz="2000">
                <a:solidFill>
                  <a:srgbClr val="000000"/>
                </a:solidFill>
                <a:latin typeface="Times New Roman" panose="02020603050405020304" pitchFamily="18" charset="0"/>
                <a:ea typeface="Nunito"/>
                <a:cs typeface="Times New Roman" panose="02020603050405020304" pitchFamily="18" charset="0"/>
                <a:sym typeface="Nunito"/>
              </a:endParaRPr>
            </a:p>
          </p:txBody>
        </p:sp>
        <p:sp>
          <p:nvSpPr>
            <p:cNvPr id="17" name="TextBox 17"/>
            <p:cNvSpPr txBox="1"/>
            <p:nvPr/>
          </p:nvSpPr>
          <p:spPr>
            <a:xfrm>
              <a:off x="0" y="-38100"/>
              <a:ext cx="5928784" cy="485689"/>
            </a:xfrm>
            <a:prstGeom prst="rect">
              <a:avLst/>
            </a:prstGeom>
          </p:spPr>
          <p:txBody>
            <a:bodyPr lIns="0" tIns="0" rIns="0" bIns="0" rtlCol="0" anchor="t">
              <a:spAutoFit/>
            </a:bodyPr>
            <a:lstStyle/>
            <a:p>
              <a:pPr algn="l">
                <a:lnSpc>
                  <a:spcPts val="3079"/>
                </a:lnSpc>
              </a:pPr>
              <a:r>
                <a:rPr lang="en-US" sz="2199" b="1">
                  <a:solidFill>
                    <a:srgbClr val="000000"/>
                  </a:solidFill>
                  <a:latin typeface="Times New Roman" panose="02020603050405020304" pitchFamily="18" charset="0"/>
                  <a:ea typeface="Nunito Bold"/>
                  <a:cs typeface="Times New Roman" panose="02020603050405020304" pitchFamily="18" charset="0"/>
                  <a:sym typeface="Nunito Bold"/>
                </a:rPr>
                <a:t>4. Rule Optimization and Execution</a:t>
              </a:r>
            </a:p>
          </p:txBody>
        </p:sp>
      </p:grpSp>
      <p:grpSp>
        <p:nvGrpSpPr>
          <p:cNvPr id="18" name="Group 18"/>
          <p:cNvGrpSpPr/>
          <p:nvPr/>
        </p:nvGrpSpPr>
        <p:grpSpPr>
          <a:xfrm>
            <a:off x="6041193" y="6162675"/>
            <a:ext cx="4446588" cy="2813015"/>
            <a:chOff x="0" y="-38100"/>
            <a:chExt cx="5928784" cy="3750687"/>
          </a:xfrm>
        </p:grpSpPr>
        <p:sp>
          <p:nvSpPr>
            <p:cNvPr id="19" name="TextBox 19"/>
            <p:cNvSpPr txBox="1"/>
            <p:nvPr/>
          </p:nvSpPr>
          <p:spPr>
            <a:xfrm>
              <a:off x="0" y="1388275"/>
              <a:ext cx="5928784" cy="2324312"/>
            </a:xfrm>
            <a:prstGeom prst="rect">
              <a:avLst/>
            </a:prstGeom>
          </p:spPr>
          <p:txBody>
            <a:bodyPr lIns="0" tIns="0" rIns="0" bIns="0" rtlCol="0" anchor="t">
              <a:spAutoFit/>
            </a:bodyPr>
            <a:lstStyle/>
            <a:p>
              <a:pPr algn="l">
                <a:lnSpc>
                  <a:spcPts val="3520"/>
                </a:lnSpc>
              </a:pPr>
              <a:r>
                <a:rPr lang="en-US" sz="2000">
                  <a:solidFill>
                    <a:srgbClr val="000000"/>
                  </a:solidFill>
                  <a:latin typeface="Times New Roman" panose="02020603050405020304" pitchFamily="18" charset="0"/>
                  <a:ea typeface="Nunito"/>
                  <a:cs typeface="Times New Roman" panose="02020603050405020304" pitchFamily="18" charset="0"/>
                  <a:sym typeface="Nunito"/>
                </a:rPr>
                <a:t>Analyzes suspicious activity using AI, combines detection outputs into incident records and assigns a composite risk score according to the platform design.</a:t>
              </a:r>
            </a:p>
          </p:txBody>
        </p:sp>
        <p:sp>
          <p:nvSpPr>
            <p:cNvPr id="20" name="TextBox 20"/>
            <p:cNvSpPr txBox="1"/>
            <p:nvPr/>
          </p:nvSpPr>
          <p:spPr>
            <a:xfrm>
              <a:off x="0" y="-38100"/>
              <a:ext cx="5928784" cy="1015749"/>
            </a:xfrm>
            <a:prstGeom prst="rect">
              <a:avLst/>
            </a:prstGeom>
          </p:spPr>
          <p:txBody>
            <a:bodyPr lIns="0" tIns="0" rIns="0" bIns="0" rtlCol="0" anchor="t">
              <a:spAutoFit/>
            </a:bodyPr>
            <a:lstStyle/>
            <a:p>
              <a:pPr algn="l">
                <a:lnSpc>
                  <a:spcPts val="3079"/>
                </a:lnSpc>
              </a:pPr>
              <a:r>
                <a:rPr lang="en-US" sz="2199" b="1">
                  <a:solidFill>
                    <a:srgbClr val="000000"/>
                  </a:solidFill>
                  <a:latin typeface="Times New Roman" panose="02020603050405020304" pitchFamily="18" charset="0"/>
                  <a:ea typeface="Nunito Bold"/>
                  <a:cs typeface="Times New Roman" panose="02020603050405020304" pitchFamily="18" charset="0"/>
                  <a:sym typeface="Nunito Bold"/>
                </a:rPr>
                <a:t>5.Incident Correlation and Risk Scoring</a:t>
              </a:r>
            </a:p>
          </p:txBody>
        </p:sp>
      </p:grpSp>
      <p:grpSp>
        <p:nvGrpSpPr>
          <p:cNvPr id="21" name="Group 21"/>
          <p:cNvGrpSpPr/>
          <p:nvPr/>
        </p:nvGrpSpPr>
        <p:grpSpPr>
          <a:xfrm>
            <a:off x="11053685" y="6153150"/>
            <a:ext cx="4446588" cy="2364174"/>
            <a:chOff x="0" y="-38100"/>
            <a:chExt cx="5928784" cy="3152232"/>
          </a:xfrm>
        </p:grpSpPr>
        <p:sp>
          <p:nvSpPr>
            <p:cNvPr id="22" name="TextBox 22"/>
            <p:cNvSpPr txBox="1"/>
            <p:nvPr/>
          </p:nvSpPr>
          <p:spPr>
            <a:xfrm>
              <a:off x="0" y="1388275"/>
              <a:ext cx="5928784" cy="1725857"/>
            </a:xfrm>
            <a:prstGeom prst="rect">
              <a:avLst/>
            </a:prstGeom>
          </p:spPr>
          <p:txBody>
            <a:bodyPr lIns="0" tIns="0" rIns="0" bIns="0" rtlCol="0" anchor="t">
              <a:spAutoFit/>
            </a:bodyPr>
            <a:lstStyle/>
            <a:p>
              <a:pPr algn="l">
                <a:lnSpc>
                  <a:spcPts val="3520"/>
                </a:lnSpc>
              </a:pPr>
              <a:r>
                <a:rPr lang="en-US" sz="2000" dirty="0">
                  <a:solidFill>
                    <a:srgbClr val="000000"/>
                  </a:solidFill>
                  <a:latin typeface="Times New Roman" panose="02020603050405020304" pitchFamily="18" charset="0"/>
                  <a:ea typeface="Nunito"/>
                  <a:cs typeface="Times New Roman" panose="02020603050405020304" pitchFamily="18" charset="0"/>
                  <a:sym typeface="Nunito"/>
                </a:rPr>
                <a:t>Matched Rules | Severity | Risk Score | Incident Details</a:t>
              </a:r>
            </a:p>
            <a:p>
              <a:pPr algn="l">
                <a:lnSpc>
                  <a:spcPts val="3520"/>
                </a:lnSpc>
              </a:pPr>
              <a:endParaRPr lang="en-US" sz="2000" dirty="0">
                <a:solidFill>
                  <a:srgbClr val="000000"/>
                </a:solidFill>
                <a:latin typeface="Times New Roman" panose="02020603050405020304" pitchFamily="18" charset="0"/>
                <a:ea typeface="Nunito"/>
                <a:cs typeface="Times New Roman" panose="02020603050405020304" pitchFamily="18" charset="0"/>
                <a:sym typeface="Nunito"/>
              </a:endParaRPr>
            </a:p>
          </p:txBody>
        </p:sp>
        <p:sp>
          <p:nvSpPr>
            <p:cNvPr id="23" name="TextBox 23"/>
            <p:cNvSpPr txBox="1"/>
            <p:nvPr/>
          </p:nvSpPr>
          <p:spPr>
            <a:xfrm>
              <a:off x="0" y="-38100"/>
              <a:ext cx="5928784" cy="1015749"/>
            </a:xfrm>
            <a:prstGeom prst="rect">
              <a:avLst/>
            </a:prstGeom>
          </p:spPr>
          <p:txBody>
            <a:bodyPr lIns="0" tIns="0" rIns="0" bIns="0" rtlCol="0" anchor="t">
              <a:spAutoFit/>
            </a:bodyPr>
            <a:lstStyle/>
            <a:p>
              <a:pPr algn="l">
                <a:lnSpc>
                  <a:spcPts val="3079"/>
                </a:lnSpc>
              </a:pPr>
              <a:r>
                <a:rPr lang="en-US" sz="2199" b="1">
                  <a:solidFill>
                    <a:srgbClr val="000000"/>
                  </a:solidFill>
                  <a:latin typeface="Times New Roman" panose="02020603050405020304" pitchFamily="18" charset="0"/>
                  <a:ea typeface="Nunito Bold"/>
                  <a:cs typeface="Times New Roman" panose="02020603050405020304" pitchFamily="18" charset="0"/>
                  <a:sym typeface="Nunito Bold"/>
                </a:rPr>
                <a:t>6.Final Output — JSON Object</a:t>
              </a:r>
            </a:p>
            <a:p>
              <a:pPr algn="l">
                <a:lnSpc>
                  <a:spcPts val="3079"/>
                </a:lnSpc>
              </a:pPr>
              <a:endParaRPr lang="en-US" sz="2199" b="1">
                <a:solidFill>
                  <a:srgbClr val="000000"/>
                </a:solidFill>
                <a:latin typeface="Times New Roman" panose="02020603050405020304" pitchFamily="18" charset="0"/>
                <a:ea typeface="Nunito Bold"/>
                <a:cs typeface="Times New Roman" panose="02020603050405020304" pitchFamily="18" charset="0"/>
                <a:sym typeface="Nunito Bol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FE4"/>
        </a:solidFill>
        <a:effectLst/>
      </p:bgPr>
    </p:bg>
    <p:spTree>
      <p:nvGrpSpPr>
        <p:cNvPr id="1" name=""/>
        <p:cNvGrpSpPr/>
        <p:nvPr/>
      </p:nvGrpSpPr>
      <p:grpSpPr>
        <a:xfrm>
          <a:off x="0" y="0"/>
          <a:ext cx="0" cy="0"/>
          <a:chOff x="0" y="0"/>
          <a:chExt cx="0" cy="0"/>
        </a:xfrm>
      </p:grpSpPr>
      <p:grpSp>
        <p:nvGrpSpPr>
          <p:cNvPr id="4" name="Group 4"/>
          <p:cNvGrpSpPr/>
          <p:nvPr/>
        </p:nvGrpSpPr>
        <p:grpSpPr>
          <a:xfrm>
            <a:off x="987552" y="274320"/>
            <a:ext cx="15841980" cy="850392"/>
            <a:chOff x="0" y="0"/>
            <a:chExt cx="21122640" cy="1133856"/>
          </a:xfrm>
        </p:grpSpPr>
        <p:sp>
          <p:nvSpPr>
            <p:cNvPr id="5" name="Freeform 5"/>
            <p:cNvSpPr/>
            <p:nvPr/>
          </p:nvSpPr>
          <p:spPr>
            <a:xfrm>
              <a:off x="0" y="0"/>
              <a:ext cx="21122639" cy="1133856"/>
            </a:xfrm>
            <a:custGeom>
              <a:avLst/>
              <a:gdLst/>
              <a:ahLst/>
              <a:cxnLst/>
              <a:rect l="l" t="t" r="r" b="b"/>
              <a:pathLst>
                <a:path w="21122639" h="1133856">
                  <a:moveTo>
                    <a:pt x="0" y="0"/>
                  </a:moveTo>
                  <a:lnTo>
                    <a:pt x="21122639" y="0"/>
                  </a:lnTo>
                  <a:lnTo>
                    <a:pt x="21122639" y="1133856"/>
                  </a:lnTo>
                  <a:lnTo>
                    <a:pt x="0" y="1133856"/>
                  </a:lnTo>
                  <a:close/>
                </a:path>
              </a:pathLst>
            </a:custGeom>
            <a:blipFill>
              <a:blip r:embed="rId2">
                <a:alphaModFix amt="0"/>
              </a:blip>
              <a:stretch>
                <a:fillRect t="-312987" b="-312987"/>
              </a:stretch>
            </a:blipFill>
          </p:spPr>
          <p:txBody>
            <a:bodyPr/>
            <a:lstStyle/>
            <a:p>
              <a:endParaRPr lang="en-IN"/>
            </a:p>
          </p:txBody>
        </p:sp>
        <p:sp>
          <p:nvSpPr>
            <p:cNvPr id="6" name="TextBox 6"/>
            <p:cNvSpPr txBox="1"/>
            <p:nvPr/>
          </p:nvSpPr>
          <p:spPr>
            <a:xfrm>
              <a:off x="0" y="-28575"/>
              <a:ext cx="21122640" cy="1162431"/>
            </a:xfrm>
            <a:prstGeom prst="rect">
              <a:avLst/>
            </a:prstGeom>
          </p:spPr>
          <p:txBody>
            <a:bodyPr lIns="0" tIns="0" rIns="0" bIns="0" rtlCol="0" anchor="ctr"/>
            <a:lstStyle/>
            <a:p>
              <a:pPr algn="l">
                <a:lnSpc>
                  <a:spcPts val="6659"/>
                </a:lnSpc>
              </a:pPr>
              <a:r>
                <a:rPr lang="en-US" sz="5550" b="1">
                  <a:solidFill>
                    <a:srgbClr val="000000"/>
                  </a:solidFill>
                  <a:latin typeface="Times New Roman Bold"/>
                  <a:ea typeface="Times New Roman Bold"/>
                  <a:cs typeface="Times New Roman Bold"/>
                  <a:sym typeface="Times New Roman Bold"/>
                </a:rPr>
                <a:t>MODULE BLOCK DIAGRAM</a:t>
              </a:r>
            </a:p>
          </p:txBody>
        </p:sp>
      </p:grpSp>
      <p:grpSp>
        <p:nvGrpSpPr>
          <p:cNvPr id="7" name="Group 7"/>
          <p:cNvGrpSpPr/>
          <p:nvPr/>
        </p:nvGrpSpPr>
        <p:grpSpPr>
          <a:xfrm>
            <a:off x="2498821" y="1784263"/>
            <a:ext cx="13586622" cy="749585"/>
            <a:chOff x="0" y="0"/>
            <a:chExt cx="16394430" cy="904494"/>
          </a:xfrm>
        </p:grpSpPr>
        <p:sp>
          <p:nvSpPr>
            <p:cNvPr id="8" name="Freeform 8"/>
            <p:cNvSpPr/>
            <p:nvPr/>
          </p:nvSpPr>
          <p:spPr>
            <a:xfrm>
              <a:off x="0" y="0"/>
              <a:ext cx="16394430" cy="904494"/>
            </a:xfrm>
            <a:custGeom>
              <a:avLst/>
              <a:gdLst/>
              <a:ahLst/>
              <a:cxnLst/>
              <a:rect l="l" t="t" r="r" b="b"/>
              <a:pathLst>
                <a:path w="16394430" h="904494">
                  <a:moveTo>
                    <a:pt x="0" y="0"/>
                  </a:moveTo>
                  <a:lnTo>
                    <a:pt x="16394430" y="0"/>
                  </a:lnTo>
                  <a:lnTo>
                    <a:pt x="16394430" y="904494"/>
                  </a:lnTo>
                  <a:lnTo>
                    <a:pt x="0" y="904494"/>
                  </a:lnTo>
                  <a:close/>
                </a:path>
              </a:pathLst>
            </a:custGeom>
            <a:solidFill>
              <a:srgbClr val="F5EFE4"/>
            </a:solidFill>
            <a:ln w="20003" cap="sq">
              <a:solidFill>
                <a:srgbClr val="000000"/>
              </a:solidFill>
              <a:prstDash val="solid"/>
              <a:miter/>
            </a:ln>
          </p:spPr>
          <p:txBody>
            <a:bodyPr/>
            <a:lstStyle/>
            <a:p>
              <a:endParaRPr lang="en-IN"/>
            </a:p>
          </p:txBody>
        </p:sp>
      </p:grpSp>
      <p:grpSp>
        <p:nvGrpSpPr>
          <p:cNvPr id="9" name="Group 9"/>
          <p:cNvGrpSpPr/>
          <p:nvPr/>
        </p:nvGrpSpPr>
        <p:grpSpPr>
          <a:xfrm>
            <a:off x="2631119" y="1825626"/>
            <a:ext cx="13322025" cy="666859"/>
            <a:chOff x="0" y="0"/>
            <a:chExt cx="16075152" cy="804672"/>
          </a:xfrm>
        </p:grpSpPr>
        <p:sp>
          <p:nvSpPr>
            <p:cNvPr id="10" name="Freeform 10"/>
            <p:cNvSpPr/>
            <p:nvPr/>
          </p:nvSpPr>
          <p:spPr>
            <a:xfrm>
              <a:off x="0" y="0"/>
              <a:ext cx="16075152" cy="804672"/>
            </a:xfrm>
            <a:custGeom>
              <a:avLst/>
              <a:gdLst/>
              <a:ahLst/>
              <a:cxnLst/>
              <a:rect l="l" t="t" r="r" b="b"/>
              <a:pathLst>
                <a:path w="16075152" h="804672">
                  <a:moveTo>
                    <a:pt x="0" y="0"/>
                  </a:moveTo>
                  <a:lnTo>
                    <a:pt x="16075152" y="0"/>
                  </a:lnTo>
                  <a:lnTo>
                    <a:pt x="16075152" y="804672"/>
                  </a:lnTo>
                  <a:lnTo>
                    <a:pt x="0" y="804672"/>
                  </a:lnTo>
                  <a:close/>
                </a:path>
              </a:pathLst>
            </a:custGeom>
            <a:blipFill>
              <a:blip r:embed="rId2">
                <a:alphaModFix amt="0"/>
              </a:blip>
              <a:stretch>
                <a:fillRect t="-339257" b="-339257"/>
              </a:stretch>
            </a:blipFill>
          </p:spPr>
          <p:txBody>
            <a:bodyPr/>
            <a:lstStyle/>
            <a:p>
              <a:endParaRPr lang="en-IN"/>
            </a:p>
          </p:txBody>
        </p:sp>
        <p:sp>
          <p:nvSpPr>
            <p:cNvPr id="11" name="TextBox 11"/>
            <p:cNvSpPr txBox="1"/>
            <p:nvPr/>
          </p:nvSpPr>
          <p:spPr>
            <a:xfrm>
              <a:off x="0" y="-9525"/>
              <a:ext cx="16075152" cy="814197"/>
            </a:xfrm>
            <a:prstGeom prst="rect">
              <a:avLst/>
            </a:prstGeom>
          </p:spPr>
          <p:txBody>
            <a:bodyPr lIns="0" tIns="0" rIns="0" bIns="0" rtlCol="0" anchor="ctr"/>
            <a:lstStyle/>
            <a:p>
              <a:pPr algn="ctr">
                <a:lnSpc>
                  <a:spcPts val="2790"/>
                </a:lnSpc>
              </a:pPr>
              <a:r>
                <a:rPr lang="en-US" sz="2325" b="1">
                  <a:solidFill>
                    <a:srgbClr val="000000"/>
                  </a:solidFill>
                  <a:latin typeface="Times New Roman Bold"/>
                  <a:ea typeface="Times New Roman Bold"/>
                  <a:cs typeface="Times New Roman Bold"/>
                  <a:sym typeface="Times New Roman Bold"/>
                </a:rPr>
                <a:t>1. Log Collection and Ingestion</a:t>
              </a:r>
            </a:p>
          </p:txBody>
        </p:sp>
      </p:grpSp>
      <p:sp>
        <p:nvSpPr>
          <p:cNvPr id="12" name="AutoShape 12"/>
          <p:cNvSpPr/>
          <p:nvPr/>
        </p:nvSpPr>
        <p:spPr>
          <a:xfrm>
            <a:off x="9281606" y="2512272"/>
            <a:ext cx="21051" cy="339324"/>
          </a:xfrm>
          <a:prstGeom prst="line">
            <a:avLst/>
          </a:prstGeom>
          <a:ln w="9525" cap="rnd">
            <a:solidFill>
              <a:srgbClr val="000000"/>
            </a:solidFill>
            <a:prstDash val="solid"/>
            <a:headEnd type="none" w="sm" len="sm"/>
            <a:tailEnd type="triangle" w="lg" len="med"/>
          </a:ln>
        </p:spPr>
        <p:txBody>
          <a:bodyPr/>
          <a:lstStyle/>
          <a:p>
            <a:endParaRPr lang="en-IN"/>
          </a:p>
        </p:txBody>
      </p:sp>
      <p:grpSp>
        <p:nvGrpSpPr>
          <p:cNvPr id="13" name="Group 13"/>
          <p:cNvGrpSpPr/>
          <p:nvPr/>
        </p:nvGrpSpPr>
        <p:grpSpPr>
          <a:xfrm>
            <a:off x="2498821" y="2845176"/>
            <a:ext cx="13586622" cy="749585"/>
            <a:chOff x="0" y="0"/>
            <a:chExt cx="16394430" cy="904494"/>
          </a:xfrm>
        </p:grpSpPr>
        <p:sp>
          <p:nvSpPr>
            <p:cNvPr id="14" name="Freeform 14"/>
            <p:cNvSpPr/>
            <p:nvPr/>
          </p:nvSpPr>
          <p:spPr>
            <a:xfrm>
              <a:off x="0" y="0"/>
              <a:ext cx="16394430" cy="904494"/>
            </a:xfrm>
            <a:custGeom>
              <a:avLst/>
              <a:gdLst/>
              <a:ahLst/>
              <a:cxnLst/>
              <a:rect l="l" t="t" r="r" b="b"/>
              <a:pathLst>
                <a:path w="16394430" h="904494">
                  <a:moveTo>
                    <a:pt x="0" y="0"/>
                  </a:moveTo>
                  <a:lnTo>
                    <a:pt x="16394430" y="0"/>
                  </a:lnTo>
                  <a:lnTo>
                    <a:pt x="16394430" y="904494"/>
                  </a:lnTo>
                  <a:lnTo>
                    <a:pt x="0" y="904494"/>
                  </a:lnTo>
                  <a:close/>
                </a:path>
              </a:pathLst>
            </a:custGeom>
            <a:solidFill>
              <a:srgbClr val="F5EFE4"/>
            </a:solidFill>
            <a:ln w="20003" cap="sq">
              <a:solidFill>
                <a:srgbClr val="000000"/>
              </a:solidFill>
              <a:prstDash val="solid"/>
              <a:miter/>
            </a:ln>
          </p:spPr>
          <p:txBody>
            <a:bodyPr/>
            <a:lstStyle/>
            <a:p>
              <a:endParaRPr lang="en-IN"/>
            </a:p>
          </p:txBody>
        </p:sp>
      </p:grpSp>
      <p:grpSp>
        <p:nvGrpSpPr>
          <p:cNvPr id="15" name="Group 15"/>
          <p:cNvGrpSpPr/>
          <p:nvPr/>
        </p:nvGrpSpPr>
        <p:grpSpPr>
          <a:xfrm>
            <a:off x="2631119" y="2886538"/>
            <a:ext cx="13322025" cy="666859"/>
            <a:chOff x="0" y="0"/>
            <a:chExt cx="16075152" cy="804672"/>
          </a:xfrm>
        </p:grpSpPr>
        <p:sp>
          <p:nvSpPr>
            <p:cNvPr id="16" name="Freeform 16"/>
            <p:cNvSpPr/>
            <p:nvPr/>
          </p:nvSpPr>
          <p:spPr>
            <a:xfrm>
              <a:off x="0" y="0"/>
              <a:ext cx="16075152" cy="804672"/>
            </a:xfrm>
            <a:custGeom>
              <a:avLst/>
              <a:gdLst/>
              <a:ahLst/>
              <a:cxnLst/>
              <a:rect l="l" t="t" r="r" b="b"/>
              <a:pathLst>
                <a:path w="16075152" h="804672">
                  <a:moveTo>
                    <a:pt x="0" y="0"/>
                  </a:moveTo>
                  <a:lnTo>
                    <a:pt x="16075152" y="0"/>
                  </a:lnTo>
                  <a:lnTo>
                    <a:pt x="16075152" y="804672"/>
                  </a:lnTo>
                  <a:lnTo>
                    <a:pt x="0" y="804672"/>
                  </a:lnTo>
                  <a:close/>
                </a:path>
              </a:pathLst>
            </a:custGeom>
            <a:blipFill>
              <a:blip r:embed="rId2">
                <a:alphaModFix amt="0"/>
              </a:blip>
              <a:stretch>
                <a:fillRect t="-339257" b="-339257"/>
              </a:stretch>
            </a:blipFill>
          </p:spPr>
          <p:txBody>
            <a:bodyPr/>
            <a:lstStyle/>
            <a:p>
              <a:endParaRPr lang="en-IN"/>
            </a:p>
          </p:txBody>
        </p:sp>
        <p:sp>
          <p:nvSpPr>
            <p:cNvPr id="17" name="TextBox 17"/>
            <p:cNvSpPr txBox="1"/>
            <p:nvPr/>
          </p:nvSpPr>
          <p:spPr>
            <a:xfrm>
              <a:off x="0" y="-9525"/>
              <a:ext cx="16075152" cy="814197"/>
            </a:xfrm>
            <a:prstGeom prst="rect">
              <a:avLst/>
            </a:prstGeom>
          </p:spPr>
          <p:txBody>
            <a:bodyPr lIns="0" tIns="0" rIns="0" bIns="0" rtlCol="0" anchor="ctr"/>
            <a:lstStyle/>
            <a:p>
              <a:pPr algn="ctr">
                <a:lnSpc>
                  <a:spcPts val="2790"/>
                </a:lnSpc>
              </a:pPr>
              <a:r>
                <a:rPr lang="en-US" sz="2325" b="1">
                  <a:solidFill>
                    <a:srgbClr val="000000"/>
                  </a:solidFill>
                  <a:latin typeface="Times New Roman Bold"/>
                  <a:ea typeface="Times New Roman Bold"/>
                  <a:cs typeface="Times New Roman Bold"/>
                  <a:sym typeface="Times New Roman Bold"/>
                </a:rPr>
                <a:t>2. Parsing and Normalization</a:t>
              </a:r>
            </a:p>
          </p:txBody>
        </p:sp>
      </p:grpSp>
      <p:sp>
        <p:nvSpPr>
          <p:cNvPr id="18" name="AutoShape 18"/>
          <p:cNvSpPr/>
          <p:nvPr/>
        </p:nvSpPr>
        <p:spPr>
          <a:xfrm>
            <a:off x="9281606" y="3573183"/>
            <a:ext cx="21052" cy="263547"/>
          </a:xfrm>
          <a:prstGeom prst="line">
            <a:avLst/>
          </a:prstGeom>
          <a:ln w="9525" cap="rnd">
            <a:solidFill>
              <a:srgbClr val="000000"/>
            </a:solidFill>
            <a:prstDash val="solid"/>
            <a:headEnd type="none" w="sm" len="sm"/>
            <a:tailEnd type="none" w="sm" len="sm"/>
          </a:ln>
        </p:spPr>
        <p:txBody>
          <a:bodyPr/>
          <a:lstStyle/>
          <a:p>
            <a:endParaRPr lang="en-IN"/>
          </a:p>
        </p:txBody>
      </p:sp>
      <p:sp>
        <p:nvSpPr>
          <p:cNvPr id="19" name="AutoShape 19"/>
          <p:cNvSpPr/>
          <p:nvPr/>
        </p:nvSpPr>
        <p:spPr>
          <a:xfrm>
            <a:off x="5121320" y="3815688"/>
            <a:ext cx="7674776" cy="21030"/>
          </a:xfrm>
          <a:prstGeom prst="line">
            <a:avLst/>
          </a:prstGeom>
          <a:ln w="9525" cap="rnd">
            <a:solidFill>
              <a:srgbClr val="000000"/>
            </a:solidFill>
            <a:prstDash val="solid"/>
            <a:headEnd type="none" w="sm" len="sm"/>
            <a:tailEnd type="none" w="sm" len="sm"/>
          </a:ln>
        </p:spPr>
        <p:txBody>
          <a:bodyPr/>
          <a:lstStyle/>
          <a:p>
            <a:endParaRPr lang="en-IN"/>
          </a:p>
        </p:txBody>
      </p:sp>
      <p:sp>
        <p:nvSpPr>
          <p:cNvPr id="20" name="AutoShape 20"/>
          <p:cNvSpPr/>
          <p:nvPr/>
        </p:nvSpPr>
        <p:spPr>
          <a:xfrm>
            <a:off x="5121316" y="3815676"/>
            <a:ext cx="21049" cy="293861"/>
          </a:xfrm>
          <a:prstGeom prst="line">
            <a:avLst/>
          </a:prstGeom>
          <a:ln w="9525" cap="rnd">
            <a:solidFill>
              <a:srgbClr val="000000"/>
            </a:solidFill>
            <a:prstDash val="solid"/>
            <a:headEnd type="none" w="sm" len="sm"/>
            <a:tailEnd type="triangle" w="lg" len="med"/>
          </a:ln>
        </p:spPr>
        <p:txBody>
          <a:bodyPr/>
          <a:lstStyle/>
          <a:p>
            <a:endParaRPr lang="en-IN"/>
          </a:p>
        </p:txBody>
      </p:sp>
      <p:sp>
        <p:nvSpPr>
          <p:cNvPr id="21" name="AutoShape 21"/>
          <p:cNvSpPr/>
          <p:nvPr/>
        </p:nvSpPr>
        <p:spPr>
          <a:xfrm>
            <a:off x="12775040" y="3815676"/>
            <a:ext cx="21049" cy="293861"/>
          </a:xfrm>
          <a:prstGeom prst="line">
            <a:avLst/>
          </a:prstGeom>
          <a:ln w="9525" cap="rnd">
            <a:solidFill>
              <a:srgbClr val="000000"/>
            </a:solidFill>
            <a:prstDash val="solid"/>
            <a:headEnd type="none" w="sm" len="sm"/>
            <a:tailEnd type="triangle" w="lg" len="med"/>
          </a:ln>
        </p:spPr>
        <p:txBody>
          <a:bodyPr/>
          <a:lstStyle/>
          <a:p>
            <a:endParaRPr lang="en-IN"/>
          </a:p>
        </p:txBody>
      </p:sp>
      <p:grpSp>
        <p:nvGrpSpPr>
          <p:cNvPr id="22" name="Group 22"/>
          <p:cNvGrpSpPr/>
          <p:nvPr/>
        </p:nvGrpSpPr>
        <p:grpSpPr>
          <a:xfrm>
            <a:off x="1028700" y="4103114"/>
            <a:ext cx="8206282" cy="1355820"/>
            <a:chOff x="0" y="0"/>
            <a:chExt cx="9902190" cy="1636014"/>
          </a:xfrm>
        </p:grpSpPr>
        <p:sp>
          <p:nvSpPr>
            <p:cNvPr id="23" name="Freeform 23"/>
            <p:cNvSpPr/>
            <p:nvPr/>
          </p:nvSpPr>
          <p:spPr>
            <a:xfrm>
              <a:off x="0" y="0"/>
              <a:ext cx="9902190" cy="1636014"/>
            </a:xfrm>
            <a:custGeom>
              <a:avLst/>
              <a:gdLst/>
              <a:ahLst/>
              <a:cxnLst/>
              <a:rect l="l" t="t" r="r" b="b"/>
              <a:pathLst>
                <a:path w="9902190" h="1636014">
                  <a:moveTo>
                    <a:pt x="0" y="0"/>
                  </a:moveTo>
                  <a:lnTo>
                    <a:pt x="9902190" y="0"/>
                  </a:lnTo>
                  <a:lnTo>
                    <a:pt x="9902190" y="1636014"/>
                  </a:lnTo>
                  <a:lnTo>
                    <a:pt x="0" y="1636014"/>
                  </a:lnTo>
                  <a:close/>
                </a:path>
              </a:pathLst>
            </a:custGeom>
            <a:solidFill>
              <a:srgbClr val="F5EFE4"/>
            </a:solidFill>
            <a:ln w="20003" cap="sq">
              <a:solidFill>
                <a:srgbClr val="000000"/>
              </a:solidFill>
              <a:prstDash val="solid"/>
              <a:miter/>
            </a:ln>
          </p:spPr>
          <p:txBody>
            <a:bodyPr/>
            <a:lstStyle/>
            <a:p>
              <a:endParaRPr lang="en-IN"/>
            </a:p>
          </p:txBody>
        </p:sp>
      </p:grpSp>
      <p:grpSp>
        <p:nvGrpSpPr>
          <p:cNvPr id="24" name="Group 24"/>
          <p:cNvGrpSpPr/>
          <p:nvPr/>
        </p:nvGrpSpPr>
        <p:grpSpPr>
          <a:xfrm>
            <a:off x="1221622" y="4205101"/>
            <a:ext cx="7820438" cy="409209"/>
            <a:chOff x="0" y="0"/>
            <a:chExt cx="9436608" cy="493776"/>
          </a:xfrm>
        </p:grpSpPr>
        <p:sp>
          <p:nvSpPr>
            <p:cNvPr id="25" name="Freeform 25"/>
            <p:cNvSpPr/>
            <p:nvPr/>
          </p:nvSpPr>
          <p:spPr>
            <a:xfrm>
              <a:off x="0" y="0"/>
              <a:ext cx="9436608" cy="493776"/>
            </a:xfrm>
            <a:custGeom>
              <a:avLst/>
              <a:gdLst/>
              <a:ahLst/>
              <a:cxnLst/>
              <a:rect l="l" t="t" r="r" b="b"/>
              <a:pathLst>
                <a:path w="9436608" h="493776">
                  <a:moveTo>
                    <a:pt x="0" y="0"/>
                  </a:moveTo>
                  <a:lnTo>
                    <a:pt x="9436608" y="0"/>
                  </a:lnTo>
                  <a:lnTo>
                    <a:pt x="9436608" y="493776"/>
                  </a:lnTo>
                  <a:lnTo>
                    <a:pt x="0" y="493776"/>
                  </a:lnTo>
                  <a:close/>
                </a:path>
              </a:pathLst>
            </a:custGeom>
            <a:blipFill>
              <a:blip r:embed="rId2">
                <a:alphaModFix amt="0"/>
              </a:blip>
              <a:stretch>
                <a:fillRect t="-322380" b="-322380"/>
              </a:stretch>
            </a:blipFill>
          </p:spPr>
          <p:txBody>
            <a:bodyPr/>
            <a:lstStyle/>
            <a:p>
              <a:endParaRPr lang="en-IN"/>
            </a:p>
          </p:txBody>
        </p:sp>
        <p:sp>
          <p:nvSpPr>
            <p:cNvPr id="26" name="TextBox 26"/>
            <p:cNvSpPr txBox="1"/>
            <p:nvPr/>
          </p:nvSpPr>
          <p:spPr>
            <a:xfrm>
              <a:off x="0" y="-9525"/>
              <a:ext cx="9436608" cy="503301"/>
            </a:xfrm>
            <a:prstGeom prst="rect">
              <a:avLst/>
            </a:prstGeom>
          </p:spPr>
          <p:txBody>
            <a:bodyPr lIns="0" tIns="0" rIns="0" bIns="0" rtlCol="0" anchor="ctr"/>
            <a:lstStyle/>
            <a:p>
              <a:pPr algn="ctr">
                <a:lnSpc>
                  <a:spcPts val="2879"/>
                </a:lnSpc>
              </a:pPr>
              <a:r>
                <a:rPr lang="en-US" sz="2400" b="1">
                  <a:solidFill>
                    <a:srgbClr val="000000"/>
                  </a:solidFill>
                  <a:latin typeface="Times New Roman Bold"/>
                  <a:ea typeface="Times New Roman Bold"/>
                  <a:cs typeface="Times New Roman Bold"/>
                  <a:sym typeface="Times New Roman Bold"/>
                </a:rPr>
                <a:t>3. Rule Compiler</a:t>
              </a:r>
            </a:p>
          </p:txBody>
        </p:sp>
      </p:grpSp>
      <p:grpSp>
        <p:nvGrpSpPr>
          <p:cNvPr id="27" name="Group 27"/>
          <p:cNvGrpSpPr/>
          <p:nvPr/>
        </p:nvGrpSpPr>
        <p:grpSpPr>
          <a:xfrm>
            <a:off x="1267089" y="4614310"/>
            <a:ext cx="7729503" cy="712327"/>
            <a:chOff x="0" y="0"/>
            <a:chExt cx="9326880" cy="859536"/>
          </a:xfrm>
        </p:grpSpPr>
        <p:sp>
          <p:nvSpPr>
            <p:cNvPr id="28" name="Freeform 28"/>
            <p:cNvSpPr/>
            <p:nvPr/>
          </p:nvSpPr>
          <p:spPr>
            <a:xfrm>
              <a:off x="0" y="0"/>
              <a:ext cx="9326880" cy="859536"/>
            </a:xfrm>
            <a:custGeom>
              <a:avLst/>
              <a:gdLst/>
              <a:ahLst/>
              <a:cxnLst/>
              <a:rect l="l" t="t" r="r" b="b"/>
              <a:pathLst>
                <a:path w="9326880" h="859536">
                  <a:moveTo>
                    <a:pt x="0" y="0"/>
                  </a:moveTo>
                  <a:lnTo>
                    <a:pt x="9326880" y="0"/>
                  </a:lnTo>
                  <a:lnTo>
                    <a:pt x="9326880" y="859536"/>
                  </a:lnTo>
                  <a:lnTo>
                    <a:pt x="0" y="859536"/>
                  </a:lnTo>
                  <a:close/>
                </a:path>
              </a:pathLst>
            </a:custGeom>
            <a:blipFill>
              <a:blip r:embed="rId2">
                <a:alphaModFix amt="0"/>
              </a:blip>
              <a:stretch>
                <a:fillRect t="-161433" b="-161433"/>
              </a:stretch>
            </a:blipFill>
          </p:spPr>
          <p:txBody>
            <a:bodyPr/>
            <a:lstStyle/>
            <a:p>
              <a:endParaRPr lang="en-IN"/>
            </a:p>
          </p:txBody>
        </p:sp>
        <p:sp>
          <p:nvSpPr>
            <p:cNvPr id="29" name="TextBox 29"/>
            <p:cNvSpPr txBox="1"/>
            <p:nvPr/>
          </p:nvSpPr>
          <p:spPr>
            <a:xfrm>
              <a:off x="0" y="-19050"/>
              <a:ext cx="9326880" cy="878586"/>
            </a:xfrm>
            <a:prstGeom prst="rect">
              <a:avLst/>
            </a:prstGeom>
          </p:spPr>
          <p:txBody>
            <a:bodyPr lIns="0" tIns="0" rIns="0" bIns="0" rtlCol="0" anchor="ctr"/>
            <a:lstStyle/>
            <a:p>
              <a:pPr algn="ctr">
                <a:lnSpc>
                  <a:spcPts val="2304"/>
                </a:lnSpc>
              </a:pPr>
              <a:r>
                <a:rPr lang="en-US" sz="1920">
                  <a:solidFill>
                    <a:srgbClr val="000000"/>
                  </a:solidFill>
                  <a:latin typeface="Times New Roman"/>
                  <a:ea typeface="Times New Roman"/>
                  <a:cs typeface="Times New Roman"/>
                  <a:sym typeface="Times New Roman"/>
                </a:rPr>
                <a:t>YAML → Parsing → AST → Semantic Analysis → Code</a:t>
              </a:r>
            </a:p>
            <a:p>
              <a:pPr algn="ctr">
                <a:lnSpc>
                  <a:spcPts val="2304"/>
                </a:lnSpc>
              </a:pPr>
              <a:r>
                <a:rPr lang="en-US" sz="1920">
                  <a:solidFill>
                    <a:srgbClr val="000000"/>
                  </a:solidFill>
                  <a:latin typeface="Times New Roman"/>
                  <a:ea typeface="Times New Roman"/>
                  <a:cs typeface="Times New Roman"/>
                  <a:sym typeface="Times New Roman"/>
                </a:rPr>
                <a:t>Generation</a:t>
              </a:r>
            </a:p>
          </p:txBody>
        </p:sp>
      </p:grpSp>
      <p:sp>
        <p:nvSpPr>
          <p:cNvPr id="30" name="AutoShape 30"/>
          <p:cNvSpPr/>
          <p:nvPr/>
        </p:nvSpPr>
        <p:spPr>
          <a:xfrm>
            <a:off x="5121322" y="5437358"/>
            <a:ext cx="21048" cy="324169"/>
          </a:xfrm>
          <a:prstGeom prst="line">
            <a:avLst/>
          </a:prstGeom>
          <a:ln w="9525" cap="rnd">
            <a:solidFill>
              <a:srgbClr val="000000"/>
            </a:solidFill>
            <a:prstDash val="solid"/>
            <a:headEnd type="none" w="sm" len="sm"/>
            <a:tailEnd type="triangle" w="lg" len="med"/>
          </a:ln>
        </p:spPr>
        <p:txBody>
          <a:bodyPr/>
          <a:lstStyle/>
          <a:p>
            <a:endParaRPr lang="en-IN"/>
          </a:p>
        </p:txBody>
      </p:sp>
      <p:grpSp>
        <p:nvGrpSpPr>
          <p:cNvPr id="31" name="Group 31"/>
          <p:cNvGrpSpPr/>
          <p:nvPr/>
        </p:nvGrpSpPr>
        <p:grpSpPr>
          <a:xfrm>
            <a:off x="1028700" y="5755106"/>
            <a:ext cx="8206282" cy="1083014"/>
            <a:chOff x="0" y="0"/>
            <a:chExt cx="9902190" cy="1306830"/>
          </a:xfrm>
        </p:grpSpPr>
        <p:sp>
          <p:nvSpPr>
            <p:cNvPr id="32" name="Freeform 32"/>
            <p:cNvSpPr/>
            <p:nvPr/>
          </p:nvSpPr>
          <p:spPr>
            <a:xfrm>
              <a:off x="0" y="0"/>
              <a:ext cx="9902190" cy="1306830"/>
            </a:xfrm>
            <a:custGeom>
              <a:avLst/>
              <a:gdLst/>
              <a:ahLst/>
              <a:cxnLst/>
              <a:rect l="l" t="t" r="r" b="b"/>
              <a:pathLst>
                <a:path w="9902190" h="1306830">
                  <a:moveTo>
                    <a:pt x="0" y="0"/>
                  </a:moveTo>
                  <a:lnTo>
                    <a:pt x="9902190" y="0"/>
                  </a:lnTo>
                  <a:lnTo>
                    <a:pt x="9902190" y="1306830"/>
                  </a:lnTo>
                  <a:lnTo>
                    <a:pt x="0" y="1306830"/>
                  </a:lnTo>
                  <a:close/>
                </a:path>
              </a:pathLst>
            </a:custGeom>
            <a:solidFill>
              <a:srgbClr val="F5EFE4"/>
            </a:solidFill>
            <a:ln w="20003" cap="sq">
              <a:solidFill>
                <a:srgbClr val="000000"/>
              </a:solidFill>
              <a:prstDash val="solid"/>
              <a:miter/>
            </a:ln>
          </p:spPr>
          <p:txBody>
            <a:bodyPr/>
            <a:lstStyle/>
            <a:p>
              <a:endParaRPr lang="en-IN"/>
            </a:p>
          </p:txBody>
        </p:sp>
      </p:grpSp>
      <p:grpSp>
        <p:nvGrpSpPr>
          <p:cNvPr id="33" name="Group 33"/>
          <p:cNvGrpSpPr/>
          <p:nvPr/>
        </p:nvGrpSpPr>
        <p:grpSpPr>
          <a:xfrm>
            <a:off x="1206466" y="5841937"/>
            <a:ext cx="7850750" cy="439521"/>
            <a:chOff x="0" y="0"/>
            <a:chExt cx="9473184" cy="530352"/>
          </a:xfrm>
        </p:grpSpPr>
        <p:sp>
          <p:nvSpPr>
            <p:cNvPr id="34" name="Freeform 34"/>
            <p:cNvSpPr/>
            <p:nvPr/>
          </p:nvSpPr>
          <p:spPr>
            <a:xfrm>
              <a:off x="0" y="0"/>
              <a:ext cx="9473184" cy="530352"/>
            </a:xfrm>
            <a:custGeom>
              <a:avLst/>
              <a:gdLst/>
              <a:ahLst/>
              <a:cxnLst/>
              <a:rect l="l" t="t" r="r" b="b"/>
              <a:pathLst>
                <a:path w="9473184" h="530352">
                  <a:moveTo>
                    <a:pt x="0" y="0"/>
                  </a:moveTo>
                  <a:lnTo>
                    <a:pt x="9473184" y="0"/>
                  </a:lnTo>
                  <a:lnTo>
                    <a:pt x="9473184" y="530352"/>
                  </a:lnTo>
                  <a:lnTo>
                    <a:pt x="0" y="530352"/>
                  </a:lnTo>
                  <a:close/>
                </a:path>
              </a:pathLst>
            </a:custGeom>
            <a:blipFill>
              <a:blip r:embed="rId2">
                <a:alphaModFix amt="0"/>
              </a:blip>
              <a:stretch>
                <a:fillRect t="-298043" b="-298043"/>
              </a:stretch>
            </a:blipFill>
          </p:spPr>
          <p:txBody>
            <a:bodyPr/>
            <a:lstStyle/>
            <a:p>
              <a:endParaRPr lang="en-IN"/>
            </a:p>
          </p:txBody>
        </p:sp>
        <p:sp>
          <p:nvSpPr>
            <p:cNvPr id="35" name="TextBox 35"/>
            <p:cNvSpPr txBox="1"/>
            <p:nvPr/>
          </p:nvSpPr>
          <p:spPr>
            <a:xfrm>
              <a:off x="0" y="-19050"/>
              <a:ext cx="9473184" cy="549402"/>
            </a:xfrm>
            <a:prstGeom prst="rect">
              <a:avLst/>
            </a:prstGeom>
          </p:spPr>
          <p:txBody>
            <a:bodyPr lIns="0" tIns="0" rIns="0" bIns="0" rtlCol="0" anchor="ctr"/>
            <a:lstStyle/>
            <a:p>
              <a:pPr algn="ctr">
                <a:lnSpc>
                  <a:spcPts val="2700"/>
                </a:lnSpc>
              </a:pPr>
              <a:r>
                <a:rPr lang="en-US" sz="2250" b="1">
                  <a:solidFill>
                    <a:srgbClr val="000000"/>
                  </a:solidFill>
                  <a:latin typeface="Times New Roman Bold"/>
                  <a:ea typeface="Times New Roman Bold"/>
                  <a:cs typeface="Times New Roman Bold"/>
                  <a:sym typeface="Times New Roman Bold"/>
                </a:rPr>
                <a:t>4. Rule Optimization and Execution</a:t>
              </a:r>
            </a:p>
          </p:txBody>
        </p:sp>
      </p:grpSp>
      <p:grpSp>
        <p:nvGrpSpPr>
          <p:cNvPr id="36" name="Group 36"/>
          <p:cNvGrpSpPr/>
          <p:nvPr/>
        </p:nvGrpSpPr>
        <p:grpSpPr>
          <a:xfrm>
            <a:off x="1236778" y="6281457"/>
            <a:ext cx="7790126" cy="378897"/>
            <a:chOff x="0" y="0"/>
            <a:chExt cx="9400032" cy="457200"/>
          </a:xfrm>
        </p:grpSpPr>
        <p:sp>
          <p:nvSpPr>
            <p:cNvPr id="37" name="Freeform 37"/>
            <p:cNvSpPr/>
            <p:nvPr/>
          </p:nvSpPr>
          <p:spPr>
            <a:xfrm>
              <a:off x="0" y="0"/>
              <a:ext cx="9400032" cy="457200"/>
            </a:xfrm>
            <a:custGeom>
              <a:avLst/>
              <a:gdLst/>
              <a:ahLst/>
              <a:cxnLst/>
              <a:rect l="l" t="t" r="r" b="b"/>
              <a:pathLst>
                <a:path w="9400032" h="457200">
                  <a:moveTo>
                    <a:pt x="0" y="0"/>
                  </a:moveTo>
                  <a:lnTo>
                    <a:pt x="9400032" y="0"/>
                  </a:lnTo>
                  <a:lnTo>
                    <a:pt x="9400032" y="457200"/>
                  </a:lnTo>
                  <a:lnTo>
                    <a:pt x="0" y="457200"/>
                  </a:lnTo>
                  <a:close/>
                </a:path>
              </a:pathLst>
            </a:custGeom>
            <a:blipFill>
              <a:blip r:embed="rId2">
                <a:alphaModFix amt="0"/>
              </a:blip>
              <a:stretch>
                <a:fillRect t="-350612" b="-350612"/>
              </a:stretch>
            </a:blipFill>
          </p:spPr>
          <p:txBody>
            <a:bodyPr/>
            <a:lstStyle/>
            <a:p>
              <a:endParaRPr lang="en-IN"/>
            </a:p>
          </p:txBody>
        </p:sp>
        <p:sp>
          <p:nvSpPr>
            <p:cNvPr id="38" name="TextBox 38"/>
            <p:cNvSpPr txBox="1"/>
            <p:nvPr/>
          </p:nvSpPr>
          <p:spPr>
            <a:xfrm>
              <a:off x="0" y="-19050"/>
              <a:ext cx="9400032" cy="476250"/>
            </a:xfrm>
            <a:prstGeom prst="rect">
              <a:avLst/>
            </a:prstGeom>
          </p:spPr>
          <p:txBody>
            <a:bodyPr lIns="0" tIns="0" rIns="0" bIns="0" rtlCol="0" anchor="ctr"/>
            <a:lstStyle/>
            <a:p>
              <a:pPr algn="ctr">
                <a:lnSpc>
                  <a:spcPts val="2304"/>
                </a:lnSpc>
              </a:pPr>
              <a:r>
                <a:rPr lang="en-US" sz="1920">
                  <a:solidFill>
                    <a:srgbClr val="000000"/>
                  </a:solidFill>
                  <a:latin typeface="Times New Roman"/>
                  <a:ea typeface="Times New Roman"/>
                  <a:cs typeface="Times New Roman"/>
                  <a:sym typeface="Times New Roman"/>
                </a:rPr>
                <a:t>Match / Count / Sequence</a:t>
              </a:r>
            </a:p>
          </p:txBody>
        </p:sp>
      </p:grpSp>
      <p:grpSp>
        <p:nvGrpSpPr>
          <p:cNvPr id="39" name="Group 39"/>
          <p:cNvGrpSpPr/>
          <p:nvPr/>
        </p:nvGrpSpPr>
        <p:grpSpPr>
          <a:xfrm>
            <a:off x="9667556" y="4103114"/>
            <a:ext cx="6236016" cy="2735006"/>
            <a:chOff x="0" y="0"/>
            <a:chExt cx="7524750" cy="3300222"/>
          </a:xfrm>
        </p:grpSpPr>
        <p:sp>
          <p:nvSpPr>
            <p:cNvPr id="40" name="Freeform 40"/>
            <p:cNvSpPr/>
            <p:nvPr/>
          </p:nvSpPr>
          <p:spPr>
            <a:xfrm>
              <a:off x="0" y="0"/>
              <a:ext cx="7524750" cy="3300222"/>
            </a:xfrm>
            <a:custGeom>
              <a:avLst/>
              <a:gdLst/>
              <a:ahLst/>
              <a:cxnLst/>
              <a:rect l="l" t="t" r="r" b="b"/>
              <a:pathLst>
                <a:path w="7524750" h="3300222">
                  <a:moveTo>
                    <a:pt x="0" y="0"/>
                  </a:moveTo>
                  <a:lnTo>
                    <a:pt x="7524750" y="0"/>
                  </a:lnTo>
                  <a:lnTo>
                    <a:pt x="7524750" y="3300222"/>
                  </a:lnTo>
                  <a:lnTo>
                    <a:pt x="0" y="3300222"/>
                  </a:lnTo>
                  <a:close/>
                </a:path>
              </a:pathLst>
            </a:custGeom>
            <a:solidFill>
              <a:srgbClr val="F5EFE4"/>
            </a:solidFill>
            <a:ln w="20003" cap="sq">
              <a:solidFill>
                <a:srgbClr val="000000"/>
              </a:solidFill>
              <a:prstDash val="solid"/>
              <a:miter/>
            </a:ln>
          </p:spPr>
          <p:txBody>
            <a:bodyPr/>
            <a:lstStyle/>
            <a:p>
              <a:endParaRPr lang="en-IN"/>
            </a:p>
          </p:txBody>
        </p:sp>
      </p:grpSp>
      <p:grpSp>
        <p:nvGrpSpPr>
          <p:cNvPr id="41" name="Group 41"/>
          <p:cNvGrpSpPr/>
          <p:nvPr/>
        </p:nvGrpSpPr>
        <p:grpSpPr>
          <a:xfrm>
            <a:off x="9875634" y="5068986"/>
            <a:ext cx="5819861" cy="682015"/>
            <a:chOff x="0" y="0"/>
            <a:chExt cx="7022592" cy="822960"/>
          </a:xfrm>
        </p:grpSpPr>
        <p:sp>
          <p:nvSpPr>
            <p:cNvPr id="42" name="Freeform 42"/>
            <p:cNvSpPr/>
            <p:nvPr/>
          </p:nvSpPr>
          <p:spPr>
            <a:xfrm>
              <a:off x="0" y="0"/>
              <a:ext cx="7022592" cy="822960"/>
            </a:xfrm>
            <a:custGeom>
              <a:avLst/>
              <a:gdLst/>
              <a:ahLst/>
              <a:cxnLst/>
              <a:rect l="l" t="t" r="r" b="b"/>
              <a:pathLst>
                <a:path w="7022592" h="822960">
                  <a:moveTo>
                    <a:pt x="0" y="0"/>
                  </a:moveTo>
                  <a:lnTo>
                    <a:pt x="7022592" y="0"/>
                  </a:lnTo>
                  <a:lnTo>
                    <a:pt x="7022592" y="822960"/>
                  </a:lnTo>
                  <a:lnTo>
                    <a:pt x="0" y="822960"/>
                  </a:lnTo>
                  <a:close/>
                </a:path>
              </a:pathLst>
            </a:custGeom>
            <a:blipFill>
              <a:blip r:embed="rId2">
                <a:alphaModFix amt="0"/>
              </a:blip>
              <a:stretch>
                <a:fillRect t="-116272" b="-116272"/>
              </a:stretch>
            </a:blipFill>
          </p:spPr>
          <p:txBody>
            <a:bodyPr/>
            <a:lstStyle/>
            <a:p>
              <a:endParaRPr lang="en-IN"/>
            </a:p>
          </p:txBody>
        </p:sp>
        <p:sp>
          <p:nvSpPr>
            <p:cNvPr id="43" name="TextBox 43"/>
            <p:cNvSpPr txBox="1"/>
            <p:nvPr/>
          </p:nvSpPr>
          <p:spPr>
            <a:xfrm>
              <a:off x="0" y="-9525"/>
              <a:ext cx="7022592" cy="832485"/>
            </a:xfrm>
            <a:prstGeom prst="rect">
              <a:avLst/>
            </a:prstGeom>
          </p:spPr>
          <p:txBody>
            <a:bodyPr lIns="0" tIns="0" rIns="0" bIns="0" rtlCol="0" anchor="ctr"/>
            <a:lstStyle/>
            <a:p>
              <a:pPr algn="ctr">
                <a:lnSpc>
                  <a:spcPts val="2844"/>
                </a:lnSpc>
              </a:pPr>
              <a:r>
                <a:rPr lang="en-US" sz="2370" b="1">
                  <a:solidFill>
                    <a:srgbClr val="000000"/>
                  </a:solidFill>
                  <a:latin typeface="Times New Roman Bold"/>
                  <a:ea typeface="Times New Roman Bold"/>
                  <a:cs typeface="Times New Roman Bold"/>
                  <a:sym typeface="Times New Roman Bold"/>
                </a:rPr>
                <a:t>5.Incident Correlation and Risk Scoring</a:t>
              </a:r>
            </a:p>
          </p:txBody>
        </p:sp>
      </p:grpSp>
      <p:sp>
        <p:nvSpPr>
          <p:cNvPr id="44" name="AutoShape 44"/>
          <p:cNvSpPr/>
          <p:nvPr/>
        </p:nvSpPr>
        <p:spPr>
          <a:xfrm>
            <a:off x="5121322" y="6816544"/>
            <a:ext cx="21048" cy="324169"/>
          </a:xfrm>
          <a:prstGeom prst="line">
            <a:avLst/>
          </a:prstGeom>
          <a:ln w="9525" cap="rnd">
            <a:solidFill>
              <a:srgbClr val="000000"/>
            </a:solidFill>
            <a:prstDash val="solid"/>
            <a:headEnd type="none" w="sm" len="sm"/>
            <a:tailEnd type="none" w="sm" len="sm"/>
          </a:ln>
        </p:spPr>
        <p:txBody>
          <a:bodyPr/>
          <a:lstStyle/>
          <a:p>
            <a:endParaRPr lang="en-IN"/>
          </a:p>
        </p:txBody>
      </p:sp>
      <p:sp>
        <p:nvSpPr>
          <p:cNvPr id="45" name="AutoShape 45"/>
          <p:cNvSpPr/>
          <p:nvPr/>
        </p:nvSpPr>
        <p:spPr>
          <a:xfrm>
            <a:off x="12775045" y="6816544"/>
            <a:ext cx="21048" cy="324169"/>
          </a:xfrm>
          <a:prstGeom prst="line">
            <a:avLst/>
          </a:prstGeom>
          <a:ln w="9525" cap="rnd">
            <a:solidFill>
              <a:srgbClr val="000000"/>
            </a:solidFill>
            <a:prstDash val="solid"/>
            <a:headEnd type="none" w="sm" len="sm"/>
            <a:tailEnd type="none" w="sm" len="sm"/>
          </a:ln>
        </p:spPr>
        <p:txBody>
          <a:bodyPr/>
          <a:lstStyle/>
          <a:p>
            <a:endParaRPr lang="en-IN"/>
          </a:p>
        </p:txBody>
      </p:sp>
      <p:sp>
        <p:nvSpPr>
          <p:cNvPr id="46" name="AutoShape 46"/>
          <p:cNvSpPr/>
          <p:nvPr/>
        </p:nvSpPr>
        <p:spPr>
          <a:xfrm>
            <a:off x="5121320" y="7119672"/>
            <a:ext cx="7674776" cy="21030"/>
          </a:xfrm>
          <a:prstGeom prst="line">
            <a:avLst/>
          </a:prstGeom>
          <a:ln w="9525" cap="rnd">
            <a:solidFill>
              <a:srgbClr val="000000"/>
            </a:solidFill>
            <a:prstDash val="solid"/>
            <a:headEnd type="none" w="sm" len="sm"/>
            <a:tailEnd type="none" w="sm" len="sm"/>
          </a:ln>
        </p:spPr>
        <p:txBody>
          <a:bodyPr/>
          <a:lstStyle/>
          <a:p>
            <a:endParaRPr lang="en-IN"/>
          </a:p>
        </p:txBody>
      </p:sp>
      <p:sp>
        <p:nvSpPr>
          <p:cNvPr id="47" name="AutoShape 47"/>
          <p:cNvSpPr/>
          <p:nvPr/>
        </p:nvSpPr>
        <p:spPr>
          <a:xfrm>
            <a:off x="8948174" y="7119664"/>
            <a:ext cx="21047" cy="354476"/>
          </a:xfrm>
          <a:prstGeom prst="line">
            <a:avLst/>
          </a:prstGeom>
          <a:ln w="9525" cap="rnd">
            <a:solidFill>
              <a:srgbClr val="000000"/>
            </a:solidFill>
            <a:prstDash val="solid"/>
            <a:headEnd type="none" w="sm" len="sm"/>
            <a:tailEnd type="triangle" w="lg" len="med"/>
          </a:ln>
        </p:spPr>
        <p:txBody>
          <a:bodyPr/>
          <a:lstStyle/>
          <a:p>
            <a:endParaRPr lang="en-IN"/>
          </a:p>
        </p:txBody>
      </p:sp>
      <p:grpSp>
        <p:nvGrpSpPr>
          <p:cNvPr id="48" name="Group 48"/>
          <p:cNvGrpSpPr/>
          <p:nvPr/>
        </p:nvGrpSpPr>
        <p:grpSpPr>
          <a:xfrm>
            <a:off x="2631119" y="7495502"/>
            <a:ext cx="13586622" cy="1007235"/>
            <a:chOff x="0" y="0"/>
            <a:chExt cx="16394430" cy="1215390"/>
          </a:xfrm>
        </p:grpSpPr>
        <p:sp>
          <p:nvSpPr>
            <p:cNvPr id="49" name="Freeform 49"/>
            <p:cNvSpPr/>
            <p:nvPr/>
          </p:nvSpPr>
          <p:spPr>
            <a:xfrm>
              <a:off x="0" y="0"/>
              <a:ext cx="16394430" cy="1215390"/>
            </a:xfrm>
            <a:custGeom>
              <a:avLst/>
              <a:gdLst/>
              <a:ahLst/>
              <a:cxnLst/>
              <a:rect l="l" t="t" r="r" b="b"/>
              <a:pathLst>
                <a:path w="16394430" h="1215390">
                  <a:moveTo>
                    <a:pt x="0" y="0"/>
                  </a:moveTo>
                  <a:lnTo>
                    <a:pt x="16394430" y="0"/>
                  </a:lnTo>
                  <a:lnTo>
                    <a:pt x="16394430" y="1215390"/>
                  </a:lnTo>
                  <a:lnTo>
                    <a:pt x="0" y="1215390"/>
                  </a:lnTo>
                  <a:close/>
                </a:path>
              </a:pathLst>
            </a:custGeom>
            <a:solidFill>
              <a:srgbClr val="F5EFE4"/>
            </a:solidFill>
            <a:ln w="20003" cap="sq">
              <a:solidFill>
                <a:srgbClr val="000000"/>
              </a:solidFill>
              <a:prstDash val="solid"/>
              <a:miter/>
            </a:ln>
          </p:spPr>
          <p:txBody>
            <a:bodyPr/>
            <a:lstStyle/>
            <a:p>
              <a:endParaRPr lang="en-IN"/>
            </a:p>
          </p:txBody>
        </p:sp>
      </p:grpSp>
      <p:grpSp>
        <p:nvGrpSpPr>
          <p:cNvPr id="50" name="Group 50"/>
          <p:cNvGrpSpPr/>
          <p:nvPr/>
        </p:nvGrpSpPr>
        <p:grpSpPr>
          <a:xfrm>
            <a:off x="2676587" y="7632326"/>
            <a:ext cx="13231090" cy="409209"/>
            <a:chOff x="0" y="0"/>
            <a:chExt cx="15965424" cy="493776"/>
          </a:xfrm>
        </p:grpSpPr>
        <p:sp>
          <p:nvSpPr>
            <p:cNvPr id="51" name="Freeform 51"/>
            <p:cNvSpPr/>
            <p:nvPr/>
          </p:nvSpPr>
          <p:spPr>
            <a:xfrm>
              <a:off x="0" y="0"/>
              <a:ext cx="15965424" cy="493776"/>
            </a:xfrm>
            <a:custGeom>
              <a:avLst/>
              <a:gdLst/>
              <a:ahLst/>
              <a:cxnLst/>
              <a:rect l="l" t="t" r="r" b="b"/>
              <a:pathLst>
                <a:path w="15965424" h="493776">
                  <a:moveTo>
                    <a:pt x="0" y="0"/>
                  </a:moveTo>
                  <a:lnTo>
                    <a:pt x="15965424" y="0"/>
                  </a:lnTo>
                  <a:lnTo>
                    <a:pt x="15965424" y="493776"/>
                  </a:lnTo>
                  <a:lnTo>
                    <a:pt x="0" y="493776"/>
                  </a:lnTo>
                  <a:close/>
                </a:path>
              </a:pathLst>
            </a:custGeom>
            <a:blipFill>
              <a:blip r:embed="rId2">
                <a:alphaModFix amt="0"/>
              </a:blip>
              <a:stretch>
                <a:fillRect t="-580016" b="-580016"/>
              </a:stretch>
            </a:blipFill>
          </p:spPr>
          <p:txBody>
            <a:bodyPr/>
            <a:lstStyle/>
            <a:p>
              <a:endParaRPr lang="en-IN"/>
            </a:p>
          </p:txBody>
        </p:sp>
        <p:sp>
          <p:nvSpPr>
            <p:cNvPr id="52" name="TextBox 52"/>
            <p:cNvSpPr txBox="1"/>
            <p:nvPr/>
          </p:nvSpPr>
          <p:spPr>
            <a:xfrm>
              <a:off x="0" y="-19050"/>
              <a:ext cx="15965424" cy="512826"/>
            </a:xfrm>
            <a:prstGeom prst="rect">
              <a:avLst/>
            </a:prstGeom>
          </p:spPr>
          <p:txBody>
            <a:bodyPr lIns="0" tIns="0" rIns="0" bIns="0" rtlCol="0" anchor="ctr"/>
            <a:lstStyle/>
            <a:p>
              <a:pPr algn="ctr">
                <a:lnSpc>
                  <a:spcPts val="2700"/>
                </a:lnSpc>
              </a:pPr>
              <a:r>
                <a:rPr lang="en-US" sz="2250" b="1">
                  <a:solidFill>
                    <a:srgbClr val="000000"/>
                  </a:solidFill>
                  <a:latin typeface="Times New Roman Bold"/>
                  <a:ea typeface="Times New Roman Bold"/>
                  <a:cs typeface="Times New Roman Bold"/>
                  <a:sym typeface="Times New Roman Bold"/>
                </a:rPr>
                <a:t>Final Output — JSON Object</a:t>
              </a:r>
            </a:p>
          </p:txBody>
        </p:sp>
      </p:grpSp>
      <p:grpSp>
        <p:nvGrpSpPr>
          <p:cNvPr id="53" name="Group 53"/>
          <p:cNvGrpSpPr/>
          <p:nvPr/>
        </p:nvGrpSpPr>
        <p:grpSpPr>
          <a:xfrm>
            <a:off x="2706899" y="8056690"/>
            <a:ext cx="13170466" cy="363741"/>
            <a:chOff x="0" y="0"/>
            <a:chExt cx="15892272" cy="438912"/>
          </a:xfrm>
        </p:grpSpPr>
        <p:sp>
          <p:nvSpPr>
            <p:cNvPr id="54" name="Freeform 54"/>
            <p:cNvSpPr/>
            <p:nvPr/>
          </p:nvSpPr>
          <p:spPr>
            <a:xfrm>
              <a:off x="0" y="0"/>
              <a:ext cx="15892272" cy="438912"/>
            </a:xfrm>
            <a:custGeom>
              <a:avLst/>
              <a:gdLst/>
              <a:ahLst/>
              <a:cxnLst/>
              <a:rect l="l" t="t" r="r" b="b"/>
              <a:pathLst>
                <a:path w="15892272" h="438912">
                  <a:moveTo>
                    <a:pt x="0" y="0"/>
                  </a:moveTo>
                  <a:lnTo>
                    <a:pt x="15892272" y="0"/>
                  </a:lnTo>
                  <a:lnTo>
                    <a:pt x="15892272" y="438912"/>
                  </a:lnTo>
                  <a:lnTo>
                    <a:pt x="0" y="438912"/>
                  </a:lnTo>
                  <a:close/>
                </a:path>
              </a:pathLst>
            </a:custGeom>
            <a:blipFill>
              <a:blip r:embed="rId2">
                <a:alphaModFix amt="0"/>
              </a:blip>
              <a:stretch>
                <a:fillRect t="-655520" b="-655520"/>
              </a:stretch>
            </a:blipFill>
          </p:spPr>
          <p:txBody>
            <a:bodyPr/>
            <a:lstStyle/>
            <a:p>
              <a:endParaRPr lang="en-IN"/>
            </a:p>
          </p:txBody>
        </p:sp>
        <p:sp>
          <p:nvSpPr>
            <p:cNvPr id="55" name="TextBox 55"/>
            <p:cNvSpPr txBox="1"/>
            <p:nvPr/>
          </p:nvSpPr>
          <p:spPr>
            <a:xfrm>
              <a:off x="0" y="-19050"/>
              <a:ext cx="15892272" cy="457962"/>
            </a:xfrm>
            <a:prstGeom prst="rect">
              <a:avLst/>
            </a:prstGeom>
          </p:spPr>
          <p:txBody>
            <a:bodyPr lIns="0" tIns="0" rIns="0" bIns="0" rtlCol="0" anchor="ctr"/>
            <a:lstStyle/>
            <a:p>
              <a:pPr algn="ctr">
                <a:lnSpc>
                  <a:spcPts val="2232"/>
                </a:lnSpc>
              </a:pPr>
              <a:r>
                <a:rPr lang="en-US" sz="1860">
                  <a:solidFill>
                    <a:srgbClr val="000000"/>
                  </a:solidFill>
                  <a:latin typeface="Times New Roman"/>
                  <a:ea typeface="Times New Roman"/>
                  <a:cs typeface="Times New Roman"/>
                  <a:sym typeface="Times New Roman"/>
                </a:rPr>
                <a:t>Matched Rules | Severity | Risk Score | Incident Details</a:t>
              </a:r>
            </a:p>
          </p:txBody>
        </p:sp>
      </p:grpSp>
      <p:grpSp>
        <p:nvGrpSpPr>
          <p:cNvPr id="56" name="Group 56"/>
          <p:cNvGrpSpPr/>
          <p:nvPr/>
        </p:nvGrpSpPr>
        <p:grpSpPr>
          <a:xfrm>
            <a:off x="987552" y="8805672"/>
            <a:ext cx="15841980" cy="960120"/>
            <a:chOff x="0" y="0"/>
            <a:chExt cx="21122640" cy="1280160"/>
          </a:xfrm>
        </p:grpSpPr>
        <p:sp>
          <p:nvSpPr>
            <p:cNvPr id="57" name="Freeform 57"/>
            <p:cNvSpPr/>
            <p:nvPr/>
          </p:nvSpPr>
          <p:spPr>
            <a:xfrm>
              <a:off x="0" y="0"/>
              <a:ext cx="21122639" cy="1280160"/>
            </a:xfrm>
            <a:custGeom>
              <a:avLst/>
              <a:gdLst/>
              <a:ahLst/>
              <a:cxnLst/>
              <a:rect l="l" t="t" r="r" b="b"/>
              <a:pathLst>
                <a:path w="21122639" h="1280160">
                  <a:moveTo>
                    <a:pt x="0" y="0"/>
                  </a:moveTo>
                  <a:lnTo>
                    <a:pt x="21122639" y="0"/>
                  </a:lnTo>
                  <a:lnTo>
                    <a:pt x="21122639" y="1280160"/>
                  </a:lnTo>
                  <a:lnTo>
                    <a:pt x="0" y="1280160"/>
                  </a:lnTo>
                  <a:close/>
                </a:path>
              </a:pathLst>
            </a:custGeom>
            <a:blipFill>
              <a:blip r:embed="rId2">
                <a:alphaModFix amt="0"/>
              </a:blip>
              <a:stretch>
                <a:fillRect t="-271503" b="-271503"/>
              </a:stretch>
            </a:blipFill>
          </p:spPr>
          <p:txBody>
            <a:bodyPr/>
            <a:lstStyle/>
            <a:p>
              <a:endParaRPr lang="en-IN"/>
            </a:p>
          </p:txBody>
        </p:sp>
        <p:sp>
          <p:nvSpPr>
            <p:cNvPr id="58" name="TextBox 58"/>
            <p:cNvSpPr txBox="1"/>
            <p:nvPr/>
          </p:nvSpPr>
          <p:spPr>
            <a:xfrm>
              <a:off x="0" y="-19050"/>
              <a:ext cx="21122640" cy="1299210"/>
            </a:xfrm>
            <a:prstGeom prst="rect">
              <a:avLst/>
            </a:prstGeom>
          </p:spPr>
          <p:txBody>
            <a:bodyPr lIns="0" tIns="0" rIns="0" bIns="0" rtlCol="0" anchor="ctr"/>
            <a:lstStyle/>
            <a:p>
              <a:pPr algn="l">
                <a:lnSpc>
                  <a:spcPts val="2195"/>
                </a:lnSpc>
              </a:pPr>
              <a:r>
                <a:rPr lang="en-US" sz="1829">
                  <a:solidFill>
                    <a:srgbClr val="000000"/>
                  </a:solidFill>
                  <a:latin typeface="Times New Roman"/>
                  <a:ea typeface="Times New Roman"/>
                  <a:cs typeface="Times New Roman"/>
                  <a:sym typeface="Times New Roman"/>
                </a:rPr>
                <a:t>Security events are collected and normalized before being analyzed by the rule engine and AI engine. The resulting alerts are correlated, assigned risk scores, stored, and displayed to security analysts. The rule engine uses compiled predicates to evaluate event conditions, avoiding repeated parsing of each rule for every event.</a:t>
              </a:r>
            </a:p>
          </p:txBody>
        </p:sp>
      </p:grpSp>
      <p:sp>
        <p:nvSpPr>
          <p:cNvPr id="59" name="TextBox 59"/>
          <p:cNvSpPr txBox="1"/>
          <p:nvPr/>
        </p:nvSpPr>
        <p:spPr>
          <a:xfrm>
            <a:off x="16619220" y="9811512"/>
            <a:ext cx="1017118" cy="358559"/>
          </a:xfrm>
          <a:prstGeom prst="rect">
            <a:avLst/>
          </a:prstGeom>
        </p:spPr>
        <p:txBody>
          <a:bodyPr lIns="0" tIns="0" rIns="0" bIns="0" rtlCol="0" anchor="t">
            <a:spAutoFit/>
          </a:bodyPr>
          <a:lstStyle/>
          <a:p>
            <a:pPr algn="l">
              <a:lnSpc>
                <a:spcPts val="179"/>
              </a:lnSpc>
            </a:pPr>
            <a:r>
              <a:rPr lang="en-US" sz="150">
                <a:solidFill>
                  <a:srgbClr val="F5EFE4"/>
                </a:solidFill>
                <a:latin typeface="Times New Roman"/>
                <a:ea typeface="Times New Roman"/>
                <a:cs typeface="Times New Roman"/>
                <a:sym typeface="Times New Roman"/>
              </a:rPr>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grpSp>
        <p:nvGrpSpPr>
          <p:cNvPr id="2" name="Group 2"/>
          <p:cNvGrpSpPr/>
          <p:nvPr/>
        </p:nvGrpSpPr>
        <p:grpSpPr>
          <a:xfrm>
            <a:off x="4763282" y="1922180"/>
            <a:ext cx="8086853" cy="754248"/>
            <a:chOff x="0" y="0"/>
            <a:chExt cx="12575210" cy="1172870"/>
          </a:xfrm>
        </p:grpSpPr>
        <p:sp>
          <p:nvSpPr>
            <p:cNvPr id="3" name="Freeform 3"/>
            <p:cNvSpPr/>
            <p:nvPr/>
          </p:nvSpPr>
          <p:spPr>
            <a:xfrm>
              <a:off x="0" y="0"/>
              <a:ext cx="12575160" cy="1172845"/>
            </a:xfrm>
            <a:custGeom>
              <a:avLst/>
              <a:gdLst/>
              <a:ahLst/>
              <a:cxnLst/>
              <a:rect l="l" t="t" r="r" b="b"/>
              <a:pathLst>
                <a:path w="12575160" h="1172845">
                  <a:moveTo>
                    <a:pt x="0" y="195453"/>
                  </a:moveTo>
                  <a:cubicBezTo>
                    <a:pt x="0" y="87503"/>
                    <a:pt x="87503" y="0"/>
                    <a:pt x="195453" y="0"/>
                  </a:cubicBezTo>
                  <a:lnTo>
                    <a:pt x="12379706" y="0"/>
                  </a:lnTo>
                  <a:cubicBezTo>
                    <a:pt x="12487656" y="0"/>
                    <a:pt x="12575160" y="87503"/>
                    <a:pt x="12575160" y="195453"/>
                  </a:cubicBezTo>
                  <a:lnTo>
                    <a:pt x="12575160" y="977392"/>
                  </a:lnTo>
                  <a:cubicBezTo>
                    <a:pt x="12575160" y="1085342"/>
                    <a:pt x="12487656" y="1172845"/>
                    <a:pt x="12379706" y="1172845"/>
                  </a:cubicBezTo>
                  <a:lnTo>
                    <a:pt x="195453" y="1172845"/>
                  </a:lnTo>
                  <a:cubicBezTo>
                    <a:pt x="87503" y="1172845"/>
                    <a:pt x="0" y="1085342"/>
                    <a:pt x="0" y="977392"/>
                  </a:cubicBezTo>
                  <a:close/>
                </a:path>
              </a:pathLst>
            </a:custGeom>
            <a:solidFill>
              <a:srgbClr val="F8F4ED"/>
            </a:solidFill>
            <a:ln w="28597" cap="sq">
              <a:solidFill>
                <a:srgbClr val="222222"/>
              </a:solidFill>
              <a:prstDash val="solid"/>
              <a:miter/>
            </a:ln>
          </p:spPr>
          <p:txBody>
            <a:bodyPr/>
            <a:lstStyle/>
            <a:p>
              <a:endParaRPr lang="en-IN"/>
            </a:p>
          </p:txBody>
        </p:sp>
        <p:sp>
          <p:nvSpPr>
            <p:cNvPr id="4" name="TextBox 4"/>
            <p:cNvSpPr txBox="1"/>
            <p:nvPr/>
          </p:nvSpPr>
          <p:spPr>
            <a:xfrm>
              <a:off x="0" y="-9525"/>
              <a:ext cx="12575210" cy="1182395"/>
            </a:xfrm>
            <a:prstGeom prst="rect">
              <a:avLst/>
            </a:prstGeom>
          </p:spPr>
          <p:txBody>
            <a:bodyPr lIns="50800" tIns="50800" rIns="50800" bIns="50800" rtlCol="0" anchor="ctr"/>
            <a:lstStyle/>
            <a:p>
              <a:pPr algn="ctr">
                <a:lnSpc>
                  <a:spcPts val="2882"/>
                </a:lnSpc>
              </a:pPr>
              <a:r>
                <a:rPr lang="en-US" sz="2401" b="1" dirty="0">
                  <a:solidFill>
                    <a:srgbClr val="111111"/>
                  </a:solidFill>
                  <a:latin typeface="Times New Roman Bold"/>
                  <a:ea typeface="Times New Roman Bold"/>
                  <a:cs typeface="Times New Roman Bold"/>
                  <a:sym typeface="Times New Roman Bold"/>
                </a:rPr>
                <a:t>Windows / Linux / Application Logs</a:t>
              </a:r>
            </a:p>
          </p:txBody>
        </p:sp>
      </p:grpSp>
      <p:grpSp>
        <p:nvGrpSpPr>
          <p:cNvPr id="5" name="Group 5"/>
          <p:cNvGrpSpPr/>
          <p:nvPr/>
        </p:nvGrpSpPr>
        <p:grpSpPr>
          <a:xfrm>
            <a:off x="4763282" y="3099166"/>
            <a:ext cx="8086853" cy="754248"/>
            <a:chOff x="0" y="0"/>
            <a:chExt cx="12575210" cy="1172870"/>
          </a:xfrm>
        </p:grpSpPr>
        <p:sp>
          <p:nvSpPr>
            <p:cNvPr id="6" name="Freeform 6"/>
            <p:cNvSpPr/>
            <p:nvPr/>
          </p:nvSpPr>
          <p:spPr>
            <a:xfrm>
              <a:off x="0" y="0"/>
              <a:ext cx="12575160" cy="1172845"/>
            </a:xfrm>
            <a:custGeom>
              <a:avLst/>
              <a:gdLst/>
              <a:ahLst/>
              <a:cxnLst/>
              <a:rect l="l" t="t" r="r" b="b"/>
              <a:pathLst>
                <a:path w="12575160" h="1172845">
                  <a:moveTo>
                    <a:pt x="0" y="195453"/>
                  </a:moveTo>
                  <a:cubicBezTo>
                    <a:pt x="0" y="87503"/>
                    <a:pt x="87503" y="0"/>
                    <a:pt x="195453" y="0"/>
                  </a:cubicBezTo>
                  <a:lnTo>
                    <a:pt x="12379706" y="0"/>
                  </a:lnTo>
                  <a:cubicBezTo>
                    <a:pt x="12487656" y="0"/>
                    <a:pt x="12575160" y="87503"/>
                    <a:pt x="12575160" y="195453"/>
                  </a:cubicBezTo>
                  <a:lnTo>
                    <a:pt x="12575160" y="977392"/>
                  </a:lnTo>
                  <a:cubicBezTo>
                    <a:pt x="12575160" y="1085342"/>
                    <a:pt x="12487656" y="1172845"/>
                    <a:pt x="12379706" y="1172845"/>
                  </a:cubicBezTo>
                  <a:lnTo>
                    <a:pt x="195453" y="1172845"/>
                  </a:lnTo>
                  <a:cubicBezTo>
                    <a:pt x="87503" y="1172845"/>
                    <a:pt x="0" y="1085342"/>
                    <a:pt x="0" y="977392"/>
                  </a:cubicBezTo>
                  <a:close/>
                </a:path>
              </a:pathLst>
            </a:custGeom>
            <a:solidFill>
              <a:srgbClr val="F8F4ED"/>
            </a:solidFill>
            <a:ln w="28597" cap="sq">
              <a:solidFill>
                <a:srgbClr val="222222"/>
              </a:solidFill>
              <a:prstDash val="solid"/>
              <a:miter/>
            </a:ln>
          </p:spPr>
          <p:txBody>
            <a:bodyPr/>
            <a:lstStyle/>
            <a:p>
              <a:endParaRPr lang="en-IN"/>
            </a:p>
          </p:txBody>
        </p:sp>
        <p:sp>
          <p:nvSpPr>
            <p:cNvPr id="7" name="TextBox 7"/>
            <p:cNvSpPr txBox="1"/>
            <p:nvPr/>
          </p:nvSpPr>
          <p:spPr>
            <a:xfrm>
              <a:off x="0" y="-9525"/>
              <a:ext cx="12575210" cy="1182395"/>
            </a:xfrm>
            <a:prstGeom prst="rect">
              <a:avLst/>
            </a:prstGeom>
          </p:spPr>
          <p:txBody>
            <a:bodyPr lIns="50800" tIns="50800" rIns="50800" bIns="50800" rtlCol="0" anchor="ctr"/>
            <a:lstStyle/>
            <a:p>
              <a:pPr algn="ctr">
                <a:lnSpc>
                  <a:spcPts val="2882"/>
                </a:lnSpc>
              </a:pPr>
              <a:r>
                <a:rPr lang="en-US" sz="2401">
                  <a:solidFill>
                    <a:srgbClr val="111111"/>
                  </a:solidFill>
                  <a:latin typeface="Times New Roman"/>
                  <a:ea typeface="Times New Roman"/>
                  <a:cs typeface="Times New Roman"/>
                  <a:sym typeface="Times New Roman"/>
                </a:rPr>
                <a:t>Central Log Collector</a:t>
              </a:r>
            </a:p>
          </p:txBody>
        </p:sp>
      </p:grpSp>
      <p:grpSp>
        <p:nvGrpSpPr>
          <p:cNvPr id="8" name="Group 8"/>
          <p:cNvGrpSpPr/>
          <p:nvPr/>
        </p:nvGrpSpPr>
        <p:grpSpPr>
          <a:xfrm>
            <a:off x="4763282" y="4276144"/>
            <a:ext cx="8086853" cy="754248"/>
            <a:chOff x="0" y="0"/>
            <a:chExt cx="12575210" cy="1172870"/>
          </a:xfrm>
        </p:grpSpPr>
        <p:sp>
          <p:nvSpPr>
            <p:cNvPr id="9" name="Freeform 9"/>
            <p:cNvSpPr/>
            <p:nvPr/>
          </p:nvSpPr>
          <p:spPr>
            <a:xfrm>
              <a:off x="0" y="0"/>
              <a:ext cx="12575160" cy="1172845"/>
            </a:xfrm>
            <a:custGeom>
              <a:avLst/>
              <a:gdLst/>
              <a:ahLst/>
              <a:cxnLst/>
              <a:rect l="l" t="t" r="r" b="b"/>
              <a:pathLst>
                <a:path w="12575160" h="1172845">
                  <a:moveTo>
                    <a:pt x="0" y="195453"/>
                  </a:moveTo>
                  <a:cubicBezTo>
                    <a:pt x="0" y="87503"/>
                    <a:pt x="87503" y="0"/>
                    <a:pt x="195453" y="0"/>
                  </a:cubicBezTo>
                  <a:lnTo>
                    <a:pt x="12379706" y="0"/>
                  </a:lnTo>
                  <a:cubicBezTo>
                    <a:pt x="12487656" y="0"/>
                    <a:pt x="12575160" y="87503"/>
                    <a:pt x="12575160" y="195453"/>
                  </a:cubicBezTo>
                  <a:lnTo>
                    <a:pt x="12575160" y="977392"/>
                  </a:lnTo>
                  <a:cubicBezTo>
                    <a:pt x="12575160" y="1085342"/>
                    <a:pt x="12487656" y="1172845"/>
                    <a:pt x="12379706" y="1172845"/>
                  </a:cubicBezTo>
                  <a:lnTo>
                    <a:pt x="195453" y="1172845"/>
                  </a:lnTo>
                  <a:cubicBezTo>
                    <a:pt x="87503" y="1172845"/>
                    <a:pt x="0" y="1085342"/>
                    <a:pt x="0" y="977392"/>
                  </a:cubicBezTo>
                  <a:close/>
                </a:path>
              </a:pathLst>
            </a:custGeom>
            <a:solidFill>
              <a:srgbClr val="F8F4ED"/>
            </a:solidFill>
            <a:ln w="28597" cap="sq">
              <a:solidFill>
                <a:srgbClr val="222222"/>
              </a:solidFill>
              <a:prstDash val="solid"/>
              <a:miter/>
            </a:ln>
          </p:spPr>
          <p:txBody>
            <a:bodyPr/>
            <a:lstStyle/>
            <a:p>
              <a:endParaRPr lang="en-IN"/>
            </a:p>
          </p:txBody>
        </p:sp>
        <p:sp>
          <p:nvSpPr>
            <p:cNvPr id="10" name="TextBox 10"/>
            <p:cNvSpPr txBox="1"/>
            <p:nvPr/>
          </p:nvSpPr>
          <p:spPr>
            <a:xfrm>
              <a:off x="0" y="-9525"/>
              <a:ext cx="12575210" cy="1182395"/>
            </a:xfrm>
            <a:prstGeom prst="rect">
              <a:avLst/>
            </a:prstGeom>
          </p:spPr>
          <p:txBody>
            <a:bodyPr lIns="50800" tIns="50800" rIns="50800" bIns="50800" rtlCol="0" anchor="ctr"/>
            <a:lstStyle/>
            <a:p>
              <a:pPr algn="ctr">
                <a:lnSpc>
                  <a:spcPts val="2882"/>
                </a:lnSpc>
              </a:pPr>
              <a:r>
                <a:rPr lang="en-US" sz="2401">
                  <a:solidFill>
                    <a:srgbClr val="111111"/>
                  </a:solidFill>
                  <a:latin typeface="Times New Roman"/>
                  <a:ea typeface="Times New Roman"/>
                  <a:cs typeface="Times New Roman"/>
                  <a:sym typeface="Times New Roman"/>
                </a:rPr>
                <a:t>Parsing and OCSF Normalization</a:t>
              </a:r>
            </a:p>
          </p:txBody>
        </p:sp>
      </p:grpSp>
      <p:grpSp>
        <p:nvGrpSpPr>
          <p:cNvPr id="11" name="Group 11"/>
          <p:cNvGrpSpPr/>
          <p:nvPr/>
        </p:nvGrpSpPr>
        <p:grpSpPr>
          <a:xfrm>
            <a:off x="4763282" y="5453130"/>
            <a:ext cx="8086853" cy="754248"/>
            <a:chOff x="0" y="0"/>
            <a:chExt cx="12575210" cy="1172870"/>
          </a:xfrm>
        </p:grpSpPr>
        <p:sp>
          <p:nvSpPr>
            <p:cNvPr id="12" name="Freeform 12"/>
            <p:cNvSpPr/>
            <p:nvPr/>
          </p:nvSpPr>
          <p:spPr>
            <a:xfrm>
              <a:off x="0" y="0"/>
              <a:ext cx="12575160" cy="1172845"/>
            </a:xfrm>
            <a:custGeom>
              <a:avLst/>
              <a:gdLst/>
              <a:ahLst/>
              <a:cxnLst/>
              <a:rect l="l" t="t" r="r" b="b"/>
              <a:pathLst>
                <a:path w="12575160" h="1172845">
                  <a:moveTo>
                    <a:pt x="0" y="195453"/>
                  </a:moveTo>
                  <a:cubicBezTo>
                    <a:pt x="0" y="87503"/>
                    <a:pt x="87503" y="0"/>
                    <a:pt x="195453" y="0"/>
                  </a:cubicBezTo>
                  <a:lnTo>
                    <a:pt x="12379706" y="0"/>
                  </a:lnTo>
                  <a:cubicBezTo>
                    <a:pt x="12487656" y="0"/>
                    <a:pt x="12575160" y="87503"/>
                    <a:pt x="12575160" y="195453"/>
                  </a:cubicBezTo>
                  <a:lnTo>
                    <a:pt x="12575160" y="977392"/>
                  </a:lnTo>
                  <a:cubicBezTo>
                    <a:pt x="12575160" y="1085342"/>
                    <a:pt x="12487656" y="1172845"/>
                    <a:pt x="12379706" y="1172845"/>
                  </a:cubicBezTo>
                  <a:lnTo>
                    <a:pt x="195453" y="1172845"/>
                  </a:lnTo>
                  <a:cubicBezTo>
                    <a:pt x="87503" y="1172845"/>
                    <a:pt x="0" y="1085342"/>
                    <a:pt x="0" y="977392"/>
                  </a:cubicBezTo>
                  <a:close/>
                </a:path>
              </a:pathLst>
            </a:custGeom>
            <a:solidFill>
              <a:srgbClr val="F8F4ED"/>
            </a:solidFill>
            <a:ln w="28597" cap="sq">
              <a:solidFill>
                <a:srgbClr val="222222"/>
              </a:solidFill>
              <a:prstDash val="solid"/>
              <a:miter/>
            </a:ln>
          </p:spPr>
          <p:txBody>
            <a:bodyPr/>
            <a:lstStyle/>
            <a:p>
              <a:endParaRPr lang="en-IN"/>
            </a:p>
          </p:txBody>
        </p:sp>
        <p:sp>
          <p:nvSpPr>
            <p:cNvPr id="13" name="TextBox 13"/>
            <p:cNvSpPr txBox="1"/>
            <p:nvPr/>
          </p:nvSpPr>
          <p:spPr>
            <a:xfrm>
              <a:off x="0" y="-9525"/>
              <a:ext cx="12575210" cy="1182395"/>
            </a:xfrm>
            <a:prstGeom prst="rect">
              <a:avLst/>
            </a:prstGeom>
          </p:spPr>
          <p:txBody>
            <a:bodyPr lIns="50800" tIns="50800" rIns="50800" bIns="50800" rtlCol="0" anchor="ctr"/>
            <a:lstStyle/>
            <a:p>
              <a:pPr algn="ctr">
                <a:lnSpc>
                  <a:spcPts val="2882"/>
                </a:lnSpc>
              </a:pPr>
              <a:r>
                <a:rPr lang="en-US" sz="2401">
                  <a:solidFill>
                    <a:srgbClr val="111111"/>
                  </a:solidFill>
                  <a:latin typeface="Times New Roman"/>
                  <a:ea typeface="Times New Roman"/>
                  <a:cs typeface="Times New Roman"/>
                  <a:sym typeface="Times New Roman"/>
                </a:rPr>
                <a:t>Feature Extraction and Enrichment</a:t>
              </a:r>
            </a:p>
          </p:txBody>
        </p:sp>
      </p:grpSp>
      <p:sp>
        <p:nvSpPr>
          <p:cNvPr id="14" name="AutoShape 14"/>
          <p:cNvSpPr/>
          <p:nvPr/>
        </p:nvSpPr>
        <p:spPr>
          <a:xfrm>
            <a:off x="8946177" y="5027110"/>
            <a:ext cx="24519" cy="448235"/>
          </a:xfrm>
          <a:prstGeom prst="line">
            <a:avLst/>
          </a:prstGeom>
          <a:ln w="19050" cap="rnd">
            <a:solidFill>
              <a:srgbClr val="222222"/>
            </a:solidFill>
            <a:prstDash val="solid"/>
            <a:headEnd type="none" w="sm" len="sm"/>
            <a:tailEnd type="none" w="sm" len="sm"/>
          </a:ln>
        </p:spPr>
        <p:txBody>
          <a:bodyPr/>
          <a:lstStyle/>
          <a:p>
            <a:endParaRPr lang="en-IN"/>
          </a:p>
        </p:txBody>
      </p:sp>
      <p:sp>
        <p:nvSpPr>
          <p:cNvPr id="15" name="AutoShape 15"/>
          <p:cNvSpPr/>
          <p:nvPr/>
        </p:nvSpPr>
        <p:spPr>
          <a:xfrm>
            <a:off x="8912147" y="2676949"/>
            <a:ext cx="24519" cy="448235"/>
          </a:xfrm>
          <a:prstGeom prst="line">
            <a:avLst/>
          </a:prstGeom>
          <a:ln w="19050" cap="rnd">
            <a:solidFill>
              <a:srgbClr val="222222"/>
            </a:solidFill>
            <a:prstDash val="solid"/>
            <a:headEnd type="none" w="sm" len="sm"/>
            <a:tailEnd type="none" w="sm" len="sm"/>
          </a:ln>
        </p:spPr>
        <p:txBody>
          <a:bodyPr/>
          <a:lstStyle/>
          <a:p>
            <a:endParaRPr lang="en-IN"/>
          </a:p>
        </p:txBody>
      </p:sp>
      <p:sp>
        <p:nvSpPr>
          <p:cNvPr id="16" name="AutoShape 16"/>
          <p:cNvSpPr/>
          <p:nvPr/>
        </p:nvSpPr>
        <p:spPr>
          <a:xfrm>
            <a:off x="8899888" y="3853935"/>
            <a:ext cx="24519" cy="448235"/>
          </a:xfrm>
          <a:prstGeom prst="line">
            <a:avLst/>
          </a:prstGeom>
          <a:ln w="19050" cap="rnd">
            <a:solidFill>
              <a:srgbClr val="222222"/>
            </a:solidFill>
            <a:prstDash val="solid"/>
            <a:headEnd type="none" w="sm" len="sm"/>
            <a:tailEnd type="none" w="sm" len="sm"/>
          </a:ln>
        </p:spPr>
        <p:txBody>
          <a:bodyPr/>
          <a:lstStyle/>
          <a:p>
            <a:endParaRPr lang="en-IN"/>
          </a:p>
        </p:txBody>
      </p:sp>
      <p:grpSp>
        <p:nvGrpSpPr>
          <p:cNvPr id="17" name="Group 17"/>
          <p:cNvGrpSpPr/>
          <p:nvPr/>
        </p:nvGrpSpPr>
        <p:grpSpPr>
          <a:xfrm>
            <a:off x="2733804" y="6820587"/>
            <a:ext cx="5034872" cy="950741"/>
            <a:chOff x="0" y="0"/>
            <a:chExt cx="7829321" cy="1478420"/>
          </a:xfrm>
        </p:grpSpPr>
        <p:sp>
          <p:nvSpPr>
            <p:cNvPr id="18" name="Freeform 18"/>
            <p:cNvSpPr/>
            <p:nvPr/>
          </p:nvSpPr>
          <p:spPr>
            <a:xfrm>
              <a:off x="0" y="0"/>
              <a:ext cx="7829297" cy="1478407"/>
            </a:xfrm>
            <a:custGeom>
              <a:avLst/>
              <a:gdLst/>
              <a:ahLst/>
              <a:cxnLst/>
              <a:rect l="l" t="t" r="r" b="b"/>
              <a:pathLst>
                <a:path w="7829297" h="1478407">
                  <a:moveTo>
                    <a:pt x="0" y="246380"/>
                  </a:moveTo>
                  <a:cubicBezTo>
                    <a:pt x="0" y="110363"/>
                    <a:pt x="110363" y="0"/>
                    <a:pt x="246380" y="0"/>
                  </a:cubicBezTo>
                  <a:lnTo>
                    <a:pt x="7582916" y="0"/>
                  </a:lnTo>
                  <a:cubicBezTo>
                    <a:pt x="7719060" y="0"/>
                    <a:pt x="7829297" y="110363"/>
                    <a:pt x="7829297" y="246380"/>
                  </a:cubicBezTo>
                  <a:lnTo>
                    <a:pt x="7829297" y="1232027"/>
                  </a:lnTo>
                  <a:cubicBezTo>
                    <a:pt x="7829297" y="1368171"/>
                    <a:pt x="7718933" y="1478407"/>
                    <a:pt x="7582916" y="1478407"/>
                  </a:cubicBezTo>
                  <a:lnTo>
                    <a:pt x="246380" y="1478407"/>
                  </a:lnTo>
                  <a:cubicBezTo>
                    <a:pt x="110363" y="1478407"/>
                    <a:pt x="0" y="1368044"/>
                    <a:pt x="0" y="1232027"/>
                  </a:cubicBezTo>
                  <a:close/>
                </a:path>
              </a:pathLst>
            </a:custGeom>
            <a:solidFill>
              <a:srgbClr val="F8F4ED"/>
            </a:solidFill>
            <a:ln w="38130" cap="sq">
              <a:solidFill>
                <a:srgbClr val="303E80"/>
              </a:solidFill>
              <a:prstDash val="solid"/>
              <a:miter/>
            </a:ln>
          </p:spPr>
          <p:txBody>
            <a:bodyPr/>
            <a:lstStyle/>
            <a:p>
              <a:endParaRPr lang="en-IN"/>
            </a:p>
          </p:txBody>
        </p:sp>
        <p:sp>
          <p:nvSpPr>
            <p:cNvPr id="19" name="TextBox 19"/>
            <p:cNvSpPr txBox="1"/>
            <p:nvPr/>
          </p:nvSpPr>
          <p:spPr>
            <a:xfrm>
              <a:off x="0" y="-19050"/>
              <a:ext cx="7829321" cy="1497470"/>
            </a:xfrm>
            <a:prstGeom prst="rect">
              <a:avLst/>
            </a:prstGeom>
          </p:spPr>
          <p:txBody>
            <a:bodyPr lIns="50800" tIns="50800" rIns="50800" bIns="50800" rtlCol="0" anchor="ctr"/>
            <a:lstStyle/>
            <a:p>
              <a:pPr algn="ctr">
                <a:lnSpc>
                  <a:spcPts val="3242"/>
                </a:lnSpc>
              </a:pPr>
              <a:r>
                <a:rPr lang="en-US" sz="2702" b="1">
                  <a:solidFill>
                    <a:srgbClr val="111111"/>
                  </a:solidFill>
                  <a:latin typeface="Times New Roman Bold"/>
                  <a:ea typeface="Times New Roman Bold"/>
                  <a:cs typeface="Times New Roman Bold"/>
                  <a:sym typeface="Times New Roman Bold"/>
                </a:rPr>
                <a:t>Rule Engine</a:t>
              </a:r>
            </a:p>
          </p:txBody>
        </p:sp>
      </p:grpSp>
      <p:grpSp>
        <p:nvGrpSpPr>
          <p:cNvPr id="20" name="Group 20"/>
          <p:cNvGrpSpPr/>
          <p:nvPr/>
        </p:nvGrpSpPr>
        <p:grpSpPr>
          <a:xfrm>
            <a:off x="9942001" y="6865508"/>
            <a:ext cx="5026697" cy="942565"/>
            <a:chOff x="0" y="0"/>
            <a:chExt cx="7816609" cy="1465707"/>
          </a:xfrm>
        </p:grpSpPr>
        <p:sp>
          <p:nvSpPr>
            <p:cNvPr id="21" name="Freeform 21"/>
            <p:cNvSpPr/>
            <p:nvPr/>
          </p:nvSpPr>
          <p:spPr>
            <a:xfrm>
              <a:off x="0" y="0"/>
              <a:ext cx="7816723" cy="1465707"/>
            </a:xfrm>
            <a:custGeom>
              <a:avLst/>
              <a:gdLst/>
              <a:ahLst/>
              <a:cxnLst/>
              <a:rect l="l" t="t" r="r" b="b"/>
              <a:pathLst>
                <a:path w="7816723" h="1465707">
                  <a:moveTo>
                    <a:pt x="0" y="244348"/>
                  </a:moveTo>
                  <a:cubicBezTo>
                    <a:pt x="0" y="109347"/>
                    <a:pt x="109347" y="0"/>
                    <a:pt x="244348" y="0"/>
                  </a:cubicBezTo>
                  <a:lnTo>
                    <a:pt x="7572375" y="0"/>
                  </a:lnTo>
                  <a:cubicBezTo>
                    <a:pt x="7707249" y="0"/>
                    <a:pt x="7816723" y="109347"/>
                    <a:pt x="7816723" y="244348"/>
                  </a:cubicBezTo>
                  <a:lnTo>
                    <a:pt x="7816723" y="1221359"/>
                  </a:lnTo>
                  <a:cubicBezTo>
                    <a:pt x="7816723" y="1356233"/>
                    <a:pt x="7707376" y="1465707"/>
                    <a:pt x="7572375" y="1465707"/>
                  </a:cubicBezTo>
                  <a:lnTo>
                    <a:pt x="244348" y="1465707"/>
                  </a:lnTo>
                  <a:cubicBezTo>
                    <a:pt x="109347" y="1465707"/>
                    <a:pt x="0" y="1356360"/>
                    <a:pt x="0" y="1221359"/>
                  </a:cubicBezTo>
                  <a:close/>
                </a:path>
              </a:pathLst>
            </a:custGeom>
            <a:solidFill>
              <a:srgbClr val="F8F4ED"/>
            </a:solidFill>
            <a:ln w="28597" cap="sq">
              <a:solidFill>
                <a:srgbClr val="222222"/>
              </a:solidFill>
              <a:prstDash val="solid"/>
              <a:miter/>
            </a:ln>
          </p:spPr>
          <p:txBody>
            <a:bodyPr/>
            <a:lstStyle/>
            <a:p>
              <a:endParaRPr lang="en-IN"/>
            </a:p>
          </p:txBody>
        </p:sp>
        <p:sp>
          <p:nvSpPr>
            <p:cNvPr id="22" name="TextBox 22"/>
            <p:cNvSpPr txBox="1"/>
            <p:nvPr/>
          </p:nvSpPr>
          <p:spPr>
            <a:xfrm>
              <a:off x="0" y="-19050"/>
              <a:ext cx="7816609" cy="1484757"/>
            </a:xfrm>
            <a:prstGeom prst="rect">
              <a:avLst/>
            </a:prstGeom>
          </p:spPr>
          <p:txBody>
            <a:bodyPr lIns="50800" tIns="50800" rIns="50800" bIns="50800" rtlCol="0" anchor="ctr"/>
            <a:lstStyle/>
            <a:p>
              <a:pPr algn="ctr">
                <a:lnSpc>
                  <a:spcPts val="3242"/>
                </a:lnSpc>
              </a:pPr>
              <a:r>
                <a:rPr lang="en-US" sz="2702" b="1">
                  <a:solidFill>
                    <a:srgbClr val="111111"/>
                  </a:solidFill>
                  <a:latin typeface="Times New Roman Bold"/>
                  <a:ea typeface="Times New Roman Bold"/>
                  <a:cs typeface="Times New Roman Bold"/>
                  <a:sym typeface="Times New Roman Bold"/>
                </a:rPr>
                <a:t>AI Detection Engine</a:t>
              </a:r>
            </a:p>
          </p:txBody>
        </p:sp>
      </p:grpSp>
      <p:sp>
        <p:nvSpPr>
          <p:cNvPr id="23" name="AutoShape 23"/>
          <p:cNvSpPr/>
          <p:nvPr/>
        </p:nvSpPr>
        <p:spPr>
          <a:xfrm flipH="1">
            <a:off x="5208198" y="6207362"/>
            <a:ext cx="717490" cy="558898"/>
          </a:xfrm>
          <a:prstGeom prst="line">
            <a:avLst/>
          </a:prstGeom>
          <a:ln w="19050" cap="rnd">
            <a:solidFill>
              <a:srgbClr val="222222"/>
            </a:solidFill>
            <a:prstDash val="solid"/>
            <a:headEnd type="none" w="sm" len="sm"/>
            <a:tailEnd type="none" w="sm" len="sm"/>
          </a:ln>
        </p:spPr>
        <p:txBody>
          <a:bodyPr/>
          <a:lstStyle/>
          <a:p>
            <a:endParaRPr lang="en-IN"/>
          </a:p>
        </p:txBody>
      </p:sp>
      <p:sp>
        <p:nvSpPr>
          <p:cNvPr id="24" name="AutoShape 24"/>
          <p:cNvSpPr/>
          <p:nvPr/>
        </p:nvSpPr>
        <p:spPr>
          <a:xfrm>
            <a:off x="10824737" y="6182856"/>
            <a:ext cx="1642873" cy="683627"/>
          </a:xfrm>
          <a:prstGeom prst="line">
            <a:avLst/>
          </a:prstGeom>
          <a:ln w="19050" cap="rnd">
            <a:solidFill>
              <a:srgbClr val="222222"/>
            </a:solidFill>
            <a:prstDash val="solid"/>
            <a:headEnd type="none" w="sm" len="sm"/>
            <a:tailEnd type="none" w="sm" len="sm"/>
          </a:ln>
        </p:spPr>
        <p:txBody>
          <a:bodyPr/>
          <a:lstStyle/>
          <a:p>
            <a:endParaRPr lang="en-IN"/>
          </a:p>
        </p:txBody>
      </p:sp>
      <p:grpSp>
        <p:nvGrpSpPr>
          <p:cNvPr id="25" name="Group 25"/>
          <p:cNvGrpSpPr/>
          <p:nvPr/>
        </p:nvGrpSpPr>
        <p:grpSpPr>
          <a:xfrm>
            <a:off x="4763282" y="8242579"/>
            <a:ext cx="8086853" cy="942565"/>
            <a:chOff x="0" y="0"/>
            <a:chExt cx="12575210" cy="1465707"/>
          </a:xfrm>
        </p:grpSpPr>
        <p:sp>
          <p:nvSpPr>
            <p:cNvPr id="26" name="Freeform 26"/>
            <p:cNvSpPr/>
            <p:nvPr/>
          </p:nvSpPr>
          <p:spPr>
            <a:xfrm>
              <a:off x="0" y="0"/>
              <a:ext cx="12575286" cy="1465707"/>
            </a:xfrm>
            <a:custGeom>
              <a:avLst/>
              <a:gdLst/>
              <a:ahLst/>
              <a:cxnLst/>
              <a:rect l="l" t="t" r="r" b="b"/>
              <a:pathLst>
                <a:path w="12575286" h="1465707">
                  <a:moveTo>
                    <a:pt x="0" y="244348"/>
                  </a:moveTo>
                  <a:cubicBezTo>
                    <a:pt x="0" y="109347"/>
                    <a:pt x="109347" y="0"/>
                    <a:pt x="244348" y="0"/>
                  </a:cubicBezTo>
                  <a:lnTo>
                    <a:pt x="12330938" y="0"/>
                  </a:lnTo>
                  <a:cubicBezTo>
                    <a:pt x="12465812" y="0"/>
                    <a:pt x="12575286" y="109347"/>
                    <a:pt x="12575286" y="244348"/>
                  </a:cubicBezTo>
                  <a:lnTo>
                    <a:pt x="12575286" y="1221359"/>
                  </a:lnTo>
                  <a:cubicBezTo>
                    <a:pt x="12575286" y="1356233"/>
                    <a:pt x="12465939" y="1465707"/>
                    <a:pt x="12330938" y="1465707"/>
                  </a:cubicBezTo>
                  <a:lnTo>
                    <a:pt x="244348" y="1465707"/>
                  </a:lnTo>
                  <a:cubicBezTo>
                    <a:pt x="109347" y="1465707"/>
                    <a:pt x="0" y="1356360"/>
                    <a:pt x="0" y="1221359"/>
                  </a:cubicBezTo>
                  <a:close/>
                </a:path>
              </a:pathLst>
            </a:custGeom>
            <a:solidFill>
              <a:srgbClr val="F8F4ED"/>
            </a:solidFill>
            <a:ln w="28597" cap="sq">
              <a:solidFill>
                <a:srgbClr val="222222"/>
              </a:solidFill>
              <a:prstDash val="solid"/>
              <a:miter/>
            </a:ln>
          </p:spPr>
          <p:txBody>
            <a:bodyPr/>
            <a:lstStyle/>
            <a:p>
              <a:endParaRPr lang="en-IN"/>
            </a:p>
          </p:txBody>
        </p:sp>
        <p:sp>
          <p:nvSpPr>
            <p:cNvPr id="27" name="TextBox 27"/>
            <p:cNvSpPr txBox="1"/>
            <p:nvPr/>
          </p:nvSpPr>
          <p:spPr>
            <a:xfrm>
              <a:off x="0" y="-19050"/>
              <a:ext cx="12575210" cy="1484757"/>
            </a:xfrm>
            <a:prstGeom prst="rect">
              <a:avLst/>
            </a:prstGeom>
          </p:spPr>
          <p:txBody>
            <a:bodyPr lIns="50800" tIns="50800" rIns="50800" bIns="50800" rtlCol="0" anchor="ctr"/>
            <a:lstStyle/>
            <a:p>
              <a:pPr algn="ctr">
                <a:lnSpc>
                  <a:spcPts val="3062"/>
                </a:lnSpc>
              </a:pPr>
              <a:r>
                <a:rPr lang="en-US" sz="2551" b="1">
                  <a:solidFill>
                    <a:srgbClr val="111111"/>
                  </a:solidFill>
                  <a:latin typeface="Times New Roman Bold"/>
                  <a:ea typeface="Times New Roman Bold"/>
                  <a:cs typeface="Times New Roman Bold"/>
                  <a:sym typeface="Times New Roman Bold"/>
                </a:rPr>
                <a:t>Incident Correlation and Risk Scoring</a:t>
              </a:r>
            </a:p>
          </p:txBody>
        </p:sp>
      </p:grpSp>
      <p:sp>
        <p:nvSpPr>
          <p:cNvPr id="28" name="AutoShape 28"/>
          <p:cNvSpPr/>
          <p:nvPr/>
        </p:nvSpPr>
        <p:spPr>
          <a:xfrm>
            <a:off x="6262726" y="7808073"/>
            <a:ext cx="1169414" cy="434506"/>
          </a:xfrm>
          <a:prstGeom prst="line">
            <a:avLst/>
          </a:prstGeom>
          <a:ln w="19050" cap="rnd">
            <a:solidFill>
              <a:srgbClr val="222222"/>
            </a:solidFill>
            <a:prstDash val="solid"/>
            <a:headEnd type="none" w="sm" len="sm"/>
            <a:tailEnd type="none" w="sm" len="sm"/>
          </a:ln>
        </p:spPr>
        <p:txBody>
          <a:bodyPr/>
          <a:lstStyle/>
          <a:p>
            <a:endParaRPr lang="en-IN"/>
          </a:p>
        </p:txBody>
      </p:sp>
      <p:sp>
        <p:nvSpPr>
          <p:cNvPr id="29" name="TextBox 29"/>
          <p:cNvSpPr txBox="1"/>
          <p:nvPr/>
        </p:nvSpPr>
        <p:spPr>
          <a:xfrm>
            <a:off x="3869784" y="7806974"/>
            <a:ext cx="1786996" cy="209550"/>
          </a:xfrm>
          <a:prstGeom prst="rect">
            <a:avLst/>
          </a:prstGeom>
        </p:spPr>
        <p:txBody>
          <a:bodyPr lIns="0" tIns="0" rIns="0" bIns="0" rtlCol="0" anchor="t">
            <a:spAutoFit/>
          </a:bodyPr>
          <a:lstStyle/>
          <a:p>
            <a:pPr algn="ctr">
              <a:lnSpc>
                <a:spcPts val="1544"/>
              </a:lnSpc>
            </a:pPr>
            <a:r>
              <a:rPr lang="en-US" sz="1287" b="1">
                <a:solidFill>
                  <a:srgbClr val="5F5F5F"/>
                </a:solidFill>
                <a:latin typeface="Times New Roman Bold"/>
                <a:ea typeface="Times New Roman Bold"/>
                <a:cs typeface="Times New Roman Bold"/>
                <a:sym typeface="Times New Roman Bold"/>
              </a:rPr>
              <a:t>Rule Alerts</a:t>
            </a:r>
          </a:p>
        </p:txBody>
      </p:sp>
      <p:sp>
        <p:nvSpPr>
          <p:cNvPr id="30" name="AutoShape 30"/>
          <p:cNvSpPr/>
          <p:nvPr/>
        </p:nvSpPr>
        <p:spPr>
          <a:xfrm flipH="1">
            <a:off x="10824736" y="7783559"/>
            <a:ext cx="1642875" cy="459997"/>
          </a:xfrm>
          <a:prstGeom prst="line">
            <a:avLst/>
          </a:prstGeom>
          <a:ln w="19050" cap="rnd">
            <a:solidFill>
              <a:srgbClr val="222222"/>
            </a:solidFill>
            <a:prstDash val="solid"/>
            <a:headEnd type="none" w="sm" len="sm"/>
            <a:tailEnd type="none" w="sm" len="sm"/>
          </a:ln>
        </p:spPr>
        <p:txBody>
          <a:bodyPr/>
          <a:lstStyle/>
          <a:p>
            <a:endParaRPr lang="en-IN"/>
          </a:p>
        </p:txBody>
      </p:sp>
      <p:sp>
        <p:nvSpPr>
          <p:cNvPr id="31" name="TextBox 31"/>
          <p:cNvSpPr txBox="1"/>
          <p:nvPr/>
        </p:nvSpPr>
        <p:spPr>
          <a:xfrm>
            <a:off x="11719735" y="7800302"/>
            <a:ext cx="1765475" cy="313294"/>
          </a:xfrm>
          <a:prstGeom prst="rect">
            <a:avLst/>
          </a:prstGeom>
        </p:spPr>
        <p:txBody>
          <a:bodyPr lIns="0" tIns="0" rIns="0" bIns="0" rtlCol="0" anchor="t">
            <a:spAutoFit/>
          </a:bodyPr>
          <a:lstStyle/>
          <a:p>
            <a:pPr algn="ctr">
              <a:lnSpc>
                <a:spcPts val="1544"/>
              </a:lnSpc>
            </a:pPr>
            <a:r>
              <a:rPr lang="en-US" sz="1287">
                <a:solidFill>
                  <a:srgbClr val="5F5F5F"/>
                </a:solidFill>
                <a:latin typeface="Times New Roman"/>
                <a:ea typeface="Times New Roman"/>
                <a:cs typeface="Times New Roman"/>
                <a:sym typeface="Times New Roman"/>
              </a:rPr>
              <a:t>AI Results</a:t>
            </a:r>
          </a:p>
        </p:txBody>
      </p:sp>
      <p:grpSp>
        <p:nvGrpSpPr>
          <p:cNvPr id="32" name="Group 32"/>
          <p:cNvGrpSpPr/>
          <p:nvPr/>
        </p:nvGrpSpPr>
        <p:grpSpPr>
          <a:xfrm>
            <a:off x="4763282" y="9454871"/>
            <a:ext cx="8086853" cy="613015"/>
            <a:chOff x="0" y="0"/>
            <a:chExt cx="12575210" cy="953249"/>
          </a:xfrm>
        </p:grpSpPr>
        <p:sp>
          <p:nvSpPr>
            <p:cNvPr id="33" name="Freeform 33"/>
            <p:cNvSpPr/>
            <p:nvPr/>
          </p:nvSpPr>
          <p:spPr>
            <a:xfrm>
              <a:off x="0" y="0"/>
              <a:ext cx="12575159" cy="953262"/>
            </a:xfrm>
            <a:custGeom>
              <a:avLst/>
              <a:gdLst/>
              <a:ahLst/>
              <a:cxnLst/>
              <a:rect l="l" t="t" r="r" b="b"/>
              <a:pathLst>
                <a:path w="12575159" h="953262">
                  <a:moveTo>
                    <a:pt x="0" y="158877"/>
                  </a:moveTo>
                  <a:cubicBezTo>
                    <a:pt x="0" y="71120"/>
                    <a:pt x="71120" y="0"/>
                    <a:pt x="158877" y="0"/>
                  </a:cubicBezTo>
                  <a:lnTo>
                    <a:pt x="12416282" y="0"/>
                  </a:lnTo>
                  <a:cubicBezTo>
                    <a:pt x="12504038" y="0"/>
                    <a:pt x="12575159" y="71120"/>
                    <a:pt x="12575159" y="158877"/>
                  </a:cubicBezTo>
                  <a:lnTo>
                    <a:pt x="12575159" y="794385"/>
                  </a:lnTo>
                  <a:cubicBezTo>
                    <a:pt x="12575159" y="882142"/>
                    <a:pt x="12504038" y="953262"/>
                    <a:pt x="12416282" y="953262"/>
                  </a:cubicBezTo>
                  <a:lnTo>
                    <a:pt x="158877" y="953262"/>
                  </a:lnTo>
                  <a:cubicBezTo>
                    <a:pt x="71120" y="953262"/>
                    <a:pt x="0" y="882142"/>
                    <a:pt x="0" y="794385"/>
                  </a:cubicBezTo>
                  <a:close/>
                </a:path>
              </a:pathLst>
            </a:custGeom>
            <a:solidFill>
              <a:srgbClr val="F8F4ED"/>
            </a:solidFill>
            <a:ln w="28597" cap="sq">
              <a:solidFill>
                <a:srgbClr val="222222"/>
              </a:solidFill>
              <a:prstDash val="solid"/>
              <a:miter/>
            </a:ln>
          </p:spPr>
          <p:txBody>
            <a:bodyPr/>
            <a:lstStyle/>
            <a:p>
              <a:endParaRPr lang="en-IN"/>
            </a:p>
          </p:txBody>
        </p:sp>
        <p:sp>
          <p:nvSpPr>
            <p:cNvPr id="34" name="TextBox 34"/>
            <p:cNvSpPr txBox="1"/>
            <p:nvPr/>
          </p:nvSpPr>
          <p:spPr>
            <a:xfrm>
              <a:off x="0" y="-9525"/>
              <a:ext cx="12575210" cy="962774"/>
            </a:xfrm>
            <a:prstGeom prst="rect">
              <a:avLst/>
            </a:prstGeom>
          </p:spPr>
          <p:txBody>
            <a:bodyPr lIns="50800" tIns="50800" rIns="50800" bIns="50800" rtlCol="0" anchor="ctr"/>
            <a:lstStyle/>
            <a:p>
              <a:pPr algn="ctr">
                <a:lnSpc>
                  <a:spcPts val="2882"/>
                </a:lnSpc>
              </a:pPr>
              <a:r>
                <a:rPr lang="en-US" sz="2401" b="1">
                  <a:solidFill>
                    <a:srgbClr val="111111"/>
                  </a:solidFill>
                  <a:latin typeface="Times New Roman Bold"/>
                  <a:ea typeface="Times New Roman Bold"/>
                  <a:cs typeface="Times New Roman Bold"/>
                  <a:sym typeface="Times New Roman Bold"/>
                </a:rPr>
                <a:t>Structured JSON Output</a:t>
              </a:r>
            </a:p>
          </p:txBody>
        </p:sp>
      </p:grpSp>
      <p:sp>
        <p:nvSpPr>
          <p:cNvPr id="35" name="AutoShape 35"/>
          <p:cNvSpPr/>
          <p:nvPr/>
        </p:nvSpPr>
        <p:spPr>
          <a:xfrm>
            <a:off x="8806709" y="9232569"/>
            <a:ext cx="0" cy="222302"/>
          </a:xfrm>
          <a:prstGeom prst="line">
            <a:avLst/>
          </a:prstGeom>
          <a:ln w="19050" cap="rnd">
            <a:solidFill>
              <a:srgbClr val="222222"/>
            </a:solidFill>
            <a:prstDash val="solid"/>
            <a:headEnd type="none" w="sm" len="sm"/>
            <a:tailEnd type="none" w="sm" len="sm"/>
          </a:ln>
        </p:spPr>
        <p:txBody>
          <a:bodyPr/>
          <a:lstStyle/>
          <a:p>
            <a:endParaRPr lang="en-IN"/>
          </a:p>
        </p:txBody>
      </p:sp>
      <p:grpSp>
        <p:nvGrpSpPr>
          <p:cNvPr id="36" name="Group 36"/>
          <p:cNvGrpSpPr/>
          <p:nvPr/>
        </p:nvGrpSpPr>
        <p:grpSpPr>
          <a:xfrm>
            <a:off x="1332255" y="237857"/>
            <a:ext cx="14798260" cy="1388371"/>
            <a:chOff x="0" y="0"/>
            <a:chExt cx="11874988" cy="1114110"/>
          </a:xfrm>
        </p:grpSpPr>
        <p:sp>
          <p:nvSpPr>
            <p:cNvPr id="37" name="Freeform 37"/>
            <p:cNvSpPr/>
            <p:nvPr/>
          </p:nvSpPr>
          <p:spPr>
            <a:xfrm>
              <a:off x="0" y="0"/>
              <a:ext cx="11875102" cy="1114110"/>
            </a:xfrm>
            <a:custGeom>
              <a:avLst/>
              <a:gdLst/>
              <a:ahLst/>
              <a:cxnLst/>
              <a:rect l="l" t="t" r="r" b="b"/>
              <a:pathLst>
                <a:path w="11875102" h="1114110">
                  <a:moveTo>
                    <a:pt x="0" y="185733"/>
                  </a:moveTo>
                  <a:cubicBezTo>
                    <a:pt x="0" y="83117"/>
                    <a:pt x="166120" y="0"/>
                    <a:pt x="371213" y="0"/>
                  </a:cubicBezTo>
                  <a:lnTo>
                    <a:pt x="11503948" y="0"/>
                  </a:lnTo>
                  <a:cubicBezTo>
                    <a:pt x="11708849" y="0"/>
                    <a:pt x="11875102" y="83117"/>
                    <a:pt x="11875102" y="185733"/>
                  </a:cubicBezTo>
                  <a:lnTo>
                    <a:pt x="11875102" y="928377"/>
                  </a:lnTo>
                  <a:cubicBezTo>
                    <a:pt x="11875102" y="1030897"/>
                    <a:pt x="11709042" y="1114110"/>
                    <a:pt x="11503948" y="1114110"/>
                  </a:cubicBezTo>
                  <a:lnTo>
                    <a:pt x="371213" y="1114110"/>
                  </a:lnTo>
                  <a:cubicBezTo>
                    <a:pt x="166120" y="1114110"/>
                    <a:pt x="0" y="1030993"/>
                    <a:pt x="0" y="928377"/>
                  </a:cubicBezTo>
                  <a:close/>
                </a:path>
              </a:pathLst>
            </a:custGeom>
            <a:solidFill>
              <a:srgbClr val="F4EDE2"/>
            </a:solidFill>
            <a:ln cap="sq">
              <a:noFill/>
              <a:prstDash val="solid"/>
              <a:miter/>
            </a:ln>
          </p:spPr>
          <p:txBody>
            <a:bodyPr/>
            <a:lstStyle/>
            <a:p>
              <a:endParaRPr lang="en-IN"/>
            </a:p>
          </p:txBody>
        </p:sp>
        <p:sp>
          <p:nvSpPr>
            <p:cNvPr id="38" name="TextBox 38"/>
            <p:cNvSpPr txBox="1"/>
            <p:nvPr/>
          </p:nvSpPr>
          <p:spPr>
            <a:xfrm>
              <a:off x="0" y="-152400"/>
              <a:ext cx="11874988" cy="1266510"/>
            </a:xfrm>
            <a:prstGeom prst="rect">
              <a:avLst/>
            </a:prstGeom>
          </p:spPr>
          <p:txBody>
            <a:bodyPr lIns="127000" tIns="127000" rIns="127000" bIns="127000" rtlCol="0" anchor="ctr"/>
            <a:lstStyle/>
            <a:p>
              <a:pPr algn="ctr">
                <a:lnSpc>
                  <a:spcPts val="5701"/>
                </a:lnSpc>
              </a:pPr>
              <a:r>
                <a:rPr lang="en-US" sz="3702" b="1" spc="366">
                  <a:solidFill>
                    <a:srgbClr val="111111"/>
                  </a:solidFill>
                  <a:latin typeface="Times New Roman Bold"/>
                  <a:ea typeface="Times New Roman Bold"/>
                  <a:cs typeface="Times New Roman Bold"/>
                  <a:sym typeface="Times New Roman Bold"/>
                </a:rPr>
                <a:t>OVERALL SOFTWARE ARCHITECTURE DESIGN FLOW</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grpSp>
        <p:nvGrpSpPr>
          <p:cNvPr id="2" name="Group 2"/>
          <p:cNvGrpSpPr/>
          <p:nvPr/>
        </p:nvGrpSpPr>
        <p:grpSpPr>
          <a:xfrm>
            <a:off x="617706" y="247079"/>
            <a:ext cx="17062313" cy="590245"/>
            <a:chOff x="0" y="0"/>
            <a:chExt cx="22749751" cy="786994"/>
          </a:xfrm>
        </p:grpSpPr>
        <p:sp>
          <p:nvSpPr>
            <p:cNvPr id="3" name="Freeform 3"/>
            <p:cNvSpPr/>
            <p:nvPr/>
          </p:nvSpPr>
          <p:spPr>
            <a:xfrm>
              <a:off x="0" y="0"/>
              <a:ext cx="22749757" cy="786999"/>
            </a:xfrm>
            <a:custGeom>
              <a:avLst/>
              <a:gdLst/>
              <a:ahLst/>
              <a:cxnLst/>
              <a:rect l="l" t="t" r="r" b="b"/>
              <a:pathLst>
                <a:path w="22749757" h="786999">
                  <a:moveTo>
                    <a:pt x="0" y="0"/>
                  </a:moveTo>
                  <a:lnTo>
                    <a:pt x="22749757" y="0"/>
                  </a:lnTo>
                  <a:lnTo>
                    <a:pt x="22749757" y="786999"/>
                  </a:lnTo>
                  <a:lnTo>
                    <a:pt x="0" y="786999"/>
                  </a:lnTo>
                  <a:close/>
                </a:path>
              </a:pathLst>
            </a:custGeom>
            <a:blipFill>
              <a:blip r:embed="rId2">
                <a:alphaModFix amt="0"/>
              </a:blip>
              <a:stretch>
                <a:fillRect t="-513253" b="-513253"/>
              </a:stretch>
            </a:blipFill>
          </p:spPr>
          <p:txBody>
            <a:bodyPr/>
            <a:lstStyle/>
            <a:p>
              <a:endParaRPr lang="en-IN"/>
            </a:p>
          </p:txBody>
        </p:sp>
        <p:sp>
          <p:nvSpPr>
            <p:cNvPr id="4" name="TextBox 4"/>
            <p:cNvSpPr txBox="1"/>
            <p:nvPr/>
          </p:nvSpPr>
          <p:spPr>
            <a:xfrm>
              <a:off x="0" y="-28575"/>
              <a:ext cx="22749751" cy="815569"/>
            </a:xfrm>
            <a:prstGeom prst="rect">
              <a:avLst/>
            </a:prstGeom>
          </p:spPr>
          <p:txBody>
            <a:bodyPr lIns="0" tIns="0" rIns="0" bIns="0" rtlCol="0" anchor="ctr"/>
            <a:lstStyle/>
            <a:p>
              <a:pPr algn="ctr">
                <a:lnSpc>
                  <a:spcPts val="4323"/>
                </a:lnSpc>
              </a:pPr>
              <a:r>
                <a:rPr lang="en-US" sz="3602" b="1">
                  <a:solidFill>
                    <a:srgbClr val="000000"/>
                  </a:solidFill>
                  <a:latin typeface="Times New Roman Bold"/>
                  <a:ea typeface="Times New Roman Bold"/>
                  <a:cs typeface="Times New Roman Bold"/>
                  <a:sym typeface="Times New Roman Bold"/>
                </a:rPr>
                <a:t>RULE ENGINE — SOFTWARE ARCHITECTURE</a:t>
              </a:r>
            </a:p>
          </p:txBody>
        </p:sp>
      </p:grpSp>
      <p:grpSp>
        <p:nvGrpSpPr>
          <p:cNvPr id="5" name="Group 5"/>
          <p:cNvGrpSpPr/>
          <p:nvPr/>
        </p:nvGrpSpPr>
        <p:grpSpPr>
          <a:xfrm>
            <a:off x="754971" y="851059"/>
            <a:ext cx="16787784" cy="329441"/>
            <a:chOff x="0" y="0"/>
            <a:chExt cx="22383712" cy="439255"/>
          </a:xfrm>
        </p:grpSpPr>
        <p:sp>
          <p:nvSpPr>
            <p:cNvPr id="6" name="Freeform 6"/>
            <p:cNvSpPr/>
            <p:nvPr/>
          </p:nvSpPr>
          <p:spPr>
            <a:xfrm>
              <a:off x="0" y="0"/>
              <a:ext cx="22383711" cy="439255"/>
            </a:xfrm>
            <a:custGeom>
              <a:avLst/>
              <a:gdLst/>
              <a:ahLst/>
              <a:cxnLst/>
              <a:rect l="l" t="t" r="r" b="b"/>
              <a:pathLst>
                <a:path w="22383711" h="439255">
                  <a:moveTo>
                    <a:pt x="0" y="0"/>
                  </a:moveTo>
                  <a:lnTo>
                    <a:pt x="22383711" y="0"/>
                  </a:lnTo>
                  <a:lnTo>
                    <a:pt x="22383711" y="439255"/>
                  </a:lnTo>
                  <a:lnTo>
                    <a:pt x="0" y="439255"/>
                  </a:lnTo>
                  <a:close/>
                </a:path>
              </a:pathLst>
            </a:custGeom>
            <a:blipFill>
              <a:blip r:embed="rId2">
                <a:alphaModFix amt="0"/>
              </a:blip>
              <a:stretch>
                <a:fillRect t="-942925" b="-942925"/>
              </a:stretch>
            </a:blipFill>
          </p:spPr>
          <p:txBody>
            <a:bodyPr/>
            <a:lstStyle/>
            <a:p>
              <a:endParaRPr lang="en-IN"/>
            </a:p>
          </p:txBody>
        </p:sp>
        <p:sp>
          <p:nvSpPr>
            <p:cNvPr id="7" name="TextBox 7"/>
            <p:cNvSpPr txBox="1"/>
            <p:nvPr/>
          </p:nvSpPr>
          <p:spPr>
            <a:xfrm>
              <a:off x="0" y="-19050"/>
              <a:ext cx="22383712" cy="458305"/>
            </a:xfrm>
            <a:prstGeom prst="rect">
              <a:avLst/>
            </a:prstGeom>
          </p:spPr>
          <p:txBody>
            <a:bodyPr lIns="0" tIns="0" rIns="0" bIns="0" rtlCol="0" anchor="ctr"/>
            <a:lstStyle/>
            <a:p>
              <a:pPr algn="ctr">
                <a:lnSpc>
                  <a:spcPts val="2071"/>
                </a:lnSpc>
              </a:pPr>
              <a:r>
                <a:rPr lang="en-US" sz="1726">
                  <a:solidFill>
                    <a:srgbClr val="000000"/>
                  </a:solidFill>
                  <a:latin typeface="Times New Roman"/>
                  <a:ea typeface="Times New Roman"/>
                  <a:cs typeface="Times New Roman"/>
                  <a:sym typeface="Times New Roman"/>
                </a:rPr>
                <a:t>System boundary, rule-management control plane, event-evaluation data plane, and integration points</a:t>
              </a:r>
            </a:p>
          </p:txBody>
        </p:sp>
      </p:grpSp>
      <p:grpSp>
        <p:nvGrpSpPr>
          <p:cNvPr id="8" name="Group 8"/>
          <p:cNvGrpSpPr/>
          <p:nvPr/>
        </p:nvGrpSpPr>
        <p:grpSpPr>
          <a:xfrm>
            <a:off x="2979553" y="1606887"/>
            <a:ext cx="12036619" cy="7644070"/>
            <a:chOff x="0" y="0"/>
            <a:chExt cx="16048825" cy="10192093"/>
          </a:xfrm>
        </p:grpSpPr>
        <p:sp>
          <p:nvSpPr>
            <p:cNvPr id="9" name="Freeform 9"/>
            <p:cNvSpPr/>
            <p:nvPr/>
          </p:nvSpPr>
          <p:spPr>
            <a:xfrm>
              <a:off x="0" y="0"/>
              <a:ext cx="16048862" cy="10192131"/>
            </a:xfrm>
            <a:custGeom>
              <a:avLst/>
              <a:gdLst/>
              <a:ahLst/>
              <a:cxnLst/>
              <a:rect l="l" t="t" r="r" b="b"/>
              <a:pathLst>
                <a:path w="16048862" h="10192131">
                  <a:moveTo>
                    <a:pt x="0" y="1698752"/>
                  </a:moveTo>
                  <a:cubicBezTo>
                    <a:pt x="0" y="760603"/>
                    <a:pt x="760603" y="0"/>
                    <a:pt x="1698752" y="0"/>
                  </a:cubicBezTo>
                  <a:lnTo>
                    <a:pt x="14350110" y="0"/>
                  </a:lnTo>
                  <a:cubicBezTo>
                    <a:pt x="15288261" y="0"/>
                    <a:pt x="16048862" y="760603"/>
                    <a:pt x="16048862" y="1698752"/>
                  </a:cubicBezTo>
                  <a:lnTo>
                    <a:pt x="16048862" y="8493379"/>
                  </a:lnTo>
                  <a:cubicBezTo>
                    <a:pt x="16048862" y="9431528"/>
                    <a:pt x="15288259" y="10192131"/>
                    <a:pt x="14350110" y="10192131"/>
                  </a:cubicBezTo>
                  <a:lnTo>
                    <a:pt x="1698752" y="10192131"/>
                  </a:lnTo>
                  <a:cubicBezTo>
                    <a:pt x="760603" y="10192131"/>
                    <a:pt x="0" y="9431528"/>
                    <a:pt x="0" y="8493379"/>
                  </a:cubicBezTo>
                  <a:close/>
                </a:path>
              </a:pathLst>
            </a:custGeom>
            <a:blipFill>
              <a:blip r:embed="rId2">
                <a:alphaModFix amt="0"/>
              </a:blip>
              <a:stretch>
                <a:fillRect l="-31481" r="-31481"/>
              </a:stretch>
            </a:blipFill>
            <a:ln w="25738" cap="sq">
              <a:solidFill>
                <a:srgbClr val="243B75"/>
              </a:solidFill>
              <a:prstDash val="solid"/>
              <a:miter/>
            </a:ln>
          </p:spPr>
          <p:txBody>
            <a:bodyPr/>
            <a:lstStyle/>
            <a:p>
              <a:endParaRPr lang="en-IN"/>
            </a:p>
          </p:txBody>
        </p:sp>
      </p:grpSp>
      <p:grpSp>
        <p:nvGrpSpPr>
          <p:cNvPr id="10" name="Group 10"/>
          <p:cNvGrpSpPr/>
          <p:nvPr/>
        </p:nvGrpSpPr>
        <p:grpSpPr>
          <a:xfrm>
            <a:off x="3902930" y="1649168"/>
            <a:ext cx="2813980" cy="301990"/>
            <a:chOff x="0" y="0"/>
            <a:chExt cx="3751974" cy="402654"/>
          </a:xfrm>
        </p:grpSpPr>
        <p:sp>
          <p:nvSpPr>
            <p:cNvPr id="11" name="Freeform 11"/>
            <p:cNvSpPr/>
            <p:nvPr/>
          </p:nvSpPr>
          <p:spPr>
            <a:xfrm>
              <a:off x="0" y="0"/>
              <a:ext cx="3751969" cy="402651"/>
            </a:xfrm>
            <a:custGeom>
              <a:avLst/>
              <a:gdLst/>
              <a:ahLst/>
              <a:cxnLst/>
              <a:rect l="l" t="t" r="r" b="b"/>
              <a:pathLst>
                <a:path w="3751969" h="402651">
                  <a:moveTo>
                    <a:pt x="0" y="0"/>
                  </a:moveTo>
                  <a:lnTo>
                    <a:pt x="3751969" y="0"/>
                  </a:lnTo>
                  <a:lnTo>
                    <a:pt x="3751969" y="402651"/>
                  </a:lnTo>
                  <a:lnTo>
                    <a:pt x="0" y="402651"/>
                  </a:lnTo>
                  <a:close/>
                </a:path>
              </a:pathLst>
            </a:custGeom>
            <a:blipFill>
              <a:blip r:embed="rId2">
                <a:alphaModFix amt="0"/>
              </a:blip>
              <a:stretch>
                <a:fillRect t="-131564" b="-131565"/>
              </a:stretch>
            </a:blipFill>
          </p:spPr>
          <p:txBody>
            <a:bodyPr/>
            <a:lstStyle/>
            <a:p>
              <a:endParaRPr lang="en-IN"/>
            </a:p>
          </p:txBody>
        </p:sp>
        <p:sp>
          <p:nvSpPr>
            <p:cNvPr id="12" name="TextBox 12"/>
            <p:cNvSpPr txBox="1"/>
            <p:nvPr/>
          </p:nvSpPr>
          <p:spPr>
            <a:xfrm>
              <a:off x="0" y="-9525"/>
              <a:ext cx="3751974" cy="412179"/>
            </a:xfrm>
            <a:prstGeom prst="rect">
              <a:avLst/>
            </a:prstGeom>
          </p:spPr>
          <p:txBody>
            <a:bodyPr lIns="0" tIns="0" rIns="0" bIns="0" rtlCol="0" anchor="ctr"/>
            <a:lstStyle/>
            <a:p>
              <a:pPr algn="l">
                <a:lnSpc>
                  <a:spcPts val="1891"/>
                </a:lnSpc>
              </a:pPr>
              <a:r>
                <a:rPr lang="en-US" sz="1576" b="1">
                  <a:solidFill>
                    <a:srgbClr val="000000"/>
                  </a:solidFill>
                  <a:latin typeface="Times New Roman Bold"/>
                  <a:ea typeface="Times New Roman Bold"/>
                  <a:cs typeface="Times New Roman Bold"/>
                  <a:sym typeface="Times New Roman Bold"/>
                </a:rPr>
                <a:t>RULE ENGINE BOUNDARY</a:t>
              </a:r>
            </a:p>
          </p:txBody>
        </p:sp>
      </p:grpSp>
      <p:grpSp>
        <p:nvGrpSpPr>
          <p:cNvPr id="13" name="Group 13"/>
          <p:cNvGrpSpPr/>
          <p:nvPr/>
        </p:nvGrpSpPr>
        <p:grpSpPr>
          <a:xfrm>
            <a:off x="3500314" y="2017833"/>
            <a:ext cx="10912745" cy="329441"/>
            <a:chOff x="0" y="0"/>
            <a:chExt cx="14550326" cy="439255"/>
          </a:xfrm>
        </p:grpSpPr>
        <p:sp>
          <p:nvSpPr>
            <p:cNvPr id="14" name="Freeform 14"/>
            <p:cNvSpPr/>
            <p:nvPr/>
          </p:nvSpPr>
          <p:spPr>
            <a:xfrm>
              <a:off x="0" y="0"/>
              <a:ext cx="14550327" cy="439255"/>
            </a:xfrm>
            <a:custGeom>
              <a:avLst/>
              <a:gdLst/>
              <a:ahLst/>
              <a:cxnLst/>
              <a:rect l="l" t="t" r="r" b="b"/>
              <a:pathLst>
                <a:path w="14550327" h="439255">
                  <a:moveTo>
                    <a:pt x="0" y="0"/>
                  </a:moveTo>
                  <a:lnTo>
                    <a:pt x="14550327" y="0"/>
                  </a:lnTo>
                  <a:lnTo>
                    <a:pt x="14550327" y="439255"/>
                  </a:lnTo>
                  <a:lnTo>
                    <a:pt x="0" y="439255"/>
                  </a:lnTo>
                  <a:close/>
                </a:path>
              </a:pathLst>
            </a:custGeom>
            <a:blipFill>
              <a:blip r:embed="rId2">
                <a:alphaModFix amt="0"/>
              </a:blip>
              <a:stretch>
                <a:fillRect t="-595441" b="-595441"/>
              </a:stretch>
            </a:blipFill>
          </p:spPr>
          <p:txBody>
            <a:bodyPr/>
            <a:lstStyle/>
            <a:p>
              <a:endParaRPr lang="en-IN"/>
            </a:p>
          </p:txBody>
        </p:sp>
        <p:sp>
          <p:nvSpPr>
            <p:cNvPr id="15" name="TextBox 15"/>
            <p:cNvSpPr txBox="1"/>
            <p:nvPr/>
          </p:nvSpPr>
          <p:spPr>
            <a:xfrm>
              <a:off x="0" y="-19050"/>
              <a:ext cx="14550326" cy="458305"/>
            </a:xfrm>
            <a:prstGeom prst="rect">
              <a:avLst/>
            </a:prstGeom>
          </p:spPr>
          <p:txBody>
            <a:bodyPr lIns="0" tIns="0" rIns="0" bIns="0" rtlCol="0" anchor="ctr"/>
            <a:lstStyle/>
            <a:p>
              <a:pPr algn="ctr">
                <a:lnSpc>
                  <a:spcPts val="2071"/>
                </a:lnSpc>
              </a:pPr>
              <a:r>
                <a:rPr lang="en-US" sz="1726" b="1">
                  <a:solidFill>
                    <a:srgbClr val="000000"/>
                  </a:solidFill>
                  <a:latin typeface="Times New Roman Bold"/>
                  <a:ea typeface="Times New Roman Bold"/>
                  <a:cs typeface="Times New Roman Bold"/>
                  <a:sym typeface="Times New Roman Bold"/>
                </a:rPr>
                <a:t>CONTROL PLANE  |  RULE MANAGEMENT &amp; COMPILATION</a:t>
              </a:r>
            </a:p>
          </p:txBody>
        </p:sp>
      </p:grpSp>
      <p:grpSp>
        <p:nvGrpSpPr>
          <p:cNvPr id="16" name="Group 16"/>
          <p:cNvGrpSpPr/>
          <p:nvPr/>
        </p:nvGrpSpPr>
        <p:grpSpPr>
          <a:xfrm>
            <a:off x="3500314" y="4859264"/>
            <a:ext cx="10912745" cy="329441"/>
            <a:chOff x="0" y="0"/>
            <a:chExt cx="14550326" cy="439255"/>
          </a:xfrm>
        </p:grpSpPr>
        <p:sp>
          <p:nvSpPr>
            <p:cNvPr id="17" name="Freeform 17"/>
            <p:cNvSpPr/>
            <p:nvPr/>
          </p:nvSpPr>
          <p:spPr>
            <a:xfrm>
              <a:off x="0" y="0"/>
              <a:ext cx="14550327" cy="439255"/>
            </a:xfrm>
            <a:custGeom>
              <a:avLst/>
              <a:gdLst/>
              <a:ahLst/>
              <a:cxnLst/>
              <a:rect l="l" t="t" r="r" b="b"/>
              <a:pathLst>
                <a:path w="14550327" h="439255">
                  <a:moveTo>
                    <a:pt x="0" y="0"/>
                  </a:moveTo>
                  <a:lnTo>
                    <a:pt x="14550327" y="0"/>
                  </a:lnTo>
                  <a:lnTo>
                    <a:pt x="14550327" y="439255"/>
                  </a:lnTo>
                  <a:lnTo>
                    <a:pt x="0" y="439255"/>
                  </a:lnTo>
                  <a:close/>
                </a:path>
              </a:pathLst>
            </a:custGeom>
            <a:blipFill>
              <a:blip r:embed="rId2">
                <a:alphaModFix amt="0"/>
              </a:blip>
              <a:stretch>
                <a:fillRect t="-595441" b="-595441"/>
              </a:stretch>
            </a:blipFill>
          </p:spPr>
          <p:txBody>
            <a:bodyPr/>
            <a:lstStyle/>
            <a:p>
              <a:endParaRPr lang="en-IN"/>
            </a:p>
          </p:txBody>
        </p:sp>
        <p:sp>
          <p:nvSpPr>
            <p:cNvPr id="18" name="TextBox 18"/>
            <p:cNvSpPr txBox="1"/>
            <p:nvPr/>
          </p:nvSpPr>
          <p:spPr>
            <a:xfrm>
              <a:off x="0" y="-19050"/>
              <a:ext cx="14550326" cy="458305"/>
            </a:xfrm>
            <a:prstGeom prst="rect">
              <a:avLst/>
            </a:prstGeom>
          </p:spPr>
          <p:txBody>
            <a:bodyPr lIns="0" tIns="0" rIns="0" bIns="0" rtlCol="0" anchor="ctr"/>
            <a:lstStyle/>
            <a:p>
              <a:pPr algn="ctr">
                <a:lnSpc>
                  <a:spcPts val="2071"/>
                </a:lnSpc>
              </a:pPr>
              <a:r>
                <a:rPr lang="en-US" sz="1726" b="1">
                  <a:solidFill>
                    <a:srgbClr val="000000"/>
                  </a:solidFill>
                  <a:latin typeface="Times New Roman Bold"/>
                  <a:ea typeface="Times New Roman Bold"/>
                  <a:cs typeface="Times New Roman Bold"/>
                  <a:sym typeface="Times New Roman Bold"/>
                </a:rPr>
                <a:t>DATA PLANE  |  EVENT EVALUATION &amp; ALERT GENERATION</a:t>
              </a:r>
            </a:p>
          </p:txBody>
        </p:sp>
      </p:grpSp>
      <p:sp>
        <p:nvSpPr>
          <p:cNvPr id="19" name="AutoShape 19"/>
          <p:cNvSpPr/>
          <p:nvPr/>
        </p:nvSpPr>
        <p:spPr>
          <a:xfrm rot="125760">
            <a:off x="2621451" y="3056296"/>
            <a:ext cx="755666"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0" name="AutoShape 20"/>
          <p:cNvSpPr/>
          <p:nvPr/>
        </p:nvSpPr>
        <p:spPr>
          <a:xfrm rot="181980">
            <a:off x="5503955" y="3056296"/>
            <a:ext cx="522541"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1" name="AutoShape 21"/>
          <p:cNvSpPr/>
          <p:nvPr/>
        </p:nvSpPr>
        <p:spPr>
          <a:xfrm rot="113400">
            <a:off x="8812235" y="3056296"/>
            <a:ext cx="837981"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2" name="AutoShape 22"/>
          <p:cNvSpPr/>
          <p:nvPr/>
        </p:nvSpPr>
        <p:spPr>
          <a:xfrm rot="125760">
            <a:off x="2621451" y="6748786"/>
            <a:ext cx="755666"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3" name="AutoShape 23"/>
          <p:cNvSpPr/>
          <p:nvPr/>
        </p:nvSpPr>
        <p:spPr>
          <a:xfrm rot="209460">
            <a:off x="5517623" y="6748786"/>
            <a:ext cx="454019"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4" name="AutoShape 24"/>
          <p:cNvSpPr/>
          <p:nvPr/>
        </p:nvSpPr>
        <p:spPr>
          <a:xfrm rot="192060">
            <a:off x="8290455" y="6748786"/>
            <a:ext cx="495129"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5" name="AutoShape 25"/>
          <p:cNvSpPr/>
          <p:nvPr/>
        </p:nvSpPr>
        <p:spPr>
          <a:xfrm rot="209460">
            <a:off x="10994593" y="6748786"/>
            <a:ext cx="454019"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6" name="AutoShape 26"/>
          <p:cNvSpPr/>
          <p:nvPr/>
        </p:nvSpPr>
        <p:spPr>
          <a:xfrm rot="119280">
            <a:off x="14522539" y="6748786"/>
            <a:ext cx="796823"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27" name="AutoShape 27"/>
          <p:cNvSpPr/>
          <p:nvPr/>
        </p:nvSpPr>
        <p:spPr>
          <a:xfrm rot="5255100">
            <a:off x="10632424" y="3996576"/>
            <a:ext cx="588102" cy="0"/>
          </a:xfrm>
          <a:prstGeom prst="line">
            <a:avLst/>
          </a:prstGeom>
          <a:ln w="9525" cap="rnd">
            <a:solidFill>
              <a:srgbClr val="243B75"/>
            </a:solidFill>
            <a:prstDash val="solid"/>
            <a:headEnd type="none" w="sm" len="sm"/>
            <a:tailEnd type="none" w="sm" len="sm"/>
          </a:ln>
        </p:spPr>
        <p:txBody>
          <a:bodyPr/>
          <a:lstStyle/>
          <a:p>
            <a:endParaRPr lang="en-IN"/>
          </a:p>
        </p:txBody>
      </p:sp>
      <p:sp>
        <p:nvSpPr>
          <p:cNvPr id="28" name="AutoShape 28"/>
          <p:cNvSpPr/>
          <p:nvPr/>
        </p:nvSpPr>
        <p:spPr>
          <a:xfrm rot="10777680">
            <a:off x="7125462" y="4277973"/>
            <a:ext cx="3813439" cy="0"/>
          </a:xfrm>
          <a:prstGeom prst="line">
            <a:avLst/>
          </a:prstGeom>
          <a:ln w="9525" cap="rnd">
            <a:solidFill>
              <a:srgbClr val="243B75"/>
            </a:solidFill>
            <a:prstDash val="solid"/>
            <a:headEnd type="none" w="sm" len="sm"/>
            <a:tailEnd type="none" w="sm" len="sm"/>
          </a:ln>
        </p:spPr>
        <p:txBody>
          <a:bodyPr/>
          <a:lstStyle/>
          <a:p>
            <a:endParaRPr lang="en-IN"/>
          </a:p>
        </p:txBody>
      </p:sp>
      <p:sp>
        <p:nvSpPr>
          <p:cNvPr id="29" name="AutoShape 29"/>
          <p:cNvSpPr/>
          <p:nvPr/>
        </p:nvSpPr>
        <p:spPr>
          <a:xfrm rot="5352900">
            <a:off x="6233179" y="5170208"/>
            <a:ext cx="1809426" cy="0"/>
          </a:xfrm>
          <a:prstGeom prst="line">
            <a:avLst/>
          </a:prstGeom>
          <a:ln w="9525" cap="rnd">
            <a:solidFill>
              <a:srgbClr val="243B75"/>
            </a:solidFill>
            <a:prstDash val="solid"/>
            <a:headEnd type="none" w="sm" len="sm"/>
            <a:tailEnd type="triangle" w="lg" len="med"/>
          </a:ln>
        </p:spPr>
        <p:txBody>
          <a:bodyPr/>
          <a:lstStyle/>
          <a:p>
            <a:endParaRPr lang="en-IN"/>
          </a:p>
        </p:txBody>
      </p:sp>
      <p:sp>
        <p:nvSpPr>
          <p:cNvPr id="30" name="AutoShape 30"/>
          <p:cNvSpPr/>
          <p:nvPr/>
        </p:nvSpPr>
        <p:spPr>
          <a:xfrm rot="5202480">
            <a:off x="16299990" y="7634164"/>
            <a:ext cx="481422" cy="0"/>
          </a:xfrm>
          <a:prstGeom prst="line">
            <a:avLst/>
          </a:prstGeom>
          <a:ln w="9525" cap="rnd">
            <a:solidFill>
              <a:srgbClr val="243B75"/>
            </a:solidFill>
            <a:prstDash val="solid"/>
            <a:headEnd type="none" w="sm" len="sm"/>
            <a:tailEnd type="triangle" w="lg" len="med"/>
          </a:ln>
        </p:spPr>
        <p:txBody>
          <a:bodyPr/>
          <a:lstStyle/>
          <a:p>
            <a:endParaRPr lang="en-IN"/>
          </a:p>
        </p:txBody>
      </p:sp>
      <p:grpSp>
        <p:nvGrpSpPr>
          <p:cNvPr id="31" name="Group 31"/>
          <p:cNvGrpSpPr/>
          <p:nvPr/>
        </p:nvGrpSpPr>
        <p:grpSpPr>
          <a:xfrm>
            <a:off x="370046" y="2401605"/>
            <a:ext cx="2279780" cy="1318908"/>
            <a:chOff x="0" y="0"/>
            <a:chExt cx="3039707" cy="1758544"/>
          </a:xfrm>
        </p:grpSpPr>
        <p:sp>
          <p:nvSpPr>
            <p:cNvPr id="32" name="Freeform 32"/>
            <p:cNvSpPr/>
            <p:nvPr/>
          </p:nvSpPr>
          <p:spPr>
            <a:xfrm>
              <a:off x="0" y="0"/>
              <a:ext cx="3039745" cy="1758569"/>
            </a:xfrm>
            <a:custGeom>
              <a:avLst/>
              <a:gdLst/>
              <a:ahLst/>
              <a:cxnLst/>
              <a:rect l="l" t="t" r="r" b="b"/>
              <a:pathLst>
                <a:path w="3039745" h="1758569">
                  <a:moveTo>
                    <a:pt x="0" y="293116"/>
                  </a:moveTo>
                  <a:cubicBezTo>
                    <a:pt x="0" y="131191"/>
                    <a:pt x="131191" y="0"/>
                    <a:pt x="293116" y="0"/>
                  </a:cubicBezTo>
                  <a:lnTo>
                    <a:pt x="2746629" y="0"/>
                  </a:lnTo>
                  <a:cubicBezTo>
                    <a:pt x="2908554" y="0"/>
                    <a:pt x="3039745" y="131191"/>
                    <a:pt x="3039745" y="293116"/>
                  </a:cubicBezTo>
                  <a:lnTo>
                    <a:pt x="3039745" y="1465453"/>
                  </a:lnTo>
                  <a:cubicBezTo>
                    <a:pt x="3039745" y="1627378"/>
                    <a:pt x="2908554" y="1758569"/>
                    <a:pt x="2746629" y="1758569"/>
                  </a:cubicBezTo>
                  <a:lnTo>
                    <a:pt x="293116" y="1758569"/>
                  </a:lnTo>
                  <a:cubicBezTo>
                    <a:pt x="131191" y="1758569"/>
                    <a:pt x="0" y="1627378"/>
                    <a:pt x="0" y="1465453"/>
                  </a:cubicBezTo>
                  <a:close/>
                </a:path>
              </a:pathLst>
            </a:custGeom>
            <a:solidFill>
              <a:srgbClr val="FAF1D5"/>
            </a:solidFill>
            <a:ln w="28597" cap="sq">
              <a:solidFill>
                <a:srgbClr val="243B75"/>
              </a:solidFill>
              <a:prstDash val="solid"/>
              <a:miter/>
            </a:ln>
          </p:spPr>
          <p:txBody>
            <a:bodyPr/>
            <a:lstStyle/>
            <a:p>
              <a:endParaRPr lang="en-IN"/>
            </a:p>
          </p:txBody>
        </p:sp>
        <p:sp>
          <p:nvSpPr>
            <p:cNvPr id="33" name="TextBox 33"/>
            <p:cNvSpPr txBox="1"/>
            <p:nvPr/>
          </p:nvSpPr>
          <p:spPr>
            <a:xfrm>
              <a:off x="0" y="-19050"/>
              <a:ext cx="3039707" cy="1777594"/>
            </a:xfrm>
            <a:prstGeom prst="rect">
              <a:avLst/>
            </a:prstGeom>
          </p:spPr>
          <p:txBody>
            <a:bodyPr lIns="50800" tIns="50800" rIns="50800" bIns="50800" rtlCol="0" anchor="ctr"/>
            <a:lstStyle/>
            <a:p>
              <a:pPr algn="ctr">
                <a:lnSpc>
                  <a:spcPts val="2612"/>
                </a:lnSpc>
              </a:pPr>
              <a:r>
                <a:rPr lang="en-US" sz="2176" b="1">
                  <a:solidFill>
                    <a:srgbClr val="000000"/>
                  </a:solidFill>
                  <a:latin typeface="Times New Roman Bold"/>
                  <a:ea typeface="Times New Roman Bold"/>
                  <a:cs typeface="Times New Roman Bold"/>
                  <a:sym typeface="Times New Roman Bold"/>
                </a:rPr>
                <a:t>PostgreSQL</a:t>
              </a:r>
            </a:p>
            <a:p>
              <a:pPr algn="ctr">
                <a:lnSpc>
                  <a:spcPts val="1835"/>
                </a:lnSpc>
              </a:pPr>
              <a:r>
                <a:rPr lang="en-US" sz="1529">
                  <a:solidFill>
                    <a:srgbClr val="000000"/>
                  </a:solidFill>
                  <a:latin typeface="Times New Roman"/>
                  <a:ea typeface="Times New Roman"/>
                  <a:cs typeface="Times New Roman"/>
                  <a:sym typeface="Times New Roman"/>
                </a:rPr>
                <a:t>Rule definitions</a:t>
              </a:r>
            </a:p>
            <a:p>
              <a:pPr algn="ctr">
                <a:lnSpc>
                  <a:spcPts val="1835"/>
                </a:lnSpc>
              </a:pPr>
              <a:r>
                <a:rPr lang="en-US" sz="1529">
                  <a:solidFill>
                    <a:srgbClr val="000000"/>
                  </a:solidFill>
                  <a:latin typeface="Times New Roman"/>
                  <a:ea typeface="Times New Roman"/>
                  <a:cs typeface="Times New Roman"/>
                  <a:sym typeface="Times New Roman"/>
                </a:rPr>
                <a:t>+ metadata</a:t>
              </a:r>
            </a:p>
          </p:txBody>
        </p:sp>
      </p:grpSp>
      <p:grpSp>
        <p:nvGrpSpPr>
          <p:cNvPr id="34" name="Group 34"/>
          <p:cNvGrpSpPr/>
          <p:nvPr/>
        </p:nvGrpSpPr>
        <p:grpSpPr>
          <a:xfrm>
            <a:off x="370046" y="6066634"/>
            <a:ext cx="2279780" cy="1373819"/>
            <a:chOff x="0" y="0"/>
            <a:chExt cx="3039707" cy="1831759"/>
          </a:xfrm>
        </p:grpSpPr>
        <p:sp>
          <p:nvSpPr>
            <p:cNvPr id="35" name="Freeform 35"/>
            <p:cNvSpPr/>
            <p:nvPr/>
          </p:nvSpPr>
          <p:spPr>
            <a:xfrm>
              <a:off x="0" y="0"/>
              <a:ext cx="3039745" cy="1831721"/>
            </a:xfrm>
            <a:custGeom>
              <a:avLst/>
              <a:gdLst/>
              <a:ahLst/>
              <a:cxnLst/>
              <a:rect l="l" t="t" r="r" b="b"/>
              <a:pathLst>
                <a:path w="3039745" h="1831721">
                  <a:moveTo>
                    <a:pt x="0" y="305308"/>
                  </a:moveTo>
                  <a:cubicBezTo>
                    <a:pt x="0" y="136652"/>
                    <a:pt x="136652" y="0"/>
                    <a:pt x="305308" y="0"/>
                  </a:cubicBezTo>
                  <a:lnTo>
                    <a:pt x="2734437" y="0"/>
                  </a:lnTo>
                  <a:cubicBezTo>
                    <a:pt x="2903093" y="0"/>
                    <a:pt x="3039745" y="136652"/>
                    <a:pt x="3039745" y="305308"/>
                  </a:cubicBezTo>
                  <a:lnTo>
                    <a:pt x="3039745" y="1526413"/>
                  </a:lnTo>
                  <a:cubicBezTo>
                    <a:pt x="3039745" y="1695069"/>
                    <a:pt x="2903093" y="1831721"/>
                    <a:pt x="2734437" y="1831721"/>
                  </a:cubicBezTo>
                  <a:lnTo>
                    <a:pt x="305308" y="1831721"/>
                  </a:lnTo>
                  <a:cubicBezTo>
                    <a:pt x="136652" y="1831721"/>
                    <a:pt x="0" y="1695069"/>
                    <a:pt x="0" y="1526413"/>
                  </a:cubicBezTo>
                  <a:close/>
                </a:path>
              </a:pathLst>
            </a:custGeom>
            <a:solidFill>
              <a:srgbClr val="FAF1D5"/>
            </a:solidFill>
            <a:ln w="28597" cap="sq">
              <a:solidFill>
                <a:srgbClr val="243B75"/>
              </a:solidFill>
              <a:prstDash val="solid"/>
              <a:miter/>
            </a:ln>
          </p:spPr>
          <p:txBody>
            <a:bodyPr/>
            <a:lstStyle/>
            <a:p>
              <a:endParaRPr lang="en-IN"/>
            </a:p>
          </p:txBody>
        </p:sp>
        <p:sp>
          <p:nvSpPr>
            <p:cNvPr id="36" name="TextBox 36"/>
            <p:cNvSpPr txBox="1"/>
            <p:nvPr/>
          </p:nvSpPr>
          <p:spPr>
            <a:xfrm>
              <a:off x="0" y="-19050"/>
              <a:ext cx="3039707" cy="1850809"/>
            </a:xfrm>
            <a:prstGeom prst="rect">
              <a:avLst/>
            </a:prstGeom>
          </p:spPr>
          <p:txBody>
            <a:bodyPr lIns="50800" tIns="50800" rIns="50800" bIns="50800" rtlCol="0" anchor="ctr"/>
            <a:lstStyle/>
            <a:p>
              <a:pPr algn="ctr">
                <a:lnSpc>
                  <a:spcPts val="2287"/>
                </a:lnSpc>
              </a:pPr>
              <a:r>
                <a:rPr lang="en-US" sz="1906" b="1">
                  <a:solidFill>
                    <a:srgbClr val="000000"/>
                  </a:solidFill>
                  <a:latin typeface="Times New Roman Bold"/>
                  <a:ea typeface="Times New Roman Bold"/>
                  <a:cs typeface="Times New Roman Bold"/>
                  <a:sym typeface="Times New Roman Bold"/>
                </a:rPr>
                <a:t>Backend Detection</a:t>
              </a:r>
            </a:p>
            <a:p>
              <a:pPr algn="ctr">
                <a:lnSpc>
                  <a:spcPts val="2287"/>
                </a:lnSpc>
              </a:pPr>
              <a:r>
                <a:rPr lang="en-US" sz="1906" b="1">
                  <a:solidFill>
                    <a:srgbClr val="000000"/>
                  </a:solidFill>
                  <a:latin typeface="Times New Roman Bold"/>
                  <a:ea typeface="Times New Roman Bold"/>
                  <a:cs typeface="Times New Roman Bold"/>
                  <a:sym typeface="Times New Roman Bold"/>
                </a:rPr>
                <a:t>Pipeline</a:t>
              </a:r>
            </a:p>
            <a:p>
              <a:pPr algn="ctr">
                <a:lnSpc>
                  <a:spcPts val="1745"/>
                </a:lnSpc>
              </a:pPr>
              <a:r>
                <a:rPr lang="en-US" sz="1454">
                  <a:solidFill>
                    <a:srgbClr val="000000"/>
                  </a:solidFill>
                  <a:latin typeface="Times New Roman"/>
                  <a:ea typeface="Times New Roman"/>
                  <a:cs typeface="Times New Roman"/>
                  <a:sym typeface="Times New Roman"/>
                </a:rPr>
                <a:t>Normalized OCSF events</a:t>
              </a:r>
            </a:p>
          </p:txBody>
        </p:sp>
      </p:grpSp>
      <p:grpSp>
        <p:nvGrpSpPr>
          <p:cNvPr id="37" name="Group 37"/>
          <p:cNvGrpSpPr/>
          <p:nvPr/>
        </p:nvGrpSpPr>
        <p:grpSpPr>
          <a:xfrm>
            <a:off x="15290997" y="6066634"/>
            <a:ext cx="2609221" cy="1360094"/>
            <a:chOff x="0" y="0"/>
            <a:chExt cx="3478962" cy="1813458"/>
          </a:xfrm>
        </p:grpSpPr>
        <p:sp>
          <p:nvSpPr>
            <p:cNvPr id="38" name="Freeform 38"/>
            <p:cNvSpPr/>
            <p:nvPr/>
          </p:nvSpPr>
          <p:spPr>
            <a:xfrm>
              <a:off x="0" y="0"/>
              <a:ext cx="3478911" cy="1813433"/>
            </a:xfrm>
            <a:custGeom>
              <a:avLst/>
              <a:gdLst/>
              <a:ahLst/>
              <a:cxnLst/>
              <a:rect l="l" t="t" r="r" b="b"/>
              <a:pathLst>
                <a:path w="3478911" h="1813433">
                  <a:moveTo>
                    <a:pt x="0" y="302260"/>
                  </a:moveTo>
                  <a:cubicBezTo>
                    <a:pt x="0" y="135382"/>
                    <a:pt x="135382" y="0"/>
                    <a:pt x="302260" y="0"/>
                  </a:cubicBezTo>
                  <a:lnTo>
                    <a:pt x="3176651" y="0"/>
                  </a:lnTo>
                  <a:cubicBezTo>
                    <a:pt x="3343529" y="0"/>
                    <a:pt x="3478911" y="135382"/>
                    <a:pt x="3478911" y="302260"/>
                  </a:cubicBezTo>
                  <a:lnTo>
                    <a:pt x="3478911" y="1511173"/>
                  </a:lnTo>
                  <a:cubicBezTo>
                    <a:pt x="3478911" y="1678051"/>
                    <a:pt x="3343529" y="1813433"/>
                    <a:pt x="3176651" y="1813433"/>
                  </a:cubicBezTo>
                  <a:lnTo>
                    <a:pt x="302260" y="1813433"/>
                  </a:lnTo>
                  <a:cubicBezTo>
                    <a:pt x="135382" y="1813433"/>
                    <a:pt x="0" y="1678051"/>
                    <a:pt x="0" y="1511173"/>
                  </a:cubicBezTo>
                  <a:close/>
                </a:path>
              </a:pathLst>
            </a:custGeom>
            <a:solidFill>
              <a:srgbClr val="FAF1D5"/>
            </a:solidFill>
            <a:ln w="28597" cap="sq">
              <a:solidFill>
                <a:srgbClr val="243B75"/>
              </a:solidFill>
              <a:prstDash val="solid"/>
              <a:miter/>
            </a:ln>
          </p:spPr>
          <p:txBody>
            <a:bodyPr/>
            <a:lstStyle/>
            <a:p>
              <a:endParaRPr lang="en-IN"/>
            </a:p>
          </p:txBody>
        </p:sp>
        <p:sp>
          <p:nvSpPr>
            <p:cNvPr id="39" name="TextBox 39"/>
            <p:cNvSpPr txBox="1"/>
            <p:nvPr/>
          </p:nvSpPr>
          <p:spPr>
            <a:xfrm>
              <a:off x="0" y="-19050"/>
              <a:ext cx="3478962" cy="1832508"/>
            </a:xfrm>
            <a:prstGeom prst="rect">
              <a:avLst/>
            </a:prstGeom>
          </p:spPr>
          <p:txBody>
            <a:bodyPr lIns="50800" tIns="50800" rIns="50800" bIns="50800" rtlCol="0" anchor="ctr"/>
            <a:lstStyle/>
            <a:p>
              <a:pPr algn="ctr">
                <a:lnSpc>
                  <a:spcPts val="2377"/>
                </a:lnSpc>
              </a:pPr>
              <a:r>
                <a:rPr lang="en-US" sz="1981" b="1">
                  <a:solidFill>
                    <a:srgbClr val="000000"/>
                  </a:solidFill>
                  <a:latin typeface="Times New Roman Bold"/>
                  <a:ea typeface="Times New Roman Bold"/>
                  <a:cs typeface="Times New Roman Bold"/>
                  <a:sym typeface="Times New Roman Bold"/>
                </a:rPr>
                <a:t>Incident Correlator</a:t>
              </a:r>
            </a:p>
            <a:p>
              <a:pPr algn="ctr">
                <a:lnSpc>
                  <a:spcPts val="1855"/>
                </a:lnSpc>
              </a:pPr>
              <a:r>
                <a:rPr lang="en-US" sz="1546">
                  <a:solidFill>
                    <a:srgbClr val="000000"/>
                  </a:solidFill>
                  <a:latin typeface="Times New Roman"/>
                  <a:ea typeface="Times New Roman"/>
                  <a:cs typeface="Times New Roman"/>
                  <a:sym typeface="Times New Roman"/>
                </a:rPr>
                <a:t>Consumes RuleAlert[]</a:t>
              </a:r>
            </a:p>
          </p:txBody>
        </p:sp>
      </p:grpSp>
      <p:grpSp>
        <p:nvGrpSpPr>
          <p:cNvPr id="40" name="Group 40"/>
          <p:cNvGrpSpPr/>
          <p:nvPr/>
        </p:nvGrpSpPr>
        <p:grpSpPr>
          <a:xfrm>
            <a:off x="15290997" y="7851115"/>
            <a:ext cx="2609221" cy="1099280"/>
            <a:chOff x="0" y="0"/>
            <a:chExt cx="3478962" cy="1465707"/>
          </a:xfrm>
        </p:grpSpPr>
        <p:sp>
          <p:nvSpPr>
            <p:cNvPr id="41" name="Freeform 41"/>
            <p:cNvSpPr/>
            <p:nvPr/>
          </p:nvSpPr>
          <p:spPr>
            <a:xfrm>
              <a:off x="0" y="0"/>
              <a:ext cx="3479038" cy="1465707"/>
            </a:xfrm>
            <a:custGeom>
              <a:avLst/>
              <a:gdLst/>
              <a:ahLst/>
              <a:cxnLst/>
              <a:rect l="l" t="t" r="r" b="b"/>
              <a:pathLst>
                <a:path w="3479038" h="1465707">
                  <a:moveTo>
                    <a:pt x="0" y="244348"/>
                  </a:moveTo>
                  <a:cubicBezTo>
                    <a:pt x="0" y="109347"/>
                    <a:pt x="109347" y="0"/>
                    <a:pt x="244348" y="0"/>
                  </a:cubicBezTo>
                  <a:lnTo>
                    <a:pt x="3234690" y="0"/>
                  </a:lnTo>
                  <a:cubicBezTo>
                    <a:pt x="3369564" y="0"/>
                    <a:pt x="3479038" y="109347"/>
                    <a:pt x="3479038" y="244348"/>
                  </a:cubicBezTo>
                  <a:lnTo>
                    <a:pt x="3479038" y="1221359"/>
                  </a:lnTo>
                  <a:cubicBezTo>
                    <a:pt x="3479038" y="1356233"/>
                    <a:pt x="3369691" y="1465707"/>
                    <a:pt x="3234690" y="1465707"/>
                  </a:cubicBezTo>
                  <a:lnTo>
                    <a:pt x="244348" y="1465707"/>
                  </a:lnTo>
                  <a:cubicBezTo>
                    <a:pt x="109347" y="1465707"/>
                    <a:pt x="0" y="1356360"/>
                    <a:pt x="0" y="1221359"/>
                  </a:cubicBezTo>
                  <a:close/>
                </a:path>
              </a:pathLst>
            </a:custGeom>
            <a:solidFill>
              <a:srgbClr val="FAF1D5"/>
            </a:solidFill>
            <a:ln w="28597" cap="sq">
              <a:solidFill>
                <a:srgbClr val="243B75"/>
              </a:solidFill>
              <a:prstDash val="solid"/>
              <a:miter/>
            </a:ln>
          </p:spPr>
          <p:txBody>
            <a:bodyPr/>
            <a:lstStyle/>
            <a:p>
              <a:endParaRPr lang="en-IN"/>
            </a:p>
          </p:txBody>
        </p:sp>
        <p:sp>
          <p:nvSpPr>
            <p:cNvPr id="42" name="TextBox 42"/>
            <p:cNvSpPr txBox="1"/>
            <p:nvPr/>
          </p:nvSpPr>
          <p:spPr>
            <a:xfrm>
              <a:off x="0" y="-19050"/>
              <a:ext cx="3478962" cy="1484757"/>
            </a:xfrm>
            <a:prstGeom prst="rect">
              <a:avLst/>
            </a:prstGeom>
          </p:spPr>
          <p:txBody>
            <a:bodyPr lIns="50800" tIns="50800" rIns="50800" bIns="50800" rtlCol="0" anchor="ctr"/>
            <a:lstStyle/>
            <a:p>
              <a:pPr algn="ctr">
                <a:lnSpc>
                  <a:spcPts val="2377"/>
                </a:lnSpc>
              </a:pPr>
              <a:r>
                <a:rPr lang="en-US" sz="1981" b="1">
                  <a:solidFill>
                    <a:srgbClr val="000000"/>
                  </a:solidFill>
                  <a:latin typeface="Times New Roman Bold"/>
                  <a:ea typeface="Times New Roman Bold"/>
                  <a:cs typeface="Times New Roman Bold"/>
                  <a:sym typeface="Times New Roman Bold"/>
                </a:rPr>
                <a:t>SOC / REST API</a:t>
              </a:r>
            </a:p>
            <a:p>
              <a:pPr algn="ctr">
                <a:lnSpc>
                  <a:spcPts val="1801"/>
                </a:lnSpc>
              </a:pPr>
              <a:r>
                <a:rPr lang="en-US" sz="1501">
                  <a:solidFill>
                    <a:srgbClr val="000000"/>
                  </a:solidFill>
                  <a:latin typeface="Times New Roman"/>
                  <a:ea typeface="Times New Roman"/>
                  <a:cs typeface="Times New Roman"/>
                  <a:sym typeface="Times New Roman"/>
                </a:rPr>
                <a:t>Alert and rule status</a:t>
              </a:r>
            </a:p>
          </p:txBody>
        </p:sp>
      </p:grpSp>
      <p:grpSp>
        <p:nvGrpSpPr>
          <p:cNvPr id="43" name="Group 43"/>
          <p:cNvGrpSpPr/>
          <p:nvPr/>
        </p:nvGrpSpPr>
        <p:grpSpPr>
          <a:xfrm>
            <a:off x="3348752" y="2415330"/>
            <a:ext cx="2183692" cy="1318908"/>
            <a:chOff x="0" y="0"/>
            <a:chExt cx="2911589" cy="1758544"/>
          </a:xfrm>
        </p:grpSpPr>
        <p:sp>
          <p:nvSpPr>
            <p:cNvPr id="44" name="Freeform 44"/>
            <p:cNvSpPr/>
            <p:nvPr/>
          </p:nvSpPr>
          <p:spPr>
            <a:xfrm>
              <a:off x="0" y="0"/>
              <a:ext cx="2911602" cy="1758569"/>
            </a:xfrm>
            <a:custGeom>
              <a:avLst/>
              <a:gdLst/>
              <a:ahLst/>
              <a:cxnLst/>
              <a:rect l="l" t="t" r="r" b="b"/>
              <a:pathLst>
                <a:path w="2911602" h="1758569">
                  <a:moveTo>
                    <a:pt x="0" y="293116"/>
                  </a:moveTo>
                  <a:cubicBezTo>
                    <a:pt x="0" y="131191"/>
                    <a:pt x="131191" y="0"/>
                    <a:pt x="293116" y="0"/>
                  </a:cubicBezTo>
                  <a:lnTo>
                    <a:pt x="2618486" y="0"/>
                  </a:lnTo>
                  <a:cubicBezTo>
                    <a:pt x="2780411" y="0"/>
                    <a:pt x="2911602" y="131191"/>
                    <a:pt x="2911602" y="293116"/>
                  </a:cubicBezTo>
                  <a:lnTo>
                    <a:pt x="2911602" y="1465453"/>
                  </a:lnTo>
                  <a:cubicBezTo>
                    <a:pt x="2911602" y="1627378"/>
                    <a:pt x="2780411" y="1758569"/>
                    <a:pt x="2618486" y="1758569"/>
                  </a:cubicBezTo>
                  <a:lnTo>
                    <a:pt x="293116" y="1758569"/>
                  </a:lnTo>
                  <a:cubicBezTo>
                    <a:pt x="131191" y="1758569"/>
                    <a:pt x="0" y="1627378"/>
                    <a:pt x="0" y="1465453"/>
                  </a:cubicBezTo>
                  <a:close/>
                </a:path>
              </a:pathLst>
            </a:custGeom>
            <a:solidFill>
              <a:srgbClr val="FAF1D5"/>
            </a:solidFill>
            <a:ln w="28597" cap="sq">
              <a:solidFill>
                <a:srgbClr val="243B75"/>
              </a:solidFill>
              <a:prstDash val="solid"/>
              <a:miter/>
            </a:ln>
          </p:spPr>
          <p:txBody>
            <a:bodyPr/>
            <a:lstStyle/>
            <a:p>
              <a:endParaRPr lang="en-IN"/>
            </a:p>
          </p:txBody>
        </p:sp>
        <p:sp>
          <p:nvSpPr>
            <p:cNvPr id="45" name="TextBox 45"/>
            <p:cNvSpPr txBox="1"/>
            <p:nvPr/>
          </p:nvSpPr>
          <p:spPr>
            <a:xfrm>
              <a:off x="0" y="-9525"/>
              <a:ext cx="2911589" cy="1768069"/>
            </a:xfrm>
            <a:prstGeom prst="rect">
              <a:avLst/>
            </a:prstGeom>
          </p:spPr>
          <p:txBody>
            <a:bodyPr lIns="50800" tIns="50800" rIns="50800" bIns="50800" rtlCol="0" anchor="ctr"/>
            <a:lstStyle/>
            <a:p>
              <a:pPr algn="ctr">
                <a:lnSpc>
                  <a:spcPts val="2485"/>
                </a:lnSpc>
              </a:pPr>
              <a:r>
                <a:rPr lang="en-US" sz="2071" b="1">
                  <a:solidFill>
                    <a:srgbClr val="000000"/>
                  </a:solidFill>
                  <a:latin typeface="Times New Roman Bold"/>
                  <a:ea typeface="Times New Roman Bold"/>
                  <a:cs typeface="Times New Roman Bold"/>
                  <a:sym typeface="Times New Roman Bold"/>
                </a:rPr>
                <a:t>Rule Loader</a:t>
              </a:r>
            </a:p>
            <a:p>
              <a:pPr algn="ctr">
                <a:lnSpc>
                  <a:spcPts val="1835"/>
                </a:lnSpc>
              </a:pPr>
              <a:r>
                <a:rPr lang="en-US" sz="1529">
                  <a:solidFill>
                    <a:srgbClr val="000000"/>
                  </a:solidFill>
                  <a:latin typeface="Times New Roman"/>
                  <a:ea typeface="Times New Roman"/>
                  <a:cs typeface="Times New Roman"/>
                  <a:sym typeface="Times New Roman"/>
                </a:rPr>
                <a:t>Startup load</a:t>
              </a:r>
            </a:p>
            <a:p>
              <a:pPr algn="ctr">
                <a:lnSpc>
                  <a:spcPts val="1835"/>
                </a:lnSpc>
              </a:pPr>
              <a:r>
                <a:rPr lang="en-US" sz="1529">
                  <a:solidFill>
                    <a:srgbClr val="000000"/>
                  </a:solidFill>
                  <a:latin typeface="Times New Roman"/>
                  <a:ea typeface="Times New Roman"/>
                  <a:cs typeface="Times New Roman"/>
                  <a:sym typeface="Times New Roman"/>
                </a:rPr>
                <a:t>+ hot reload</a:t>
              </a:r>
            </a:p>
          </p:txBody>
        </p:sp>
      </p:grpSp>
      <p:grpSp>
        <p:nvGrpSpPr>
          <p:cNvPr id="46" name="Group 46"/>
          <p:cNvGrpSpPr/>
          <p:nvPr/>
        </p:nvGrpSpPr>
        <p:grpSpPr>
          <a:xfrm>
            <a:off x="5998007" y="2415330"/>
            <a:ext cx="2842574" cy="1318908"/>
            <a:chOff x="0" y="0"/>
            <a:chExt cx="3790099" cy="1758544"/>
          </a:xfrm>
        </p:grpSpPr>
        <p:sp>
          <p:nvSpPr>
            <p:cNvPr id="47" name="Freeform 47"/>
            <p:cNvSpPr/>
            <p:nvPr/>
          </p:nvSpPr>
          <p:spPr>
            <a:xfrm>
              <a:off x="0" y="0"/>
              <a:ext cx="3790061" cy="1758569"/>
            </a:xfrm>
            <a:custGeom>
              <a:avLst/>
              <a:gdLst/>
              <a:ahLst/>
              <a:cxnLst/>
              <a:rect l="l" t="t" r="r" b="b"/>
              <a:pathLst>
                <a:path w="3790061" h="1758569">
                  <a:moveTo>
                    <a:pt x="0" y="293116"/>
                  </a:moveTo>
                  <a:cubicBezTo>
                    <a:pt x="0" y="131191"/>
                    <a:pt x="131191" y="0"/>
                    <a:pt x="293116" y="0"/>
                  </a:cubicBezTo>
                  <a:lnTo>
                    <a:pt x="3496945" y="0"/>
                  </a:lnTo>
                  <a:cubicBezTo>
                    <a:pt x="3658870" y="0"/>
                    <a:pt x="3790061" y="131191"/>
                    <a:pt x="3790061" y="293116"/>
                  </a:cubicBezTo>
                  <a:lnTo>
                    <a:pt x="3790061" y="1465453"/>
                  </a:lnTo>
                  <a:cubicBezTo>
                    <a:pt x="3790061" y="1627378"/>
                    <a:pt x="3658870" y="1758569"/>
                    <a:pt x="3496945" y="1758569"/>
                  </a:cubicBezTo>
                  <a:lnTo>
                    <a:pt x="293116" y="1758569"/>
                  </a:lnTo>
                  <a:cubicBezTo>
                    <a:pt x="131191" y="1758569"/>
                    <a:pt x="0" y="1627378"/>
                    <a:pt x="0" y="1465453"/>
                  </a:cubicBezTo>
                  <a:close/>
                </a:path>
              </a:pathLst>
            </a:custGeom>
            <a:solidFill>
              <a:srgbClr val="FAF1D5"/>
            </a:solidFill>
            <a:ln w="28597" cap="sq">
              <a:solidFill>
                <a:srgbClr val="243B75"/>
              </a:solidFill>
              <a:prstDash val="solid"/>
              <a:miter/>
            </a:ln>
          </p:spPr>
          <p:txBody>
            <a:bodyPr/>
            <a:lstStyle/>
            <a:p>
              <a:endParaRPr lang="en-IN"/>
            </a:p>
          </p:txBody>
        </p:sp>
        <p:sp>
          <p:nvSpPr>
            <p:cNvPr id="48" name="TextBox 48"/>
            <p:cNvSpPr txBox="1"/>
            <p:nvPr/>
          </p:nvSpPr>
          <p:spPr>
            <a:xfrm>
              <a:off x="0" y="-19050"/>
              <a:ext cx="3790099" cy="1777594"/>
            </a:xfrm>
            <a:prstGeom prst="rect">
              <a:avLst/>
            </a:prstGeom>
          </p:spPr>
          <p:txBody>
            <a:bodyPr lIns="50800" tIns="50800" rIns="50800" bIns="50800" rtlCol="0" anchor="ctr"/>
            <a:lstStyle/>
            <a:p>
              <a:pPr algn="ctr">
                <a:lnSpc>
                  <a:spcPts val="2521"/>
                </a:lnSpc>
              </a:pPr>
              <a:r>
                <a:rPr lang="en-US" sz="2101" b="1">
                  <a:solidFill>
                    <a:srgbClr val="000000"/>
                  </a:solidFill>
                  <a:latin typeface="Times New Roman Bold"/>
                  <a:ea typeface="Times New Roman Bold"/>
                  <a:cs typeface="Times New Roman Bold"/>
                  <a:sym typeface="Times New Roman Bold"/>
                </a:rPr>
                <a:t>Rule Compiler</a:t>
              </a:r>
            </a:p>
            <a:p>
              <a:pPr algn="ctr">
                <a:lnSpc>
                  <a:spcPts val="1801"/>
                </a:lnSpc>
              </a:pPr>
              <a:r>
                <a:rPr lang="en-US" sz="1501">
                  <a:solidFill>
                    <a:srgbClr val="000000"/>
                  </a:solidFill>
                  <a:latin typeface="Times New Roman"/>
                  <a:ea typeface="Times New Roman"/>
                  <a:cs typeface="Times New Roman"/>
                  <a:sym typeface="Times New Roman"/>
                </a:rPr>
                <a:t>Parse YAML, build AST,</a:t>
              </a:r>
            </a:p>
            <a:p>
              <a:pPr algn="ctr">
                <a:lnSpc>
                  <a:spcPts val="1801"/>
                </a:lnSpc>
              </a:pPr>
              <a:r>
                <a:rPr lang="en-US" sz="1501">
                  <a:solidFill>
                    <a:srgbClr val="000000"/>
                  </a:solidFill>
                  <a:latin typeface="Times New Roman"/>
                  <a:ea typeface="Times New Roman"/>
                  <a:cs typeface="Times New Roman"/>
                  <a:sym typeface="Times New Roman"/>
                </a:rPr>
                <a:t>validate and compile</a:t>
              </a:r>
            </a:p>
          </p:txBody>
        </p:sp>
      </p:grpSp>
      <p:grpSp>
        <p:nvGrpSpPr>
          <p:cNvPr id="49" name="Group 49"/>
          <p:cNvGrpSpPr/>
          <p:nvPr/>
        </p:nvGrpSpPr>
        <p:grpSpPr>
          <a:xfrm>
            <a:off x="9621860" y="2415330"/>
            <a:ext cx="2622947" cy="1318908"/>
            <a:chOff x="0" y="0"/>
            <a:chExt cx="3497262" cy="1758544"/>
          </a:xfrm>
        </p:grpSpPr>
        <p:sp>
          <p:nvSpPr>
            <p:cNvPr id="50" name="Freeform 50"/>
            <p:cNvSpPr/>
            <p:nvPr/>
          </p:nvSpPr>
          <p:spPr>
            <a:xfrm>
              <a:off x="0" y="0"/>
              <a:ext cx="3497326" cy="1758569"/>
            </a:xfrm>
            <a:custGeom>
              <a:avLst/>
              <a:gdLst/>
              <a:ahLst/>
              <a:cxnLst/>
              <a:rect l="l" t="t" r="r" b="b"/>
              <a:pathLst>
                <a:path w="3497326" h="1758569">
                  <a:moveTo>
                    <a:pt x="0" y="293116"/>
                  </a:moveTo>
                  <a:cubicBezTo>
                    <a:pt x="0" y="131191"/>
                    <a:pt x="131191" y="0"/>
                    <a:pt x="293116" y="0"/>
                  </a:cubicBezTo>
                  <a:lnTo>
                    <a:pt x="3204210" y="0"/>
                  </a:lnTo>
                  <a:cubicBezTo>
                    <a:pt x="3366135" y="0"/>
                    <a:pt x="3497326" y="131191"/>
                    <a:pt x="3497326" y="293116"/>
                  </a:cubicBezTo>
                  <a:lnTo>
                    <a:pt x="3497326" y="1465453"/>
                  </a:lnTo>
                  <a:cubicBezTo>
                    <a:pt x="3497326" y="1627378"/>
                    <a:pt x="3366135" y="1758569"/>
                    <a:pt x="3204210" y="1758569"/>
                  </a:cubicBezTo>
                  <a:lnTo>
                    <a:pt x="293116" y="1758569"/>
                  </a:lnTo>
                  <a:cubicBezTo>
                    <a:pt x="131191" y="1758569"/>
                    <a:pt x="0" y="1627378"/>
                    <a:pt x="0" y="1465453"/>
                  </a:cubicBezTo>
                  <a:close/>
                </a:path>
              </a:pathLst>
            </a:custGeom>
            <a:solidFill>
              <a:srgbClr val="FAF1D5"/>
            </a:solidFill>
            <a:ln w="28597" cap="sq">
              <a:solidFill>
                <a:srgbClr val="243B75"/>
              </a:solidFill>
              <a:prstDash val="solid"/>
              <a:miter/>
            </a:ln>
          </p:spPr>
          <p:txBody>
            <a:bodyPr/>
            <a:lstStyle/>
            <a:p>
              <a:endParaRPr lang="en-IN"/>
            </a:p>
          </p:txBody>
        </p:sp>
        <p:sp>
          <p:nvSpPr>
            <p:cNvPr id="51" name="TextBox 51"/>
            <p:cNvSpPr txBox="1"/>
            <p:nvPr/>
          </p:nvSpPr>
          <p:spPr>
            <a:xfrm>
              <a:off x="0" y="-19050"/>
              <a:ext cx="3497262" cy="1777594"/>
            </a:xfrm>
            <a:prstGeom prst="rect">
              <a:avLst/>
            </a:prstGeom>
          </p:spPr>
          <p:txBody>
            <a:bodyPr lIns="50800" tIns="50800" rIns="50800" bIns="50800" rtlCol="0" anchor="ctr"/>
            <a:lstStyle/>
            <a:p>
              <a:pPr algn="ctr">
                <a:lnSpc>
                  <a:spcPts val="2305"/>
                </a:lnSpc>
              </a:pPr>
              <a:r>
                <a:rPr lang="en-US" sz="1921" b="1">
                  <a:solidFill>
                    <a:srgbClr val="000000"/>
                  </a:solidFill>
                  <a:latin typeface="Times New Roman Bold"/>
                  <a:ea typeface="Times New Roman Bold"/>
                  <a:cs typeface="Times New Roman Bold"/>
                  <a:sym typeface="Times New Roman Bold"/>
                </a:rPr>
                <a:t>Compiled Rule Cache</a:t>
              </a:r>
            </a:p>
            <a:p>
              <a:pPr algn="ctr">
                <a:lnSpc>
                  <a:spcPts val="1765"/>
                </a:lnSpc>
              </a:pPr>
              <a:r>
                <a:rPr lang="en-US" sz="1471">
                  <a:solidFill>
                    <a:srgbClr val="000000"/>
                  </a:solidFill>
                  <a:latin typeface="Times New Roman"/>
                  <a:ea typeface="Times New Roman"/>
                  <a:cs typeface="Times New Roman"/>
                  <a:sym typeface="Times New Roman"/>
                </a:rPr>
                <a:t>Compiled predicates</a:t>
              </a:r>
            </a:p>
            <a:p>
              <a:pPr algn="ctr">
                <a:lnSpc>
                  <a:spcPts val="1765"/>
                </a:lnSpc>
              </a:pPr>
              <a:r>
                <a:rPr lang="en-US" sz="1471">
                  <a:solidFill>
                    <a:srgbClr val="000000"/>
                  </a:solidFill>
                  <a:latin typeface="Times New Roman"/>
                  <a:ea typeface="Times New Roman"/>
                  <a:cs typeface="Times New Roman"/>
                  <a:sym typeface="Times New Roman"/>
                </a:rPr>
                <a:t>+ class/priority indexes</a:t>
              </a:r>
            </a:p>
          </p:txBody>
        </p:sp>
      </p:grpSp>
      <p:grpSp>
        <p:nvGrpSpPr>
          <p:cNvPr id="52" name="Group 52"/>
          <p:cNvGrpSpPr/>
          <p:nvPr/>
        </p:nvGrpSpPr>
        <p:grpSpPr>
          <a:xfrm>
            <a:off x="3348752" y="6052909"/>
            <a:ext cx="2197417" cy="1401270"/>
            <a:chOff x="0" y="0"/>
            <a:chExt cx="2929890" cy="1868360"/>
          </a:xfrm>
        </p:grpSpPr>
        <p:sp>
          <p:nvSpPr>
            <p:cNvPr id="53" name="Freeform 53"/>
            <p:cNvSpPr/>
            <p:nvPr/>
          </p:nvSpPr>
          <p:spPr>
            <a:xfrm>
              <a:off x="0" y="0"/>
              <a:ext cx="2929890" cy="1868424"/>
            </a:xfrm>
            <a:custGeom>
              <a:avLst/>
              <a:gdLst/>
              <a:ahLst/>
              <a:cxnLst/>
              <a:rect l="l" t="t" r="r" b="b"/>
              <a:pathLst>
                <a:path w="2929890" h="1868424">
                  <a:moveTo>
                    <a:pt x="0" y="311404"/>
                  </a:moveTo>
                  <a:cubicBezTo>
                    <a:pt x="0" y="139446"/>
                    <a:pt x="139446" y="0"/>
                    <a:pt x="311404" y="0"/>
                  </a:cubicBezTo>
                  <a:lnTo>
                    <a:pt x="2618486" y="0"/>
                  </a:lnTo>
                  <a:cubicBezTo>
                    <a:pt x="2790444" y="0"/>
                    <a:pt x="2929890" y="139446"/>
                    <a:pt x="2929890" y="311404"/>
                  </a:cubicBezTo>
                  <a:lnTo>
                    <a:pt x="2929890" y="1557020"/>
                  </a:lnTo>
                  <a:cubicBezTo>
                    <a:pt x="2929890" y="1728978"/>
                    <a:pt x="2790444" y="1868424"/>
                    <a:pt x="2618486" y="1868424"/>
                  </a:cubicBezTo>
                  <a:lnTo>
                    <a:pt x="311404" y="1868424"/>
                  </a:lnTo>
                  <a:cubicBezTo>
                    <a:pt x="139446" y="1868297"/>
                    <a:pt x="0" y="1728978"/>
                    <a:pt x="0" y="1557020"/>
                  </a:cubicBezTo>
                  <a:close/>
                </a:path>
              </a:pathLst>
            </a:custGeom>
            <a:solidFill>
              <a:srgbClr val="FAF1D5"/>
            </a:solidFill>
            <a:ln w="28597" cap="sq">
              <a:solidFill>
                <a:srgbClr val="243B75"/>
              </a:solidFill>
              <a:prstDash val="solid"/>
              <a:miter/>
            </a:ln>
          </p:spPr>
          <p:txBody>
            <a:bodyPr/>
            <a:lstStyle/>
            <a:p>
              <a:endParaRPr lang="en-IN"/>
            </a:p>
          </p:txBody>
        </p:sp>
        <p:sp>
          <p:nvSpPr>
            <p:cNvPr id="54" name="TextBox 54"/>
            <p:cNvSpPr txBox="1"/>
            <p:nvPr/>
          </p:nvSpPr>
          <p:spPr>
            <a:xfrm>
              <a:off x="0" y="-19050"/>
              <a:ext cx="2929890" cy="1887410"/>
            </a:xfrm>
            <a:prstGeom prst="rect">
              <a:avLst/>
            </a:prstGeom>
          </p:spPr>
          <p:txBody>
            <a:bodyPr lIns="50800" tIns="50800" rIns="50800" bIns="50800" rtlCol="0" anchor="ctr"/>
            <a:lstStyle/>
            <a:p>
              <a:pPr algn="ctr">
                <a:lnSpc>
                  <a:spcPts val="2305"/>
                </a:lnSpc>
              </a:pPr>
              <a:r>
                <a:rPr lang="en-US" sz="1921" b="1">
                  <a:solidFill>
                    <a:srgbClr val="000000"/>
                  </a:solidFill>
                  <a:latin typeface="Times New Roman Bold"/>
                  <a:ea typeface="Times New Roman Bold"/>
                  <a:cs typeface="Times New Roman Bold"/>
                  <a:sym typeface="Times New Roman Bold"/>
                </a:rPr>
                <a:t>Event Dispatcher</a:t>
              </a:r>
            </a:p>
            <a:p>
              <a:pPr algn="ctr">
                <a:lnSpc>
                  <a:spcPts val="1801"/>
                </a:lnSpc>
              </a:pPr>
              <a:r>
                <a:rPr lang="en-US" sz="1501">
                  <a:solidFill>
                    <a:srgbClr val="000000"/>
                  </a:solidFill>
                  <a:latin typeface="Times New Roman"/>
                  <a:ea typeface="Times New Roman"/>
                  <a:cs typeface="Times New Roman"/>
                  <a:sym typeface="Times New Roman"/>
                </a:rPr>
                <a:t>Select applicable</a:t>
              </a:r>
            </a:p>
            <a:p>
              <a:pPr algn="ctr">
                <a:lnSpc>
                  <a:spcPts val="1801"/>
                </a:lnSpc>
              </a:pPr>
              <a:r>
                <a:rPr lang="en-US" sz="1501">
                  <a:solidFill>
                    <a:srgbClr val="000000"/>
                  </a:solidFill>
                  <a:latin typeface="Times New Roman"/>
                  <a:ea typeface="Times New Roman"/>
                  <a:cs typeface="Times New Roman"/>
                  <a:sym typeface="Times New Roman"/>
                </a:rPr>
                <a:t>compiled rules</a:t>
              </a:r>
            </a:p>
          </p:txBody>
        </p:sp>
      </p:grpSp>
      <p:grpSp>
        <p:nvGrpSpPr>
          <p:cNvPr id="55" name="Group 55"/>
          <p:cNvGrpSpPr/>
          <p:nvPr/>
        </p:nvGrpSpPr>
        <p:grpSpPr>
          <a:xfrm>
            <a:off x="5943095" y="6052909"/>
            <a:ext cx="2375868" cy="1401270"/>
            <a:chOff x="0" y="0"/>
            <a:chExt cx="3167824" cy="1868360"/>
          </a:xfrm>
        </p:grpSpPr>
        <p:sp>
          <p:nvSpPr>
            <p:cNvPr id="56" name="Freeform 56"/>
            <p:cNvSpPr/>
            <p:nvPr/>
          </p:nvSpPr>
          <p:spPr>
            <a:xfrm>
              <a:off x="0" y="0"/>
              <a:ext cx="3167888" cy="1868424"/>
            </a:xfrm>
            <a:custGeom>
              <a:avLst/>
              <a:gdLst/>
              <a:ahLst/>
              <a:cxnLst/>
              <a:rect l="l" t="t" r="r" b="b"/>
              <a:pathLst>
                <a:path w="3167888" h="1868424">
                  <a:moveTo>
                    <a:pt x="0" y="311404"/>
                  </a:moveTo>
                  <a:cubicBezTo>
                    <a:pt x="0" y="139446"/>
                    <a:pt x="139446" y="0"/>
                    <a:pt x="311404" y="0"/>
                  </a:cubicBezTo>
                  <a:lnTo>
                    <a:pt x="2856484" y="0"/>
                  </a:lnTo>
                  <a:cubicBezTo>
                    <a:pt x="3028442" y="0"/>
                    <a:pt x="3167888" y="139446"/>
                    <a:pt x="3167888" y="311404"/>
                  </a:cubicBezTo>
                  <a:lnTo>
                    <a:pt x="3167888" y="1557020"/>
                  </a:lnTo>
                  <a:cubicBezTo>
                    <a:pt x="3167888" y="1728978"/>
                    <a:pt x="3028442" y="1868424"/>
                    <a:pt x="2856484" y="1868424"/>
                  </a:cubicBezTo>
                  <a:lnTo>
                    <a:pt x="311404" y="1868424"/>
                  </a:lnTo>
                  <a:cubicBezTo>
                    <a:pt x="139446" y="1868297"/>
                    <a:pt x="0" y="1728978"/>
                    <a:pt x="0" y="1557020"/>
                  </a:cubicBezTo>
                  <a:close/>
                </a:path>
              </a:pathLst>
            </a:custGeom>
            <a:solidFill>
              <a:srgbClr val="FAF1D5"/>
            </a:solidFill>
            <a:ln w="28597" cap="sq">
              <a:solidFill>
                <a:srgbClr val="243B75"/>
              </a:solidFill>
              <a:prstDash val="solid"/>
              <a:miter/>
            </a:ln>
          </p:spPr>
          <p:txBody>
            <a:bodyPr/>
            <a:lstStyle/>
            <a:p>
              <a:endParaRPr lang="en-IN"/>
            </a:p>
          </p:txBody>
        </p:sp>
        <p:sp>
          <p:nvSpPr>
            <p:cNvPr id="57" name="TextBox 57"/>
            <p:cNvSpPr txBox="1"/>
            <p:nvPr/>
          </p:nvSpPr>
          <p:spPr>
            <a:xfrm>
              <a:off x="0" y="-19050"/>
              <a:ext cx="3167824" cy="1887410"/>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Match Evaluator</a:t>
              </a:r>
            </a:p>
            <a:p>
              <a:pPr algn="ctr">
                <a:lnSpc>
                  <a:spcPts val="1801"/>
                </a:lnSpc>
              </a:pPr>
              <a:r>
                <a:rPr lang="en-US" sz="1501">
                  <a:solidFill>
                    <a:srgbClr val="000000"/>
                  </a:solidFill>
                  <a:latin typeface="Times New Roman"/>
                  <a:ea typeface="Times New Roman"/>
                  <a:cs typeface="Times New Roman"/>
                  <a:sym typeface="Times New Roman"/>
                </a:rPr>
                <a:t>Execute predicates</a:t>
              </a:r>
            </a:p>
            <a:p>
              <a:pPr algn="ctr">
                <a:lnSpc>
                  <a:spcPts val="1801"/>
                </a:lnSpc>
              </a:pPr>
              <a:r>
                <a:rPr lang="en-US" sz="1501">
                  <a:solidFill>
                    <a:srgbClr val="000000"/>
                  </a:solidFill>
                  <a:latin typeface="Times New Roman"/>
                  <a:ea typeface="Times New Roman"/>
                  <a:cs typeface="Times New Roman"/>
                  <a:sym typeface="Times New Roman"/>
                </a:rPr>
                <a:t>against event</a:t>
              </a:r>
            </a:p>
          </p:txBody>
        </p:sp>
      </p:grpSp>
      <p:grpSp>
        <p:nvGrpSpPr>
          <p:cNvPr id="58" name="Group 58"/>
          <p:cNvGrpSpPr/>
          <p:nvPr/>
        </p:nvGrpSpPr>
        <p:grpSpPr>
          <a:xfrm>
            <a:off x="8757075" y="6052909"/>
            <a:ext cx="2266055" cy="1401270"/>
            <a:chOff x="0" y="0"/>
            <a:chExt cx="3021406" cy="1868360"/>
          </a:xfrm>
        </p:grpSpPr>
        <p:sp>
          <p:nvSpPr>
            <p:cNvPr id="59" name="Freeform 59"/>
            <p:cNvSpPr/>
            <p:nvPr/>
          </p:nvSpPr>
          <p:spPr>
            <a:xfrm>
              <a:off x="0" y="0"/>
              <a:ext cx="3021457" cy="1868424"/>
            </a:xfrm>
            <a:custGeom>
              <a:avLst/>
              <a:gdLst/>
              <a:ahLst/>
              <a:cxnLst/>
              <a:rect l="l" t="t" r="r" b="b"/>
              <a:pathLst>
                <a:path w="3021457" h="1868424">
                  <a:moveTo>
                    <a:pt x="0" y="311404"/>
                  </a:moveTo>
                  <a:cubicBezTo>
                    <a:pt x="0" y="139446"/>
                    <a:pt x="139446" y="0"/>
                    <a:pt x="311404" y="0"/>
                  </a:cubicBezTo>
                  <a:lnTo>
                    <a:pt x="2710053" y="0"/>
                  </a:lnTo>
                  <a:cubicBezTo>
                    <a:pt x="2882011" y="0"/>
                    <a:pt x="3021457" y="139446"/>
                    <a:pt x="3021457" y="311404"/>
                  </a:cubicBezTo>
                  <a:lnTo>
                    <a:pt x="3021457" y="1557020"/>
                  </a:lnTo>
                  <a:cubicBezTo>
                    <a:pt x="3021457" y="1728978"/>
                    <a:pt x="2882011" y="1868424"/>
                    <a:pt x="2710053" y="1868424"/>
                  </a:cubicBezTo>
                  <a:lnTo>
                    <a:pt x="311404" y="1868424"/>
                  </a:lnTo>
                  <a:cubicBezTo>
                    <a:pt x="139446" y="1868297"/>
                    <a:pt x="0" y="1728978"/>
                    <a:pt x="0" y="1557020"/>
                  </a:cubicBezTo>
                  <a:close/>
                </a:path>
              </a:pathLst>
            </a:custGeom>
            <a:solidFill>
              <a:srgbClr val="FAF1D5"/>
            </a:solidFill>
            <a:ln w="28597" cap="sq">
              <a:solidFill>
                <a:srgbClr val="243B75"/>
              </a:solidFill>
              <a:prstDash val="solid"/>
              <a:miter/>
            </a:ln>
          </p:spPr>
          <p:txBody>
            <a:bodyPr/>
            <a:lstStyle/>
            <a:p>
              <a:endParaRPr lang="en-IN"/>
            </a:p>
          </p:txBody>
        </p:sp>
        <p:sp>
          <p:nvSpPr>
            <p:cNvPr id="60" name="TextBox 60"/>
            <p:cNvSpPr txBox="1"/>
            <p:nvPr/>
          </p:nvSpPr>
          <p:spPr>
            <a:xfrm>
              <a:off x="0" y="-19050"/>
              <a:ext cx="3021406" cy="1887410"/>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Alert Builder</a:t>
              </a:r>
            </a:p>
            <a:p>
              <a:pPr algn="ctr">
                <a:lnSpc>
                  <a:spcPts val="1801"/>
                </a:lnSpc>
              </a:pPr>
              <a:r>
                <a:rPr lang="en-US" sz="1501">
                  <a:solidFill>
                    <a:srgbClr val="000000"/>
                  </a:solidFill>
                  <a:latin typeface="Times New Roman"/>
                  <a:ea typeface="Times New Roman"/>
                  <a:cs typeface="Times New Roman"/>
                  <a:sym typeface="Times New Roman"/>
                </a:rPr>
                <a:t>Build RuleAlert</a:t>
              </a:r>
            </a:p>
            <a:p>
              <a:pPr algn="ctr">
                <a:lnSpc>
                  <a:spcPts val="1801"/>
                </a:lnSpc>
              </a:pPr>
              <a:r>
                <a:rPr lang="en-US" sz="1501">
                  <a:solidFill>
                    <a:srgbClr val="000000"/>
                  </a:solidFill>
                  <a:latin typeface="Times New Roman"/>
                  <a:ea typeface="Times New Roman"/>
                  <a:cs typeface="Times New Roman"/>
                  <a:sym typeface="Times New Roman"/>
                </a:rPr>
                <a:t>objects</a:t>
              </a:r>
            </a:p>
          </p:txBody>
        </p:sp>
      </p:grpSp>
      <p:grpSp>
        <p:nvGrpSpPr>
          <p:cNvPr id="61" name="Group 61"/>
          <p:cNvGrpSpPr/>
          <p:nvPr/>
        </p:nvGrpSpPr>
        <p:grpSpPr>
          <a:xfrm>
            <a:off x="11420065" y="6052909"/>
            <a:ext cx="3130839" cy="1401270"/>
            <a:chOff x="0" y="0"/>
            <a:chExt cx="4174452" cy="1868360"/>
          </a:xfrm>
        </p:grpSpPr>
        <p:sp>
          <p:nvSpPr>
            <p:cNvPr id="62" name="Freeform 62"/>
            <p:cNvSpPr/>
            <p:nvPr/>
          </p:nvSpPr>
          <p:spPr>
            <a:xfrm>
              <a:off x="0" y="0"/>
              <a:ext cx="4174490" cy="1868424"/>
            </a:xfrm>
            <a:custGeom>
              <a:avLst/>
              <a:gdLst/>
              <a:ahLst/>
              <a:cxnLst/>
              <a:rect l="l" t="t" r="r" b="b"/>
              <a:pathLst>
                <a:path w="4174490" h="1868424">
                  <a:moveTo>
                    <a:pt x="0" y="311404"/>
                  </a:moveTo>
                  <a:cubicBezTo>
                    <a:pt x="0" y="139446"/>
                    <a:pt x="139446" y="0"/>
                    <a:pt x="311404" y="0"/>
                  </a:cubicBezTo>
                  <a:lnTo>
                    <a:pt x="3863086" y="0"/>
                  </a:lnTo>
                  <a:cubicBezTo>
                    <a:pt x="4035044" y="0"/>
                    <a:pt x="4174490" y="139446"/>
                    <a:pt x="4174490" y="311404"/>
                  </a:cubicBezTo>
                  <a:lnTo>
                    <a:pt x="4174490" y="1557020"/>
                  </a:lnTo>
                  <a:cubicBezTo>
                    <a:pt x="4174490" y="1728978"/>
                    <a:pt x="4035044" y="1868424"/>
                    <a:pt x="3863086" y="1868424"/>
                  </a:cubicBezTo>
                  <a:lnTo>
                    <a:pt x="311404" y="1868424"/>
                  </a:lnTo>
                  <a:cubicBezTo>
                    <a:pt x="139446" y="1868297"/>
                    <a:pt x="0" y="1728978"/>
                    <a:pt x="0" y="1557020"/>
                  </a:cubicBezTo>
                  <a:close/>
                </a:path>
              </a:pathLst>
            </a:custGeom>
            <a:solidFill>
              <a:srgbClr val="FAF1D5"/>
            </a:solidFill>
            <a:ln w="28597" cap="sq">
              <a:solidFill>
                <a:srgbClr val="243B75"/>
              </a:solidFill>
              <a:prstDash val="solid"/>
              <a:miter/>
            </a:ln>
          </p:spPr>
          <p:txBody>
            <a:bodyPr/>
            <a:lstStyle/>
            <a:p>
              <a:endParaRPr lang="en-IN"/>
            </a:p>
          </p:txBody>
        </p:sp>
        <p:sp>
          <p:nvSpPr>
            <p:cNvPr id="63" name="TextBox 63"/>
            <p:cNvSpPr txBox="1"/>
            <p:nvPr/>
          </p:nvSpPr>
          <p:spPr>
            <a:xfrm>
              <a:off x="0" y="-9525"/>
              <a:ext cx="4174452" cy="1877885"/>
            </a:xfrm>
            <a:prstGeom prst="rect">
              <a:avLst/>
            </a:prstGeom>
          </p:spPr>
          <p:txBody>
            <a:bodyPr lIns="50800" tIns="50800" rIns="50800" bIns="50800" rtlCol="0" anchor="ctr"/>
            <a:lstStyle/>
            <a:p>
              <a:pPr algn="ctr">
                <a:lnSpc>
                  <a:spcPts val="2431"/>
                </a:lnSpc>
              </a:pPr>
              <a:r>
                <a:rPr lang="en-US" sz="2026" b="1">
                  <a:solidFill>
                    <a:srgbClr val="000000"/>
                  </a:solidFill>
                  <a:latin typeface="Times New Roman Bold"/>
                  <a:ea typeface="Times New Roman Bold"/>
                  <a:cs typeface="Times New Roman Bold"/>
                  <a:sym typeface="Times New Roman Bold"/>
                </a:rPr>
                <a:t>RuleAlert[] Output</a:t>
              </a:r>
            </a:p>
            <a:p>
              <a:pPr algn="ctr">
                <a:lnSpc>
                  <a:spcPts val="1765"/>
                </a:lnSpc>
              </a:pPr>
              <a:r>
                <a:rPr lang="en-US" sz="1471">
                  <a:solidFill>
                    <a:srgbClr val="000000"/>
                  </a:solidFill>
                  <a:latin typeface="Times New Roman"/>
                  <a:ea typeface="Times New Roman"/>
                  <a:cs typeface="Times New Roman"/>
                  <a:sym typeface="Times New Roman"/>
                </a:rPr>
                <a:t>Rule ID • severity • matched fields</a:t>
              </a:r>
            </a:p>
            <a:p>
              <a:pPr algn="ctr">
                <a:lnSpc>
                  <a:spcPts val="1765"/>
                </a:lnSpc>
              </a:pPr>
              <a:r>
                <a:rPr lang="en-US" sz="1471">
                  <a:solidFill>
                    <a:srgbClr val="000000"/>
                  </a:solidFill>
                  <a:latin typeface="Times New Roman"/>
                  <a:ea typeface="Times New Roman"/>
                  <a:cs typeface="Times New Roman"/>
                  <a:sym typeface="Times New Roman"/>
                </a:rPr>
                <a:t>• event reference</a:t>
              </a:r>
            </a:p>
          </p:txBody>
        </p:sp>
      </p:grpSp>
      <p:grpSp>
        <p:nvGrpSpPr>
          <p:cNvPr id="64" name="Group 64"/>
          <p:cNvGrpSpPr/>
          <p:nvPr/>
        </p:nvGrpSpPr>
        <p:grpSpPr>
          <a:xfrm>
            <a:off x="658882" y="9443990"/>
            <a:ext cx="16952500" cy="491958"/>
            <a:chOff x="0" y="0"/>
            <a:chExt cx="22603333" cy="655944"/>
          </a:xfrm>
        </p:grpSpPr>
        <p:sp>
          <p:nvSpPr>
            <p:cNvPr id="65" name="Freeform 65"/>
            <p:cNvSpPr/>
            <p:nvPr/>
          </p:nvSpPr>
          <p:spPr>
            <a:xfrm>
              <a:off x="0" y="0"/>
              <a:ext cx="22603340" cy="655936"/>
            </a:xfrm>
            <a:custGeom>
              <a:avLst/>
              <a:gdLst/>
              <a:ahLst/>
              <a:cxnLst/>
              <a:rect l="l" t="t" r="r" b="b"/>
              <a:pathLst>
                <a:path w="22603340" h="655936">
                  <a:moveTo>
                    <a:pt x="0" y="0"/>
                  </a:moveTo>
                  <a:lnTo>
                    <a:pt x="22603340" y="0"/>
                  </a:lnTo>
                  <a:lnTo>
                    <a:pt x="22603340" y="655936"/>
                  </a:lnTo>
                  <a:lnTo>
                    <a:pt x="0" y="655936"/>
                  </a:lnTo>
                  <a:close/>
                </a:path>
              </a:pathLst>
            </a:custGeom>
            <a:blipFill>
              <a:blip r:embed="rId2">
                <a:alphaModFix amt="0"/>
              </a:blip>
              <a:stretch>
                <a:fillRect t="-632383" b="-610511"/>
              </a:stretch>
            </a:blipFill>
          </p:spPr>
          <p:txBody>
            <a:bodyPr/>
            <a:lstStyle/>
            <a:p>
              <a:endParaRPr lang="en-IN"/>
            </a:p>
          </p:txBody>
        </p:sp>
        <p:sp>
          <p:nvSpPr>
            <p:cNvPr id="66" name="TextBox 66"/>
            <p:cNvSpPr txBox="1"/>
            <p:nvPr/>
          </p:nvSpPr>
          <p:spPr>
            <a:xfrm>
              <a:off x="0" y="-9525"/>
              <a:ext cx="22603333" cy="665469"/>
            </a:xfrm>
            <a:prstGeom prst="rect">
              <a:avLst/>
            </a:prstGeom>
          </p:spPr>
          <p:txBody>
            <a:bodyPr lIns="0" tIns="0" rIns="0" bIns="0" rtlCol="0" anchor="ctr"/>
            <a:lstStyle/>
            <a:p>
              <a:pPr algn="ctr">
                <a:lnSpc>
                  <a:spcPts val="1891"/>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grpSp>
        <p:nvGrpSpPr>
          <p:cNvPr id="2" name="Group 2"/>
          <p:cNvGrpSpPr/>
          <p:nvPr/>
        </p:nvGrpSpPr>
        <p:grpSpPr>
          <a:xfrm>
            <a:off x="549069" y="164725"/>
            <a:ext cx="17158402" cy="603352"/>
            <a:chOff x="0" y="0"/>
            <a:chExt cx="22877869" cy="804469"/>
          </a:xfrm>
        </p:grpSpPr>
        <p:sp>
          <p:nvSpPr>
            <p:cNvPr id="3" name="Freeform 3"/>
            <p:cNvSpPr/>
            <p:nvPr/>
          </p:nvSpPr>
          <p:spPr>
            <a:xfrm>
              <a:off x="0" y="0"/>
              <a:ext cx="22877873" cy="804474"/>
            </a:xfrm>
            <a:custGeom>
              <a:avLst/>
              <a:gdLst/>
              <a:ahLst/>
              <a:cxnLst/>
              <a:rect l="l" t="t" r="r" b="b"/>
              <a:pathLst>
                <a:path w="22877873" h="804474">
                  <a:moveTo>
                    <a:pt x="0" y="0"/>
                  </a:moveTo>
                  <a:lnTo>
                    <a:pt x="22877873" y="0"/>
                  </a:lnTo>
                  <a:lnTo>
                    <a:pt x="22877873" y="804474"/>
                  </a:lnTo>
                  <a:lnTo>
                    <a:pt x="0" y="804474"/>
                  </a:lnTo>
                  <a:close/>
                </a:path>
              </a:pathLst>
            </a:custGeom>
            <a:blipFill>
              <a:blip r:embed="rId2">
                <a:alphaModFix amt="0"/>
              </a:blip>
              <a:stretch>
                <a:fillRect t="-514307" b="-493934"/>
              </a:stretch>
            </a:blipFill>
          </p:spPr>
          <p:txBody>
            <a:bodyPr/>
            <a:lstStyle/>
            <a:p>
              <a:endParaRPr lang="en-IN"/>
            </a:p>
          </p:txBody>
        </p:sp>
        <p:sp>
          <p:nvSpPr>
            <p:cNvPr id="4" name="TextBox 4"/>
            <p:cNvSpPr txBox="1"/>
            <p:nvPr/>
          </p:nvSpPr>
          <p:spPr>
            <a:xfrm>
              <a:off x="0" y="-28575"/>
              <a:ext cx="22877869" cy="833044"/>
            </a:xfrm>
            <a:prstGeom prst="rect">
              <a:avLst/>
            </a:prstGeom>
          </p:spPr>
          <p:txBody>
            <a:bodyPr lIns="0" tIns="0" rIns="0" bIns="0" rtlCol="0" anchor="ctr"/>
            <a:lstStyle/>
            <a:p>
              <a:pPr algn="ctr">
                <a:lnSpc>
                  <a:spcPts val="3602"/>
                </a:lnSpc>
              </a:pPr>
              <a:r>
                <a:rPr lang="en-US" sz="3002" b="1">
                  <a:solidFill>
                    <a:srgbClr val="000000"/>
                  </a:solidFill>
                  <a:latin typeface="Times New Roman Bold"/>
                  <a:ea typeface="Times New Roman Bold"/>
                  <a:cs typeface="Times New Roman Bold"/>
                  <a:sym typeface="Times New Roman Bold"/>
                </a:rPr>
                <a:t>RULE ENGINE  DESIGN FLOW</a:t>
              </a:r>
            </a:p>
          </p:txBody>
        </p:sp>
      </p:grpSp>
      <p:grpSp>
        <p:nvGrpSpPr>
          <p:cNvPr id="5" name="Group 5"/>
          <p:cNvGrpSpPr/>
          <p:nvPr/>
        </p:nvGrpSpPr>
        <p:grpSpPr>
          <a:xfrm>
            <a:off x="5684196" y="838667"/>
            <a:ext cx="6956784" cy="683666"/>
            <a:chOff x="0" y="0"/>
            <a:chExt cx="9275712" cy="911555"/>
          </a:xfrm>
        </p:grpSpPr>
        <p:sp>
          <p:nvSpPr>
            <p:cNvPr id="6" name="Freeform 6"/>
            <p:cNvSpPr/>
            <p:nvPr/>
          </p:nvSpPr>
          <p:spPr>
            <a:xfrm>
              <a:off x="0" y="0"/>
              <a:ext cx="9275699" cy="911479"/>
            </a:xfrm>
            <a:custGeom>
              <a:avLst/>
              <a:gdLst/>
              <a:ahLst/>
              <a:cxnLst/>
              <a:rect l="l" t="t" r="r" b="b"/>
              <a:pathLst>
                <a:path w="9275699" h="911479">
                  <a:moveTo>
                    <a:pt x="0" y="151892"/>
                  </a:moveTo>
                  <a:cubicBezTo>
                    <a:pt x="0" y="68072"/>
                    <a:pt x="68072" y="0"/>
                    <a:pt x="151892" y="0"/>
                  </a:cubicBezTo>
                  <a:lnTo>
                    <a:pt x="9123807" y="0"/>
                  </a:lnTo>
                  <a:cubicBezTo>
                    <a:pt x="9207753" y="0"/>
                    <a:pt x="9275699" y="68072"/>
                    <a:pt x="9275699" y="151892"/>
                  </a:cubicBezTo>
                  <a:lnTo>
                    <a:pt x="9275699" y="759587"/>
                  </a:lnTo>
                  <a:cubicBezTo>
                    <a:pt x="9275699" y="843534"/>
                    <a:pt x="9207626" y="911479"/>
                    <a:pt x="9123807" y="911479"/>
                  </a:cubicBezTo>
                  <a:lnTo>
                    <a:pt x="151892" y="911479"/>
                  </a:lnTo>
                  <a:cubicBezTo>
                    <a:pt x="68072" y="911606"/>
                    <a:pt x="0" y="843534"/>
                    <a:pt x="0" y="759587"/>
                  </a:cubicBezTo>
                  <a:close/>
                </a:path>
              </a:pathLst>
            </a:custGeom>
            <a:solidFill>
              <a:srgbClr val="F8F4ED"/>
            </a:solidFill>
            <a:ln w="24784" cap="sq">
              <a:solidFill>
                <a:srgbClr val="222222"/>
              </a:solidFill>
              <a:prstDash val="solid"/>
              <a:miter/>
            </a:ln>
          </p:spPr>
          <p:txBody>
            <a:bodyPr/>
            <a:lstStyle/>
            <a:p>
              <a:endParaRPr lang="en-IN"/>
            </a:p>
          </p:txBody>
        </p:sp>
        <p:sp>
          <p:nvSpPr>
            <p:cNvPr id="7" name="TextBox 7"/>
            <p:cNvSpPr txBox="1"/>
            <p:nvPr/>
          </p:nvSpPr>
          <p:spPr>
            <a:xfrm>
              <a:off x="0" y="-19050"/>
              <a:ext cx="9275712" cy="930605"/>
            </a:xfrm>
            <a:prstGeom prst="rect">
              <a:avLst/>
            </a:prstGeom>
          </p:spPr>
          <p:txBody>
            <a:bodyPr lIns="50800" tIns="50800" rIns="50800" bIns="50800" rtlCol="0" anchor="ctr"/>
            <a:lstStyle/>
            <a:p>
              <a:pPr algn="ctr">
                <a:lnSpc>
                  <a:spcPts val="2521"/>
                </a:lnSpc>
              </a:pPr>
              <a:r>
                <a:rPr lang="en-US" sz="2101" b="1">
                  <a:solidFill>
                    <a:srgbClr val="000000"/>
                  </a:solidFill>
                  <a:latin typeface="Times New Roman Bold"/>
                  <a:ea typeface="Times New Roman Bold"/>
                  <a:cs typeface="Times New Roman Bold"/>
                  <a:sym typeface="Times New Roman Bold"/>
                </a:rPr>
                <a:t>Sigma-Inspired YAML Rules</a:t>
              </a:r>
            </a:p>
          </p:txBody>
        </p:sp>
      </p:grpSp>
      <p:grpSp>
        <p:nvGrpSpPr>
          <p:cNvPr id="8" name="Group 8"/>
          <p:cNvGrpSpPr/>
          <p:nvPr/>
        </p:nvGrpSpPr>
        <p:grpSpPr>
          <a:xfrm>
            <a:off x="5684196" y="1730902"/>
            <a:ext cx="6956784" cy="683666"/>
            <a:chOff x="0" y="0"/>
            <a:chExt cx="9275712" cy="911555"/>
          </a:xfrm>
        </p:grpSpPr>
        <p:sp>
          <p:nvSpPr>
            <p:cNvPr id="9" name="Freeform 9"/>
            <p:cNvSpPr/>
            <p:nvPr/>
          </p:nvSpPr>
          <p:spPr>
            <a:xfrm>
              <a:off x="0" y="0"/>
              <a:ext cx="9275699" cy="911479"/>
            </a:xfrm>
            <a:custGeom>
              <a:avLst/>
              <a:gdLst/>
              <a:ahLst/>
              <a:cxnLst/>
              <a:rect l="l" t="t" r="r" b="b"/>
              <a:pathLst>
                <a:path w="9275699" h="911479">
                  <a:moveTo>
                    <a:pt x="0" y="151892"/>
                  </a:moveTo>
                  <a:cubicBezTo>
                    <a:pt x="0" y="68072"/>
                    <a:pt x="68072" y="0"/>
                    <a:pt x="151892" y="0"/>
                  </a:cubicBezTo>
                  <a:lnTo>
                    <a:pt x="9123807" y="0"/>
                  </a:lnTo>
                  <a:cubicBezTo>
                    <a:pt x="9207753" y="0"/>
                    <a:pt x="9275699" y="68072"/>
                    <a:pt x="9275699" y="151892"/>
                  </a:cubicBezTo>
                  <a:lnTo>
                    <a:pt x="9275699" y="759587"/>
                  </a:lnTo>
                  <a:cubicBezTo>
                    <a:pt x="9275699" y="843534"/>
                    <a:pt x="9207626" y="911479"/>
                    <a:pt x="9123807" y="911479"/>
                  </a:cubicBezTo>
                  <a:lnTo>
                    <a:pt x="151892" y="911479"/>
                  </a:lnTo>
                  <a:cubicBezTo>
                    <a:pt x="68072" y="911606"/>
                    <a:pt x="0" y="843534"/>
                    <a:pt x="0" y="759587"/>
                  </a:cubicBezTo>
                  <a:close/>
                </a:path>
              </a:pathLst>
            </a:custGeom>
            <a:solidFill>
              <a:srgbClr val="F8F4ED"/>
            </a:solidFill>
            <a:ln w="24784" cap="sq">
              <a:solidFill>
                <a:srgbClr val="222222"/>
              </a:solidFill>
              <a:prstDash val="solid"/>
              <a:miter/>
            </a:ln>
          </p:spPr>
          <p:txBody>
            <a:bodyPr/>
            <a:lstStyle/>
            <a:p>
              <a:endParaRPr lang="en-IN"/>
            </a:p>
          </p:txBody>
        </p:sp>
        <p:sp>
          <p:nvSpPr>
            <p:cNvPr id="10" name="TextBox 10"/>
            <p:cNvSpPr txBox="1"/>
            <p:nvPr/>
          </p:nvSpPr>
          <p:spPr>
            <a:xfrm>
              <a:off x="0" y="-19050"/>
              <a:ext cx="9275712" cy="930605"/>
            </a:xfrm>
            <a:prstGeom prst="rect">
              <a:avLst/>
            </a:prstGeom>
          </p:spPr>
          <p:txBody>
            <a:bodyPr lIns="50800" tIns="50800" rIns="50800" bIns="50800" rtlCol="0" anchor="ctr"/>
            <a:lstStyle/>
            <a:p>
              <a:pPr algn="ctr">
                <a:lnSpc>
                  <a:spcPts val="2341"/>
                </a:lnSpc>
              </a:pPr>
              <a:r>
                <a:rPr lang="en-US" sz="1951">
                  <a:solidFill>
                    <a:srgbClr val="000000"/>
                  </a:solidFill>
                  <a:latin typeface="Times New Roman"/>
                  <a:ea typeface="Times New Roman"/>
                  <a:cs typeface="Times New Roman"/>
                  <a:sym typeface="Times New Roman"/>
                </a:rPr>
                <a:t>Rule Loader and YAML Parser</a:t>
              </a:r>
            </a:p>
          </p:txBody>
        </p:sp>
      </p:grpSp>
      <p:grpSp>
        <p:nvGrpSpPr>
          <p:cNvPr id="11" name="Group 11"/>
          <p:cNvGrpSpPr/>
          <p:nvPr/>
        </p:nvGrpSpPr>
        <p:grpSpPr>
          <a:xfrm>
            <a:off x="5680386" y="2619327"/>
            <a:ext cx="6964404" cy="691296"/>
            <a:chOff x="0" y="0"/>
            <a:chExt cx="9285872" cy="921728"/>
          </a:xfrm>
        </p:grpSpPr>
        <p:sp>
          <p:nvSpPr>
            <p:cNvPr id="12" name="Freeform 12"/>
            <p:cNvSpPr/>
            <p:nvPr/>
          </p:nvSpPr>
          <p:spPr>
            <a:xfrm>
              <a:off x="0" y="0"/>
              <a:ext cx="9285859" cy="921766"/>
            </a:xfrm>
            <a:custGeom>
              <a:avLst/>
              <a:gdLst/>
              <a:ahLst/>
              <a:cxnLst/>
              <a:rect l="l" t="t" r="r" b="b"/>
              <a:pathLst>
                <a:path w="9285859" h="921766">
                  <a:moveTo>
                    <a:pt x="0" y="153670"/>
                  </a:moveTo>
                  <a:cubicBezTo>
                    <a:pt x="0" y="68834"/>
                    <a:pt x="68834" y="0"/>
                    <a:pt x="153670" y="0"/>
                  </a:cubicBezTo>
                  <a:lnTo>
                    <a:pt x="9132189" y="0"/>
                  </a:lnTo>
                  <a:cubicBezTo>
                    <a:pt x="9217025" y="0"/>
                    <a:pt x="9285859" y="68834"/>
                    <a:pt x="9285859" y="153670"/>
                  </a:cubicBezTo>
                  <a:lnTo>
                    <a:pt x="9285859" y="768096"/>
                  </a:lnTo>
                  <a:cubicBezTo>
                    <a:pt x="9285859" y="852932"/>
                    <a:pt x="9217025" y="921766"/>
                    <a:pt x="9132189" y="921766"/>
                  </a:cubicBezTo>
                  <a:lnTo>
                    <a:pt x="153670" y="921766"/>
                  </a:lnTo>
                  <a:cubicBezTo>
                    <a:pt x="68834" y="921766"/>
                    <a:pt x="0" y="852932"/>
                    <a:pt x="0" y="768096"/>
                  </a:cubicBezTo>
                  <a:close/>
                </a:path>
              </a:pathLst>
            </a:custGeom>
            <a:solidFill>
              <a:srgbClr val="E3E7F3"/>
            </a:solidFill>
            <a:ln w="32410" cap="sq">
              <a:solidFill>
                <a:srgbClr val="303E80"/>
              </a:solidFill>
              <a:prstDash val="solid"/>
              <a:miter/>
            </a:ln>
          </p:spPr>
          <p:txBody>
            <a:bodyPr/>
            <a:lstStyle/>
            <a:p>
              <a:endParaRPr lang="en-IN"/>
            </a:p>
          </p:txBody>
        </p:sp>
        <p:sp>
          <p:nvSpPr>
            <p:cNvPr id="13" name="TextBox 13"/>
            <p:cNvSpPr txBox="1"/>
            <p:nvPr/>
          </p:nvSpPr>
          <p:spPr>
            <a:xfrm>
              <a:off x="0" y="-19050"/>
              <a:ext cx="9285872" cy="940778"/>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Lexical and Syntax Analysis</a:t>
              </a:r>
            </a:p>
          </p:txBody>
        </p:sp>
      </p:grpSp>
      <p:grpSp>
        <p:nvGrpSpPr>
          <p:cNvPr id="14" name="Group 14"/>
          <p:cNvGrpSpPr/>
          <p:nvPr/>
        </p:nvGrpSpPr>
        <p:grpSpPr>
          <a:xfrm>
            <a:off x="5680386" y="3511563"/>
            <a:ext cx="6964404" cy="691296"/>
            <a:chOff x="0" y="0"/>
            <a:chExt cx="9285872" cy="921728"/>
          </a:xfrm>
        </p:grpSpPr>
        <p:sp>
          <p:nvSpPr>
            <p:cNvPr id="15" name="Freeform 15"/>
            <p:cNvSpPr/>
            <p:nvPr/>
          </p:nvSpPr>
          <p:spPr>
            <a:xfrm>
              <a:off x="0" y="0"/>
              <a:ext cx="9285859" cy="921766"/>
            </a:xfrm>
            <a:custGeom>
              <a:avLst/>
              <a:gdLst/>
              <a:ahLst/>
              <a:cxnLst/>
              <a:rect l="l" t="t" r="r" b="b"/>
              <a:pathLst>
                <a:path w="9285859" h="921766">
                  <a:moveTo>
                    <a:pt x="0" y="153670"/>
                  </a:moveTo>
                  <a:cubicBezTo>
                    <a:pt x="0" y="68834"/>
                    <a:pt x="68834" y="0"/>
                    <a:pt x="153670" y="0"/>
                  </a:cubicBezTo>
                  <a:lnTo>
                    <a:pt x="9132189" y="0"/>
                  </a:lnTo>
                  <a:cubicBezTo>
                    <a:pt x="9217025" y="0"/>
                    <a:pt x="9285859" y="68834"/>
                    <a:pt x="9285859" y="153670"/>
                  </a:cubicBezTo>
                  <a:lnTo>
                    <a:pt x="9285859" y="768096"/>
                  </a:lnTo>
                  <a:cubicBezTo>
                    <a:pt x="9285859" y="852932"/>
                    <a:pt x="9217025" y="921766"/>
                    <a:pt x="9132189" y="921766"/>
                  </a:cubicBezTo>
                  <a:lnTo>
                    <a:pt x="153670" y="921766"/>
                  </a:lnTo>
                  <a:cubicBezTo>
                    <a:pt x="68834" y="921766"/>
                    <a:pt x="0" y="852932"/>
                    <a:pt x="0" y="768096"/>
                  </a:cubicBezTo>
                  <a:close/>
                </a:path>
              </a:pathLst>
            </a:custGeom>
            <a:solidFill>
              <a:srgbClr val="E3E7F3"/>
            </a:solidFill>
            <a:ln w="32410" cap="sq">
              <a:solidFill>
                <a:srgbClr val="303E80"/>
              </a:solidFill>
              <a:prstDash val="solid"/>
              <a:miter/>
            </a:ln>
          </p:spPr>
          <p:txBody>
            <a:bodyPr/>
            <a:lstStyle/>
            <a:p>
              <a:endParaRPr lang="en-IN"/>
            </a:p>
          </p:txBody>
        </p:sp>
        <p:sp>
          <p:nvSpPr>
            <p:cNvPr id="16" name="TextBox 16"/>
            <p:cNvSpPr txBox="1"/>
            <p:nvPr/>
          </p:nvSpPr>
          <p:spPr>
            <a:xfrm>
              <a:off x="0" y="-19050"/>
              <a:ext cx="9285872" cy="940778"/>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AST Construction</a:t>
              </a:r>
            </a:p>
          </p:txBody>
        </p:sp>
      </p:grpSp>
      <p:grpSp>
        <p:nvGrpSpPr>
          <p:cNvPr id="17" name="Group 17"/>
          <p:cNvGrpSpPr/>
          <p:nvPr/>
        </p:nvGrpSpPr>
        <p:grpSpPr>
          <a:xfrm>
            <a:off x="5680386" y="4403798"/>
            <a:ext cx="6964404" cy="691296"/>
            <a:chOff x="0" y="0"/>
            <a:chExt cx="9285872" cy="921728"/>
          </a:xfrm>
        </p:grpSpPr>
        <p:sp>
          <p:nvSpPr>
            <p:cNvPr id="18" name="Freeform 18"/>
            <p:cNvSpPr/>
            <p:nvPr/>
          </p:nvSpPr>
          <p:spPr>
            <a:xfrm>
              <a:off x="0" y="0"/>
              <a:ext cx="9285859" cy="921766"/>
            </a:xfrm>
            <a:custGeom>
              <a:avLst/>
              <a:gdLst/>
              <a:ahLst/>
              <a:cxnLst/>
              <a:rect l="l" t="t" r="r" b="b"/>
              <a:pathLst>
                <a:path w="9285859" h="921766">
                  <a:moveTo>
                    <a:pt x="0" y="153670"/>
                  </a:moveTo>
                  <a:cubicBezTo>
                    <a:pt x="0" y="68834"/>
                    <a:pt x="68834" y="0"/>
                    <a:pt x="153670" y="0"/>
                  </a:cubicBezTo>
                  <a:lnTo>
                    <a:pt x="9132189" y="0"/>
                  </a:lnTo>
                  <a:cubicBezTo>
                    <a:pt x="9217025" y="0"/>
                    <a:pt x="9285859" y="68834"/>
                    <a:pt x="9285859" y="153670"/>
                  </a:cubicBezTo>
                  <a:lnTo>
                    <a:pt x="9285859" y="768096"/>
                  </a:lnTo>
                  <a:cubicBezTo>
                    <a:pt x="9285859" y="852932"/>
                    <a:pt x="9217025" y="921766"/>
                    <a:pt x="9132189" y="921766"/>
                  </a:cubicBezTo>
                  <a:lnTo>
                    <a:pt x="153670" y="921766"/>
                  </a:lnTo>
                  <a:cubicBezTo>
                    <a:pt x="68834" y="921766"/>
                    <a:pt x="0" y="852932"/>
                    <a:pt x="0" y="768096"/>
                  </a:cubicBezTo>
                  <a:close/>
                </a:path>
              </a:pathLst>
            </a:custGeom>
            <a:solidFill>
              <a:srgbClr val="E3E7F3"/>
            </a:solidFill>
            <a:ln w="32410" cap="sq">
              <a:solidFill>
                <a:srgbClr val="303E80"/>
              </a:solidFill>
              <a:prstDash val="solid"/>
              <a:miter/>
            </a:ln>
          </p:spPr>
          <p:txBody>
            <a:bodyPr/>
            <a:lstStyle/>
            <a:p>
              <a:endParaRPr lang="en-IN"/>
            </a:p>
          </p:txBody>
        </p:sp>
        <p:sp>
          <p:nvSpPr>
            <p:cNvPr id="19" name="TextBox 19"/>
            <p:cNvSpPr txBox="1"/>
            <p:nvPr/>
          </p:nvSpPr>
          <p:spPr>
            <a:xfrm>
              <a:off x="0" y="-19050"/>
              <a:ext cx="9285872" cy="940778"/>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Semantic Validation</a:t>
              </a:r>
            </a:p>
          </p:txBody>
        </p:sp>
      </p:grpSp>
      <p:grpSp>
        <p:nvGrpSpPr>
          <p:cNvPr id="20" name="Group 20"/>
          <p:cNvGrpSpPr/>
          <p:nvPr/>
        </p:nvGrpSpPr>
        <p:grpSpPr>
          <a:xfrm>
            <a:off x="5680386" y="5296033"/>
            <a:ext cx="6964404" cy="691296"/>
            <a:chOff x="0" y="0"/>
            <a:chExt cx="9285872" cy="921728"/>
          </a:xfrm>
        </p:grpSpPr>
        <p:sp>
          <p:nvSpPr>
            <p:cNvPr id="21" name="Freeform 21"/>
            <p:cNvSpPr/>
            <p:nvPr/>
          </p:nvSpPr>
          <p:spPr>
            <a:xfrm>
              <a:off x="0" y="0"/>
              <a:ext cx="9285859" cy="921766"/>
            </a:xfrm>
            <a:custGeom>
              <a:avLst/>
              <a:gdLst/>
              <a:ahLst/>
              <a:cxnLst/>
              <a:rect l="l" t="t" r="r" b="b"/>
              <a:pathLst>
                <a:path w="9285859" h="921766">
                  <a:moveTo>
                    <a:pt x="0" y="153670"/>
                  </a:moveTo>
                  <a:cubicBezTo>
                    <a:pt x="0" y="68834"/>
                    <a:pt x="68834" y="0"/>
                    <a:pt x="153670" y="0"/>
                  </a:cubicBezTo>
                  <a:lnTo>
                    <a:pt x="9132189" y="0"/>
                  </a:lnTo>
                  <a:cubicBezTo>
                    <a:pt x="9217025" y="0"/>
                    <a:pt x="9285859" y="68834"/>
                    <a:pt x="9285859" y="153670"/>
                  </a:cubicBezTo>
                  <a:lnTo>
                    <a:pt x="9285859" y="768096"/>
                  </a:lnTo>
                  <a:cubicBezTo>
                    <a:pt x="9285859" y="852932"/>
                    <a:pt x="9217025" y="921766"/>
                    <a:pt x="9132189" y="921766"/>
                  </a:cubicBezTo>
                  <a:lnTo>
                    <a:pt x="153670" y="921766"/>
                  </a:lnTo>
                  <a:cubicBezTo>
                    <a:pt x="68834" y="921766"/>
                    <a:pt x="0" y="852932"/>
                    <a:pt x="0" y="768096"/>
                  </a:cubicBezTo>
                  <a:close/>
                </a:path>
              </a:pathLst>
            </a:custGeom>
            <a:solidFill>
              <a:srgbClr val="E3E7F3"/>
            </a:solidFill>
            <a:ln w="32410" cap="sq">
              <a:solidFill>
                <a:srgbClr val="303E80"/>
              </a:solidFill>
              <a:prstDash val="solid"/>
              <a:miter/>
            </a:ln>
          </p:spPr>
          <p:txBody>
            <a:bodyPr/>
            <a:lstStyle/>
            <a:p>
              <a:endParaRPr lang="en-IN"/>
            </a:p>
          </p:txBody>
        </p:sp>
        <p:sp>
          <p:nvSpPr>
            <p:cNvPr id="22" name="TextBox 22"/>
            <p:cNvSpPr txBox="1"/>
            <p:nvPr/>
          </p:nvSpPr>
          <p:spPr>
            <a:xfrm>
              <a:off x="0" y="-19050"/>
              <a:ext cx="9285872" cy="940778"/>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Predicate Generation and Optimization</a:t>
              </a:r>
            </a:p>
          </p:txBody>
        </p:sp>
      </p:grpSp>
      <p:grpSp>
        <p:nvGrpSpPr>
          <p:cNvPr id="23" name="Group 23"/>
          <p:cNvGrpSpPr/>
          <p:nvPr/>
        </p:nvGrpSpPr>
        <p:grpSpPr>
          <a:xfrm>
            <a:off x="5684196" y="6192088"/>
            <a:ext cx="6956784" cy="683666"/>
            <a:chOff x="0" y="0"/>
            <a:chExt cx="9275712" cy="911555"/>
          </a:xfrm>
        </p:grpSpPr>
        <p:sp>
          <p:nvSpPr>
            <p:cNvPr id="24" name="Freeform 24"/>
            <p:cNvSpPr/>
            <p:nvPr/>
          </p:nvSpPr>
          <p:spPr>
            <a:xfrm>
              <a:off x="0" y="0"/>
              <a:ext cx="9275699" cy="911479"/>
            </a:xfrm>
            <a:custGeom>
              <a:avLst/>
              <a:gdLst/>
              <a:ahLst/>
              <a:cxnLst/>
              <a:rect l="l" t="t" r="r" b="b"/>
              <a:pathLst>
                <a:path w="9275699" h="911479">
                  <a:moveTo>
                    <a:pt x="0" y="151892"/>
                  </a:moveTo>
                  <a:cubicBezTo>
                    <a:pt x="0" y="68072"/>
                    <a:pt x="68072" y="0"/>
                    <a:pt x="151892" y="0"/>
                  </a:cubicBezTo>
                  <a:lnTo>
                    <a:pt x="9123807" y="0"/>
                  </a:lnTo>
                  <a:cubicBezTo>
                    <a:pt x="9207753" y="0"/>
                    <a:pt x="9275699" y="68072"/>
                    <a:pt x="9275699" y="151892"/>
                  </a:cubicBezTo>
                  <a:lnTo>
                    <a:pt x="9275699" y="759587"/>
                  </a:lnTo>
                  <a:cubicBezTo>
                    <a:pt x="9275699" y="843534"/>
                    <a:pt x="9207626" y="911479"/>
                    <a:pt x="9123807" y="911479"/>
                  </a:cubicBezTo>
                  <a:lnTo>
                    <a:pt x="151892" y="911479"/>
                  </a:lnTo>
                  <a:cubicBezTo>
                    <a:pt x="68072" y="911606"/>
                    <a:pt x="0" y="843534"/>
                    <a:pt x="0" y="759587"/>
                  </a:cubicBezTo>
                  <a:close/>
                </a:path>
              </a:pathLst>
            </a:custGeom>
            <a:solidFill>
              <a:srgbClr val="F8F4ED"/>
            </a:solidFill>
            <a:ln w="24784" cap="sq">
              <a:solidFill>
                <a:srgbClr val="222222"/>
              </a:solidFill>
              <a:prstDash val="solid"/>
              <a:miter/>
            </a:ln>
          </p:spPr>
          <p:txBody>
            <a:bodyPr/>
            <a:lstStyle/>
            <a:p>
              <a:endParaRPr lang="en-IN"/>
            </a:p>
          </p:txBody>
        </p:sp>
        <p:sp>
          <p:nvSpPr>
            <p:cNvPr id="25" name="TextBox 25"/>
            <p:cNvSpPr txBox="1"/>
            <p:nvPr/>
          </p:nvSpPr>
          <p:spPr>
            <a:xfrm>
              <a:off x="0" y="-19050"/>
              <a:ext cx="9275712" cy="930605"/>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Compiled Rule Cache</a:t>
              </a:r>
            </a:p>
          </p:txBody>
        </p:sp>
      </p:grpSp>
      <p:sp>
        <p:nvSpPr>
          <p:cNvPr id="26" name="AutoShape 26"/>
          <p:cNvSpPr/>
          <p:nvPr/>
        </p:nvSpPr>
        <p:spPr>
          <a:xfrm rot="5044680">
            <a:off x="9047102" y="1608125"/>
            <a:ext cx="230962" cy="0"/>
          </a:xfrm>
          <a:prstGeom prst="line">
            <a:avLst/>
          </a:prstGeom>
          <a:ln w="9525" cap="rnd">
            <a:solidFill>
              <a:srgbClr val="414141"/>
            </a:solidFill>
            <a:prstDash val="solid"/>
            <a:headEnd type="none" w="sm" len="sm"/>
            <a:tailEnd type="none" w="sm" len="sm"/>
          </a:ln>
        </p:spPr>
        <p:txBody>
          <a:bodyPr/>
          <a:lstStyle/>
          <a:p>
            <a:endParaRPr lang="en-IN"/>
          </a:p>
        </p:txBody>
      </p:sp>
      <p:sp>
        <p:nvSpPr>
          <p:cNvPr id="27" name="AutoShape 27"/>
          <p:cNvSpPr/>
          <p:nvPr/>
        </p:nvSpPr>
        <p:spPr>
          <a:xfrm rot="5044680">
            <a:off x="9047102" y="2500360"/>
            <a:ext cx="230962" cy="0"/>
          </a:xfrm>
          <a:prstGeom prst="line">
            <a:avLst/>
          </a:prstGeom>
          <a:ln w="9525" cap="rnd">
            <a:solidFill>
              <a:srgbClr val="414141"/>
            </a:solidFill>
            <a:prstDash val="solid"/>
            <a:headEnd type="none" w="sm" len="sm"/>
            <a:tailEnd type="none" w="sm" len="sm"/>
          </a:ln>
        </p:spPr>
        <p:txBody>
          <a:bodyPr/>
          <a:lstStyle/>
          <a:p>
            <a:endParaRPr lang="en-IN"/>
          </a:p>
        </p:txBody>
      </p:sp>
      <p:sp>
        <p:nvSpPr>
          <p:cNvPr id="28" name="AutoShape 28"/>
          <p:cNvSpPr/>
          <p:nvPr/>
        </p:nvSpPr>
        <p:spPr>
          <a:xfrm rot="5044680">
            <a:off x="9047102" y="3392605"/>
            <a:ext cx="230962" cy="0"/>
          </a:xfrm>
          <a:prstGeom prst="line">
            <a:avLst/>
          </a:prstGeom>
          <a:ln w="9525" cap="rnd">
            <a:solidFill>
              <a:srgbClr val="414141"/>
            </a:solidFill>
            <a:prstDash val="solid"/>
            <a:headEnd type="none" w="sm" len="sm"/>
            <a:tailEnd type="none" w="sm" len="sm"/>
          </a:ln>
        </p:spPr>
        <p:txBody>
          <a:bodyPr/>
          <a:lstStyle/>
          <a:p>
            <a:endParaRPr lang="en-IN"/>
          </a:p>
        </p:txBody>
      </p:sp>
      <p:sp>
        <p:nvSpPr>
          <p:cNvPr id="29" name="AutoShape 29"/>
          <p:cNvSpPr/>
          <p:nvPr/>
        </p:nvSpPr>
        <p:spPr>
          <a:xfrm rot="5044680">
            <a:off x="9047102" y="4284840"/>
            <a:ext cx="230962" cy="0"/>
          </a:xfrm>
          <a:prstGeom prst="line">
            <a:avLst/>
          </a:prstGeom>
          <a:ln w="9525" cap="rnd">
            <a:solidFill>
              <a:srgbClr val="414141"/>
            </a:solidFill>
            <a:prstDash val="solid"/>
            <a:headEnd type="none" w="sm" len="sm"/>
            <a:tailEnd type="none" w="sm" len="sm"/>
          </a:ln>
        </p:spPr>
        <p:txBody>
          <a:bodyPr/>
          <a:lstStyle/>
          <a:p>
            <a:endParaRPr lang="en-IN"/>
          </a:p>
        </p:txBody>
      </p:sp>
      <p:sp>
        <p:nvSpPr>
          <p:cNvPr id="30" name="AutoShape 30"/>
          <p:cNvSpPr/>
          <p:nvPr/>
        </p:nvSpPr>
        <p:spPr>
          <a:xfrm rot="5044680">
            <a:off x="9047102" y="5177076"/>
            <a:ext cx="230962" cy="0"/>
          </a:xfrm>
          <a:prstGeom prst="line">
            <a:avLst/>
          </a:prstGeom>
          <a:ln w="9525" cap="rnd">
            <a:solidFill>
              <a:srgbClr val="414141"/>
            </a:solidFill>
            <a:prstDash val="solid"/>
            <a:headEnd type="none" w="sm" len="sm"/>
            <a:tailEnd type="none" w="sm" len="sm"/>
          </a:ln>
        </p:spPr>
        <p:txBody>
          <a:bodyPr/>
          <a:lstStyle/>
          <a:p>
            <a:endParaRPr lang="en-IN"/>
          </a:p>
        </p:txBody>
      </p:sp>
      <p:sp>
        <p:nvSpPr>
          <p:cNvPr id="31" name="AutoShape 31"/>
          <p:cNvSpPr/>
          <p:nvPr/>
        </p:nvSpPr>
        <p:spPr>
          <a:xfrm rot="5044680">
            <a:off x="9047102" y="6069311"/>
            <a:ext cx="230962" cy="0"/>
          </a:xfrm>
          <a:prstGeom prst="line">
            <a:avLst/>
          </a:prstGeom>
          <a:ln w="9525" cap="rnd">
            <a:solidFill>
              <a:srgbClr val="414141"/>
            </a:solidFill>
            <a:prstDash val="solid"/>
            <a:headEnd type="none" w="sm" len="sm"/>
            <a:tailEnd type="none" w="sm" len="sm"/>
          </a:ln>
        </p:spPr>
        <p:txBody>
          <a:bodyPr/>
          <a:lstStyle/>
          <a:p>
            <a:endParaRPr lang="en-IN"/>
          </a:p>
        </p:txBody>
      </p:sp>
      <p:grpSp>
        <p:nvGrpSpPr>
          <p:cNvPr id="32" name="Group 32"/>
          <p:cNvGrpSpPr/>
          <p:nvPr/>
        </p:nvGrpSpPr>
        <p:grpSpPr>
          <a:xfrm>
            <a:off x="13782961" y="7015686"/>
            <a:ext cx="3799637" cy="779755"/>
            <a:chOff x="0" y="0"/>
            <a:chExt cx="5066182" cy="1039673"/>
          </a:xfrm>
        </p:grpSpPr>
        <p:sp>
          <p:nvSpPr>
            <p:cNvPr id="33" name="Freeform 33"/>
            <p:cNvSpPr/>
            <p:nvPr/>
          </p:nvSpPr>
          <p:spPr>
            <a:xfrm>
              <a:off x="0" y="0"/>
              <a:ext cx="5066157" cy="1039622"/>
            </a:xfrm>
            <a:custGeom>
              <a:avLst/>
              <a:gdLst/>
              <a:ahLst/>
              <a:cxnLst/>
              <a:rect l="l" t="t" r="r" b="b"/>
              <a:pathLst>
                <a:path w="5066157" h="1039622">
                  <a:moveTo>
                    <a:pt x="0" y="173228"/>
                  </a:moveTo>
                  <a:cubicBezTo>
                    <a:pt x="0" y="77597"/>
                    <a:pt x="77597" y="0"/>
                    <a:pt x="173228" y="0"/>
                  </a:cubicBezTo>
                  <a:lnTo>
                    <a:pt x="4892929" y="0"/>
                  </a:lnTo>
                  <a:cubicBezTo>
                    <a:pt x="4988687" y="0"/>
                    <a:pt x="5066157" y="77597"/>
                    <a:pt x="5066157" y="173228"/>
                  </a:cubicBezTo>
                  <a:lnTo>
                    <a:pt x="5066157" y="866394"/>
                  </a:lnTo>
                  <a:cubicBezTo>
                    <a:pt x="5066157" y="962152"/>
                    <a:pt x="4988560" y="1039622"/>
                    <a:pt x="4892929" y="1039622"/>
                  </a:cubicBezTo>
                  <a:lnTo>
                    <a:pt x="173228" y="1039622"/>
                  </a:lnTo>
                  <a:cubicBezTo>
                    <a:pt x="77597" y="1039622"/>
                    <a:pt x="0" y="962152"/>
                    <a:pt x="0" y="866394"/>
                  </a:cubicBezTo>
                  <a:close/>
                </a:path>
              </a:pathLst>
            </a:custGeom>
            <a:solidFill>
              <a:srgbClr val="F8F4ED"/>
            </a:solidFill>
            <a:ln w="24784" cap="sq">
              <a:solidFill>
                <a:srgbClr val="222222"/>
              </a:solidFill>
              <a:prstDash val="solid"/>
              <a:miter/>
            </a:ln>
          </p:spPr>
          <p:txBody>
            <a:bodyPr/>
            <a:lstStyle/>
            <a:p>
              <a:endParaRPr lang="en-IN"/>
            </a:p>
          </p:txBody>
        </p:sp>
        <p:sp>
          <p:nvSpPr>
            <p:cNvPr id="34" name="TextBox 34"/>
            <p:cNvSpPr txBox="1"/>
            <p:nvPr/>
          </p:nvSpPr>
          <p:spPr>
            <a:xfrm>
              <a:off x="0" y="-19050"/>
              <a:ext cx="5066182" cy="1058723"/>
            </a:xfrm>
            <a:prstGeom prst="rect">
              <a:avLst/>
            </a:prstGeom>
          </p:spPr>
          <p:txBody>
            <a:bodyPr lIns="50800" tIns="50800" rIns="50800" bIns="50800" rtlCol="0" anchor="ctr"/>
            <a:lstStyle/>
            <a:p>
              <a:pPr algn="ctr">
                <a:lnSpc>
                  <a:spcPts val="1981"/>
                </a:lnSpc>
              </a:pPr>
              <a:r>
                <a:rPr lang="en-US" sz="1651" b="1">
                  <a:solidFill>
                    <a:srgbClr val="000000"/>
                  </a:solidFill>
                  <a:latin typeface="Times New Roman Bold"/>
                  <a:ea typeface="Times New Roman Bold"/>
                  <a:cs typeface="Times New Roman Bold"/>
                  <a:sym typeface="Times New Roman Bold"/>
                </a:rPr>
                <a:t>Normalized Security Events</a:t>
              </a:r>
            </a:p>
          </p:txBody>
        </p:sp>
      </p:grpSp>
      <p:grpSp>
        <p:nvGrpSpPr>
          <p:cNvPr id="35" name="Group 35"/>
          <p:cNvGrpSpPr/>
          <p:nvPr/>
        </p:nvGrpSpPr>
        <p:grpSpPr>
          <a:xfrm>
            <a:off x="5684196" y="7015686"/>
            <a:ext cx="6956784" cy="779755"/>
            <a:chOff x="0" y="0"/>
            <a:chExt cx="9275712" cy="1039673"/>
          </a:xfrm>
        </p:grpSpPr>
        <p:sp>
          <p:nvSpPr>
            <p:cNvPr id="36" name="Freeform 36"/>
            <p:cNvSpPr/>
            <p:nvPr/>
          </p:nvSpPr>
          <p:spPr>
            <a:xfrm>
              <a:off x="0" y="0"/>
              <a:ext cx="9275699" cy="1039622"/>
            </a:xfrm>
            <a:custGeom>
              <a:avLst/>
              <a:gdLst/>
              <a:ahLst/>
              <a:cxnLst/>
              <a:rect l="l" t="t" r="r" b="b"/>
              <a:pathLst>
                <a:path w="9275699" h="1039622">
                  <a:moveTo>
                    <a:pt x="0" y="173228"/>
                  </a:moveTo>
                  <a:cubicBezTo>
                    <a:pt x="0" y="77597"/>
                    <a:pt x="77597" y="0"/>
                    <a:pt x="173228" y="0"/>
                  </a:cubicBezTo>
                  <a:lnTo>
                    <a:pt x="9102471" y="0"/>
                  </a:lnTo>
                  <a:cubicBezTo>
                    <a:pt x="9198228" y="0"/>
                    <a:pt x="9275699" y="77597"/>
                    <a:pt x="9275699" y="173228"/>
                  </a:cubicBezTo>
                  <a:lnTo>
                    <a:pt x="9275699" y="866394"/>
                  </a:lnTo>
                  <a:cubicBezTo>
                    <a:pt x="9275699" y="962152"/>
                    <a:pt x="9198102" y="1039622"/>
                    <a:pt x="9102471" y="1039622"/>
                  </a:cubicBezTo>
                  <a:lnTo>
                    <a:pt x="173228" y="1039622"/>
                  </a:lnTo>
                  <a:cubicBezTo>
                    <a:pt x="77597" y="1039622"/>
                    <a:pt x="0" y="962152"/>
                    <a:pt x="0" y="866394"/>
                  </a:cubicBezTo>
                  <a:close/>
                </a:path>
              </a:pathLst>
            </a:custGeom>
            <a:solidFill>
              <a:srgbClr val="F8F4ED"/>
            </a:solidFill>
            <a:ln w="24784" cap="sq">
              <a:solidFill>
                <a:srgbClr val="222222"/>
              </a:solidFill>
              <a:prstDash val="solid"/>
              <a:miter/>
            </a:ln>
          </p:spPr>
          <p:txBody>
            <a:bodyPr/>
            <a:lstStyle/>
            <a:p>
              <a:endParaRPr lang="en-IN"/>
            </a:p>
          </p:txBody>
        </p:sp>
        <p:sp>
          <p:nvSpPr>
            <p:cNvPr id="37" name="TextBox 37"/>
            <p:cNvSpPr txBox="1"/>
            <p:nvPr/>
          </p:nvSpPr>
          <p:spPr>
            <a:xfrm>
              <a:off x="0" y="-19050"/>
              <a:ext cx="9275712" cy="1058723"/>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Event Dispatcher and Rule Execution</a:t>
              </a:r>
            </a:p>
          </p:txBody>
        </p:sp>
      </p:grpSp>
      <p:sp>
        <p:nvSpPr>
          <p:cNvPr id="38" name="AutoShape 38"/>
          <p:cNvSpPr/>
          <p:nvPr/>
        </p:nvSpPr>
        <p:spPr>
          <a:xfrm rot="4895100">
            <a:off x="9081164" y="6927237"/>
            <a:ext cx="162849" cy="0"/>
          </a:xfrm>
          <a:prstGeom prst="line">
            <a:avLst/>
          </a:prstGeom>
          <a:ln w="9525" cap="rnd">
            <a:solidFill>
              <a:srgbClr val="414141"/>
            </a:solidFill>
            <a:prstDash val="solid"/>
            <a:headEnd type="none" w="sm" len="sm"/>
            <a:tailEnd type="none" w="sm" len="sm"/>
          </a:ln>
        </p:spPr>
        <p:txBody>
          <a:bodyPr/>
          <a:lstStyle/>
          <a:p>
            <a:endParaRPr lang="en-IN"/>
          </a:p>
        </p:txBody>
      </p:sp>
      <p:sp>
        <p:nvSpPr>
          <p:cNvPr id="39" name="AutoShape 39"/>
          <p:cNvSpPr/>
          <p:nvPr/>
        </p:nvSpPr>
        <p:spPr>
          <a:xfrm rot="10727880">
            <a:off x="12643999" y="7400801"/>
            <a:ext cx="1135942" cy="0"/>
          </a:xfrm>
          <a:prstGeom prst="line">
            <a:avLst/>
          </a:prstGeom>
          <a:ln w="9525" cap="rnd">
            <a:solidFill>
              <a:srgbClr val="414141"/>
            </a:solidFill>
            <a:prstDash val="solid"/>
            <a:headEnd type="none" w="sm" len="sm"/>
            <a:tailEnd type="none" w="sm" len="sm"/>
          </a:ln>
        </p:spPr>
        <p:txBody>
          <a:bodyPr/>
          <a:lstStyle/>
          <a:p>
            <a:endParaRPr lang="en-IN"/>
          </a:p>
        </p:txBody>
      </p:sp>
      <p:grpSp>
        <p:nvGrpSpPr>
          <p:cNvPr id="40" name="Group 40"/>
          <p:cNvGrpSpPr/>
          <p:nvPr/>
        </p:nvGrpSpPr>
        <p:grpSpPr>
          <a:xfrm>
            <a:off x="605314" y="8196186"/>
            <a:ext cx="4760500" cy="793480"/>
            <a:chOff x="0" y="0"/>
            <a:chExt cx="6347333" cy="1057974"/>
          </a:xfrm>
        </p:grpSpPr>
        <p:sp>
          <p:nvSpPr>
            <p:cNvPr id="41" name="Freeform 41"/>
            <p:cNvSpPr/>
            <p:nvPr/>
          </p:nvSpPr>
          <p:spPr>
            <a:xfrm>
              <a:off x="0" y="0"/>
              <a:ext cx="6347333" cy="1057910"/>
            </a:xfrm>
            <a:custGeom>
              <a:avLst/>
              <a:gdLst/>
              <a:ahLst/>
              <a:cxnLst/>
              <a:rect l="l" t="t" r="r" b="b"/>
              <a:pathLst>
                <a:path w="6347333" h="1057910">
                  <a:moveTo>
                    <a:pt x="0" y="176276"/>
                  </a:moveTo>
                  <a:cubicBezTo>
                    <a:pt x="0" y="78994"/>
                    <a:pt x="78994" y="0"/>
                    <a:pt x="176276" y="0"/>
                  </a:cubicBezTo>
                  <a:lnTo>
                    <a:pt x="6171057" y="0"/>
                  </a:lnTo>
                  <a:cubicBezTo>
                    <a:pt x="6268466" y="0"/>
                    <a:pt x="6347333" y="78994"/>
                    <a:pt x="6347333" y="176276"/>
                  </a:cubicBezTo>
                  <a:lnTo>
                    <a:pt x="6347333" y="881634"/>
                  </a:lnTo>
                  <a:cubicBezTo>
                    <a:pt x="6347333" y="979043"/>
                    <a:pt x="6268339" y="1057910"/>
                    <a:pt x="6171057" y="1057910"/>
                  </a:cubicBezTo>
                  <a:lnTo>
                    <a:pt x="176276" y="1057910"/>
                  </a:lnTo>
                  <a:cubicBezTo>
                    <a:pt x="78994" y="1058037"/>
                    <a:pt x="0" y="979043"/>
                    <a:pt x="0" y="881634"/>
                  </a:cubicBezTo>
                  <a:close/>
                </a:path>
              </a:pathLst>
            </a:custGeom>
            <a:solidFill>
              <a:srgbClr val="F8F4ED"/>
            </a:solidFill>
            <a:ln w="24784" cap="sq">
              <a:solidFill>
                <a:srgbClr val="222222"/>
              </a:solidFill>
              <a:prstDash val="solid"/>
              <a:miter/>
            </a:ln>
          </p:spPr>
          <p:txBody>
            <a:bodyPr/>
            <a:lstStyle/>
            <a:p>
              <a:endParaRPr lang="en-IN"/>
            </a:p>
          </p:txBody>
        </p:sp>
        <p:sp>
          <p:nvSpPr>
            <p:cNvPr id="42" name="TextBox 42"/>
            <p:cNvSpPr txBox="1"/>
            <p:nvPr/>
          </p:nvSpPr>
          <p:spPr>
            <a:xfrm>
              <a:off x="0" y="-19050"/>
              <a:ext cx="6347333" cy="1077024"/>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Match Evaluator</a:t>
              </a:r>
            </a:p>
          </p:txBody>
        </p:sp>
      </p:grpSp>
      <p:grpSp>
        <p:nvGrpSpPr>
          <p:cNvPr id="43" name="Group 43"/>
          <p:cNvGrpSpPr/>
          <p:nvPr/>
        </p:nvGrpSpPr>
        <p:grpSpPr>
          <a:xfrm>
            <a:off x="6782333" y="8196186"/>
            <a:ext cx="4760500" cy="793480"/>
            <a:chOff x="0" y="0"/>
            <a:chExt cx="6347333" cy="1057974"/>
          </a:xfrm>
        </p:grpSpPr>
        <p:sp>
          <p:nvSpPr>
            <p:cNvPr id="44" name="Freeform 44"/>
            <p:cNvSpPr/>
            <p:nvPr/>
          </p:nvSpPr>
          <p:spPr>
            <a:xfrm>
              <a:off x="0" y="0"/>
              <a:ext cx="6347333" cy="1057910"/>
            </a:xfrm>
            <a:custGeom>
              <a:avLst/>
              <a:gdLst/>
              <a:ahLst/>
              <a:cxnLst/>
              <a:rect l="l" t="t" r="r" b="b"/>
              <a:pathLst>
                <a:path w="6347333" h="1057910">
                  <a:moveTo>
                    <a:pt x="0" y="176276"/>
                  </a:moveTo>
                  <a:cubicBezTo>
                    <a:pt x="0" y="78994"/>
                    <a:pt x="78994" y="0"/>
                    <a:pt x="176276" y="0"/>
                  </a:cubicBezTo>
                  <a:lnTo>
                    <a:pt x="6171057" y="0"/>
                  </a:lnTo>
                  <a:cubicBezTo>
                    <a:pt x="6268466" y="0"/>
                    <a:pt x="6347333" y="78994"/>
                    <a:pt x="6347333" y="176276"/>
                  </a:cubicBezTo>
                  <a:lnTo>
                    <a:pt x="6347333" y="881634"/>
                  </a:lnTo>
                  <a:cubicBezTo>
                    <a:pt x="6347333" y="979043"/>
                    <a:pt x="6268339" y="1057910"/>
                    <a:pt x="6171057" y="1057910"/>
                  </a:cubicBezTo>
                  <a:lnTo>
                    <a:pt x="176276" y="1057910"/>
                  </a:lnTo>
                  <a:cubicBezTo>
                    <a:pt x="78994" y="1058037"/>
                    <a:pt x="0" y="979043"/>
                    <a:pt x="0" y="881634"/>
                  </a:cubicBezTo>
                  <a:close/>
                </a:path>
              </a:pathLst>
            </a:custGeom>
            <a:solidFill>
              <a:srgbClr val="F8F4ED"/>
            </a:solidFill>
            <a:ln w="24784" cap="sq">
              <a:solidFill>
                <a:srgbClr val="222222"/>
              </a:solidFill>
              <a:prstDash val="solid"/>
              <a:miter/>
            </a:ln>
          </p:spPr>
          <p:txBody>
            <a:bodyPr/>
            <a:lstStyle/>
            <a:p>
              <a:endParaRPr lang="en-IN"/>
            </a:p>
          </p:txBody>
        </p:sp>
        <p:sp>
          <p:nvSpPr>
            <p:cNvPr id="45" name="TextBox 45"/>
            <p:cNvSpPr txBox="1"/>
            <p:nvPr/>
          </p:nvSpPr>
          <p:spPr>
            <a:xfrm>
              <a:off x="0" y="-19050"/>
              <a:ext cx="6347333" cy="1077024"/>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Count Evaluator</a:t>
              </a:r>
            </a:p>
          </p:txBody>
        </p:sp>
      </p:grpSp>
      <p:grpSp>
        <p:nvGrpSpPr>
          <p:cNvPr id="46" name="Group 46"/>
          <p:cNvGrpSpPr/>
          <p:nvPr/>
        </p:nvGrpSpPr>
        <p:grpSpPr>
          <a:xfrm>
            <a:off x="12959363" y="8196186"/>
            <a:ext cx="4760500" cy="793480"/>
            <a:chOff x="0" y="0"/>
            <a:chExt cx="6347333" cy="1057974"/>
          </a:xfrm>
        </p:grpSpPr>
        <p:sp>
          <p:nvSpPr>
            <p:cNvPr id="47" name="Freeform 47"/>
            <p:cNvSpPr/>
            <p:nvPr/>
          </p:nvSpPr>
          <p:spPr>
            <a:xfrm>
              <a:off x="0" y="0"/>
              <a:ext cx="6347333" cy="1057910"/>
            </a:xfrm>
            <a:custGeom>
              <a:avLst/>
              <a:gdLst/>
              <a:ahLst/>
              <a:cxnLst/>
              <a:rect l="l" t="t" r="r" b="b"/>
              <a:pathLst>
                <a:path w="6347333" h="1057910">
                  <a:moveTo>
                    <a:pt x="0" y="176276"/>
                  </a:moveTo>
                  <a:cubicBezTo>
                    <a:pt x="0" y="78994"/>
                    <a:pt x="78994" y="0"/>
                    <a:pt x="176276" y="0"/>
                  </a:cubicBezTo>
                  <a:lnTo>
                    <a:pt x="6171057" y="0"/>
                  </a:lnTo>
                  <a:cubicBezTo>
                    <a:pt x="6268466" y="0"/>
                    <a:pt x="6347333" y="78994"/>
                    <a:pt x="6347333" y="176276"/>
                  </a:cubicBezTo>
                  <a:lnTo>
                    <a:pt x="6347333" y="881634"/>
                  </a:lnTo>
                  <a:cubicBezTo>
                    <a:pt x="6347333" y="979043"/>
                    <a:pt x="6268339" y="1057910"/>
                    <a:pt x="6171057" y="1057910"/>
                  </a:cubicBezTo>
                  <a:lnTo>
                    <a:pt x="176276" y="1057910"/>
                  </a:lnTo>
                  <a:cubicBezTo>
                    <a:pt x="78994" y="1058037"/>
                    <a:pt x="0" y="979043"/>
                    <a:pt x="0" y="881634"/>
                  </a:cubicBezTo>
                  <a:close/>
                </a:path>
              </a:pathLst>
            </a:custGeom>
            <a:solidFill>
              <a:srgbClr val="F8F4ED"/>
            </a:solidFill>
            <a:ln w="24784" cap="sq">
              <a:solidFill>
                <a:srgbClr val="222222"/>
              </a:solidFill>
              <a:prstDash val="solid"/>
              <a:miter/>
            </a:ln>
          </p:spPr>
          <p:txBody>
            <a:bodyPr/>
            <a:lstStyle/>
            <a:p>
              <a:endParaRPr lang="en-IN"/>
            </a:p>
          </p:txBody>
        </p:sp>
        <p:sp>
          <p:nvSpPr>
            <p:cNvPr id="48" name="TextBox 48"/>
            <p:cNvSpPr txBox="1"/>
            <p:nvPr/>
          </p:nvSpPr>
          <p:spPr>
            <a:xfrm>
              <a:off x="0" y="-19050"/>
              <a:ext cx="6347333" cy="1077024"/>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Sequence Evaluator</a:t>
              </a:r>
            </a:p>
          </p:txBody>
        </p:sp>
      </p:grpSp>
      <p:sp>
        <p:nvSpPr>
          <p:cNvPr id="49" name="AutoShape 49"/>
          <p:cNvSpPr/>
          <p:nvPr/>
        </p:nvSpPr>
        <p:spPr>
          <a:xfrm rot="10459440">
            <a:off x="2963189" y="7977330"/>
            <a:ext cx="4265714" cy="0"/>
          </a:xfrm>
          <a:prstGeom prst="line">
            <a:avLst/>
          </a:prstGeom>
          <a:ln w="9525" cap="rnd">
            <a:solidFill>
              <a:srgbClr val="414141"/>
            </a:solidFill>
            <a:prstDash val="solid"/>
            <a:headEnd type="none" w="sm" len="sm"/>
            <a:tailEnd type="none" w="sm" len="sm"/>
          </a:ln>
        </p:spPr>
        <p:txBody>
          <a:bodyPr/>
          <a:lstStyle/>
          <a:p>
            <a:endParaRPr lang="en-IN"/>
          </a:p>
        </p:txBody>
      </p:sp>
      <p:sp>
        <p:nvSpPr>
          <p:cNvPr id="50" name="AutoShape 50"/>
          <p:cNvSpPr/>
          <p:nvPr/>
        </p:nvSpPr>
        <p:spPr>
          <a:xfrm rot="5206020">
            <a:off x="8951300" y="7977330"/>
            <a:ext cx="422577" cy="0"/>
          </a:xfrm>
          <a:prstGeom prst="line">
            <a:avLst/>
          </a:prstGeom>
          <a:ln w="9525" cap="rnd">
            <a:solidFill>
              <a:srgbClr val="414141"/>
            </a:solidFill>
            <a:prstDash val="solid"/>
            <a:headEnd type="none" w="sm" len="sm"/>
            <a:tailEnd type="none" w="sm" len="sm"/>
          </a:ln>
        </p:spPr>
        <p:txBody>
          <a:bodyPr/>
          <a:lstStyle/>
          <a:p>
            <a:endParaRPr lang="en-IN"/>
          </a:p>
        </p:txBody>
      </p:sp>
      <p:sp>
        <p:nvSpPr>
          <p:cNvPr id="51" name="AutoShape 51"/>
          <p:cNvSpPr/>
          <p:nvPr/>
        </p:nvSpPr>
        <p:spPr>
          <a:xfrm rot="340560">
            <a:off x="11096273" y="7977330"/>
            <a:ext cx="4265714" cy="0"/>
          </a:xfrm>
          <a:prstGeom prst="line">
            <a:avLst/>
          </a:prstGeom>
          <a:ln w="9525" cap="rnd">
            <a:solidFill>
              <a:srgbClr val="414141"/>
            </a:solidFill>
            <a:prstDash val="solid"/>
            <a:headEnd type="none" w="sm" len="sm"/>
            <a:tailEnd type="none" w="sm" len="sm"/>
          </a:ln>
        </p:spPr>
        <p:txBody>
          <a:bodyPr/>
          <a:lstStyle/>
          <a:p>
            <a:endParaRPr lang="en-IN"/>
          </a:p>
        </p:txBody>
      </p:sp>
      <p:grpSp>
        <p:nvGrpSpPr>
          <p:cNvPr id="52" name="Group 52"/>
          <p:cNvGrpSpPr/>
          <p:nvPr/>
        </p:nvGrpSpPr>
        <p:grpSpPr>
          <a:xfrm>
            <a:off x="4174255" y="9294324"/>
            <a:ext cx="9976656" cy="601304"/>
            <a:chOff x="0" y="0"/>
            <a:chExt cx="13302209" cy="801738"/>
          </a:xfrm>
        </p:grpSpPr>
        <p:sp>
          <p:nvSpPr>
            <p:cNvPr id="53" name="Freeform 53"/>
            <p:cNvSpPr/>
            <p:nvPr/>
          </p:nvSpPr>
          <p:spPr>
            <a:xfrm>
              <a:off x="0" y="0"/>
              <a:ext cx="13302235" cy="801751"/>
            </a:xfrm>
            <a:custGeom>
              <a:avLst/>
              <a:gdLst/>
              <a:ahLst/>
              <a:cxnLst/>
              <a:rect l="l" t="t" r="r" b="b"/>
              <a:pathLst>
                <a:path w="13302235" h="801751">
                  <a:moveTo>
                    <a:pt x="0" y="133604"/>
                  </a:moveTo>
                  <a:cubicBezTo>
                    <a:pt x="0" y="59817"/>
                    <a:pt x="59817" y="0"/>
                    <a:pt x="133604" y="0"/>
                  </a:cubicBezTo>
                  <a:lnTo>
                    <a:pt x="13168630" y="0"/>
                  </a:lnTo>
                  <a:cubicBezTo>
                    <a:pt x="13242418" y="0"/>
                    <a:pt x="13302235" y="59817"/>
                    <a:pt x="13302235" y="133604"/>
                  </a:cubicBezTo>
                  <a:lnTo>
                    <a:pt x="13302235" y="668147"/>
                  </a:lnTo>
                  <a:cubicBezTo>
                    <a:pt x="13302235" y="741934"/>
                    <a:pt x="13242418" y="801751"/>
                    <a:pt x="13168630" y="801751"/>
                  </a:cubicBezTo>
                  <a:lnTo>
                    <a:pt x="133604" y="801751"/>
                  </a:lnTo>
                  <a:cubicBezTo>
                    <a:pt x="59817" y="801751"/>
                    <a:pt x="0" y="741934"/>
                    <a:pt x="0" y="668147"/>
                  </a:cubicBezTo>
                  <a:close/>
                </a:path>
              </a:pathLst>
            </a:custGeom>
            <a:solidFill>
              <a:srgbClr val="F8F4ED"/>
            </a:solidFill>
            <a:ln w="24784" cap="sq">
              <a:solidFill>
                <a:srgbClr val="222222"/>
              </a:solidFill>
              <a:prstDash val="solid"/>
              <a:miter/>
            </a:ln>
          </p:spPr>
          <p:txBody>
            <a:bodyPr/>
            <a:lstStyle/>
            <a:p>
              <a:endParaRPr lang="en-IN"/>
            </a:p>
          </p:txBody>
        </p:sp>
        <p:sp>
          <p:nvSpPr>
            <p:cNvPr id="54" name="TextBox 54"/>
            <p:cNvSpPr txBox="1"/>
            <p:nvPr/>
          </p:nvSpPr>
          <p:spPr>
            <a:xfrm>
              <a:off x="0" y="-19050"/>
              <a:ext cx="13302209" cy="820788"/>
            </a:xfrm>
            <a:prstGeom prst="rect">
              <a:avLst/>
            </a:prstGeom>
          </p:spPr>
          <p:txBody>
            <a:bodyPr lIns="50800" tIns="50800" rIns="50800" bIns="50800" rtlCol="0" anchor="ctr"/>
            <a:lstStyle/>
            <a:p>
              <a:pPr algn="ctr">
                <a:lnSpc>
                  <a:spcPts val="2341"/>
                </a:lnSpc>
              </a:pPr>
              <a:r>
                <a:rPr lang="en-US" sz="1951" b="1">
                  <a:solidFill>
                    <a:srgbClr val="000000"/>
                  </a:solidFill>
                  <a:latin typeface="Times New Roman Bold"/>
                  <a:ea typeface="Times New Roman Bold"/>
                  <a:cs typeface="Times New Roman Bold"/>
                  <a:sym typeface="Times New Roman Bold"/>
                </a:rPr>
                <a:t>Alert Builder and Cooldown  →  RuleAlert JSON Output</a:t>
              </a:r>
            </a:p>
          </p:txBody>
        </p:sp>
      </p:grpSp>
      <p:sp>
        <p:nvSpPr>
          <p:cNvPr id="55" name="AutoShape 55"/>
          <p:cNvSpPr/>
          <p:nvPr/>
        </p:nvSpPr>
        <p:spPr>
          <a:xfrm rot="339840">
            <a:off x="2965923" y="9130370"/>
            <a:ext cx="3162100" cy="0"/>
          </a:xfrm>
          <a:prstGeom prst="line">
            <a:avLst/>
          </a:prstGeom>
          <a:ln w="9525" cap="rnd">
            <a:solidFill>
              <a:srgbClr val="414141"/>
            </a:solidFill>
            <a:prstDash val="solid"/>
            <a:headEnd type="none" w="sm" len="sm"/>
            <a:tailEnd type="none" w="sm" len="sm"/>
          </a:ln>
        </p:spPr>
        <p:txBody>
          <a:bodyPr/>
          <a:lstStyle/>
          <a:p>
            <a:endParaRPr lang="en-IN"/>
          </a:p>
        </p:txBody>
      </p:sp>
      <p:sp>
        <p:nvSpPr>
          <p:cNvPr id="56" name="AutoShape 56"/>
          <p:cNvSpPr/>
          <p:nvPr/>
        </p:nvSpPr>
        <p:spPr>
          <a:xfrm rot="5137980">
            <a:off x="9006088" y="9130370"/>
            <a:ext cx="313001" cy="0"/>
          </a:xfrm>
          <a:prstGeom prst="line">
            <a:avLst/>
          </a:prstGeom>
          <a:ln w="9525" cap="rnd">
            <a:solidFill>
              <a:srgbClr val="414141"/>
            </a:solidFill>
            <a:prstDash val="solid"/>
            <a:headEnd type="none" w="sm" len="sm"/>
            <a:tailEnd type="none" w="sm" len="sm"/>
          </a:ln>
        </p:spPr>
        <p:txBody>
          <a:bodyPr/>
          <a:lstStyle/>
          <a:p>
            <a:endParaRPr lang="en-IN"/>
          </a:p>
        </p:txBody>
      </p:sp>
      <p:sp>
        <p:nvSpPr>
          <p:cNvPr id="57" name="AutoShape 57"/>
          <p:cNvSpPr/>
          <p:nvPr/>
        </p:nvSpPr>
        <p:spPr>
          <a:xfrm rot="10460160">
            <a:off x="12197153" y="9130370"/>
            <a:ext cx="3162100" cy="0"/>
          </a:xfrm>
          <a:prstGeom prst="line">
            <a:avLst/>
          </a:prstGeom>
          <a:ln w="9525" cap="rnd">
            <a:solidFill>
              <a:srgbClr val="414141"/>
            </a:solidFill>
            <a:prstDash val="solid"/>
            <a:headEnd type="none" w="sm" len="sm"/>
            <a:tailEnd type="none" w="sm" len="sm"/>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1028700" y="657225"/>
            <a:ext cx="8678502" cy="1183938"/>
          </a:xfrm>
          <a:prstGeom prst="rect">
            <a:avLst/>
          </a:prstGeom>
        </p:spPr>
        <p:txBody>
          <a:bodyPr lIns="0" tIns="0" rIns="0" bIns="0" rtlCol="0" anchor="t">
            <a:spAutoFit/>
          </a:bodyPr>
          <a:lstStyle/>
          <a:p>
            <a:pPr algn="l">
              <a:lnSpc>
                <a:spcPts val="8974"/>
              </a:lnSpc>
            </a:pPr>
            <a:r>
              <a:rPr lang="en-US" sz="7872" b="1">
                <a:solidFill>
                  <a:srgbClr val="111111"/>
                </a:solidFill>
                <a:latin typeface="Times New Roman Bold"/>
                <a:ea typeface="Times New Roman Bold"/>
                <a:cs typeface="Times New Roman Bold"/>
                <a:sym typeface="Times New Roman Bold"/>
              </a:rPr>
              <a:t>EXAMPLE</a:t>
            </a:r>
          </a:p>
        </p:txBody>
      </p:sp>
      <p:sp>
        <p:nvSpPr>
          <p:cNvPr id="6" name="TextBox 6"/>
          <p:cNvSpPr txBox="1"/>
          <p:nvPr/>
        </p:nvSpPr>
        <p:spPr>
          <a:xfrm>
            <a:off x="1028700" y="1926888"/>
            <a:ext cx="5343357" cy="3256849"/>
          </a:xfrm>
          <a:prstGeom prst="rect">
            <a:avLst/>
          </a:prstGeom>
        </p:spPr>
        <p:txBody>
          <a:bodyPr lIns="0" tIns="0" rIns="0" bIns="0" rtlCol="0" anchor="t">
            <a:spAutoFit/>
          </a:bodyPr>
          <a:lstStyle/>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title: Suspicious Administrator Login</a:t>
            </a:r>
          </a:p>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detection:</a:t>
            </a:r>
          </a:p>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  selection:</a:t>
            </a:r>
          </a:p>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    </a:t>
            </a:r>
            <a:r>
              <a:rPr lang="en-US" sz="1922" spc="105" dirty="0" err="1">
                <a:solidFill>
                  <a:srgbClr val="111111"/>
                </a:solidFill>
                <a:latin typeface="Times New Roman"/>
                <a:ea typeface="Times New Roman"/>
                <a:cs typeface="Times New Roman"/>
                <a:sym typeface="Times New Roman"/>
              </a:rPr>
              <a:t>message|contains</a:t>
            </a:r>
            <a:r>
              <a:rPr lang="en-US" sz="1922" spc="105" dirty="0">
                <a:solidFill>
                  <a:srgbClr val="111111"/>
                </a:solidFill>
                <a:latin typeface="Times New Roman"/>
                <a:ea typeface="Times New Roman"/>
                <a:cs typeface="Times New Roman"/>
                <a:sym typeface="Times New Roman"/>
              </a:rPr>
              <a:t>: "Failed password"</a:t>
            </a:r>
          </a:p>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  filter:</a:t>
            </a:r>
          </a:p>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    </a:t>
            </a:r>
            <a:r>
              <a:rPr lang="en-US" sz="1922" spc="105" dirty="0" err="1">
                <a:solidFill>
                  <a:srgbClr val="111111"/>
                </a:solidFill>
                <a:latin typeface="Times New Roman"/>
                <a:ea typeface="Times New Roman"/>
                <a:cs typeface="Times New Roman"/>
                <a:sym typeface="Times New Roman"/>
              </a:rPr>
              <a:t>src_endpoint.ip</a:t>
            </a:r>
            <a:r>
              <a:rPr lang="en-US" sz="1922" spc="105" dirty="0">
                <a:solidFill>
                  <a:srgbClr val="111111"/>
                </a:solidFill>
                <a:latin typeface="Times New Roman"/>
                <a:ea typeface="Times New Roman"/>
                <a:cs typeface="Times New Roman"/>
                <a:sym typeface="Times New Roman"/>
              </a:rPr>
              <a:t>: "10.0.0.10"</a:t>
            </a:r>
          </a:p>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  condition: selection AND NOT filter</a:t>
            </a:r>
          </a:p>
          <a:p>
            <a:pPr algn="l">
              <a:lnSpc>
                <a:spcPts val="3287"/>
              </a:lnSpc>
              <a:spcBef>
                <a:spcPct val="0"/>
              </a:spcBef>
            </a:pPr>
            <a:r>
              <a:rPr lang="en-US" sz="1922" spc="105" dirty="0">
                <a:solidFill>
                  <a:srgbClr val="111111"/>
                </a:solidFill>
                <a:latin typeface="Times New Roman"/>
                <a:ea typeface="Times New Roman"/>
                <a:cs typeface="Times New Roman"/>
                <a:sym typeface="Times New Roman"/>
              </a:rPr>
              <a:t>level: high</a:t>
            </a:r>
          </a:p>
        </p:txBody>
      </p:sp>
      <p:sp>
        <p:nvSpPr>
          <p:cNvPr id="7" name="TextBox 7"/>
          <p:cNvSpPr txBox="1"/>
          <p:nvPr/>
        </p:nvSpPr>
        <p:spPr>
          <a:xfrm>
            <a:off x="662843" y="5775092"/>
            <a:ext cx="15720580" cy="3666424"/>
          </a:xfrm>
          <a:prstGeom prst="rect">
            <a:avLst/>
          </a:prstGeom>
        </p:spPr>
        <p:txBody>
          <a:bodyPr lIns="0" tIns="0" rIns="0" bIns="0" rtlCol="0" anchor="t">
            <a:spAutoFit/>
          </a:bodyPr>
          <a:lstStyle/>
          <a:p>
            <a:pPr algn="l">
              <a:lnSpc>
                <a:spcPts val="3287"/>
              </a:lnSpc>
            </a:pPr>
            <a:r>
              <a:rPr lang="en-US" sz="1922" b="1" spc="105">
                <a:solidFill>
                  <a:srgbClr val="111111"/>
                </a:solidFill>
                <a:latin typeface="Times New Roman Bold"/>
                <a:ea typeface="Times New Roman Bold"/>
                <a:cs typeface="Times New Roman Bold"/>
                <a:sym typeface="Times New Roman Bold"/>
              </a:rPr>
              <a:t>Compilation process:</a:t>
            </a:r>
          </a:p>
          <a:p>
            <a:pPr marL="415088" lvl="1" indent="-207544" algn="l">
              <a:lnSpc>
                <a:spcPts val="3287"/>
              </a:lnSpc>
              <a:spcBef>
                <a:spcPct val="0"/>
              </a:spcBef>
              <a:buAutoNum type="arabicPeriod"/>
            </a:pPr>
            <a:r>
              <a:rPr lang="en-US" sz="1922" b="1" spc="105">
                <a:solidFill>
                  <a:srgbClr val="111111"/>
                </a:solidFill>
                <a:latin typeface="Times New Roman Bold"/>
                <a:ea typeface="Times New Roman Bold"/>
                <a:cs typeface="Times New Roman Bold"/>
                <a:sym typeface="Times New Roman Bold"/>
              </a:rPr>
              <a:t>Parse YAML: </a:t>
            </a:r>
            <a:r>
              <a:rPr lang="en-US" sz="1922" spc="105">
                <a:solidFill>
                  <a:srgbClr val="111111"/>
                </a:solidFill>
                <a:latin typeface="Times New Roman"/>
                <a:ea typeface="Times New Roman"/>
                <a:cs typeface="Times New Roman"/>
                <a:sym typeface="Times New Roman"/>
              </a:rPr>
              <a:t>Create the structured rule object containing selections, metadata and the condition.</a:t>
            </a:r>
          </a:p>
          <a:p>
            <a:pPr marL="415088" lvl="1" indent="-207544" algn="l">
              <a:lnSpc>
                <a:spcPts val="3287"/>
              </a:lnSpc>
              <a:spcBef>
                <a:spcPct val="0"/>
              </a:spcBef>
              <a:buAutoNum type="arabicPeriod"/>
            </a:pPr>
            <a:r>
              <a:rPr lang="en-US" sz="1922" b="1" spc="105">
                <a:solidFill>
                  <a:srgbClr val="111111"/>
                </a:solidFill>
                <a:latin typeface="Times New Roman Bold"/>
                <a:ea typeface="Times New Roman Bold"/>
                <a:cs typeface="Times New Roman Bold"/>
                <a:sym typeface="Times New Roman Bold"/>
              </a:rPr>
              <a:t>Tokenize the condition:</a:t>
            </a:r>
            <a:r>
              <a:rPr lang="en-US" sz="1922" spc="105">
                <a:solidFill>
                  <a:srgbClr val="111111"/>
                </a:solidFill>
                <a:latin typeface="Times New Roman"/>
                <a:ea typeface="Times New Roman"/>
                <a:cs typeface="Times New Roman"/>
                <a:sym typeface="Times New Roman"/>
              </a:rPr>
              <a:t> Produce IDENTIFIER(selection), AND, NOT, IDENTIFIER(filter).</a:t>
            </a:r>
          </a:p>
          <a:p>
            <a:pPr marL="415088" lvl="1" indent="-207544" algn="l">
              <a:lnSpc>
                <a:spcPts val="3287"/>
              </a:lnSpc>
              <a:spcBef>
                <a:spcPct val="0"/>
              </a:spcBef>
              <a:buAutoNum type="arabicPeriod"/>
            </a:pPr>
            <a:r>
              <a:rPr lang="en-US" sz="1922" b="1" spc="105">
                <a:solidFill>
                  <a:srgbClr val="111111"/>
                </a:solidFill>
                <a:latin typeface="Times New Roman Bold"/>
                <a:ea typeface="Times New Roman Bold"/>
                <a:cs typeface="Times New Roman Bold"/>
                <a:sym typeface="Times New Roman Bold"/>
              </a:rPr>
              <a:t>Build the AST:</a:t>
            </a:r>
            <a:r>
              <a:rPr lang="en-US" sz="1922" spc="105">
                <a:solidFill>
                  <a:srgbClr val="111111"/>
                </a:solidFill>
                <a:latin typeface="Times New Roman"/>
                <a:ea typeface="Times New Roman"/>
                <a:cs typeface="Times New Roman"/>
                <a:sym typeface="Times New Roman"/>
              </a:rPr>
              <a:t> Create an AND node with a selection identifier on one side and a NOT(filter) subtree on the other.</a:t>
            </a:r>
          </a:p>
          <a:p>
            <a:pPr marL="415088" lvl="1" indent="-207544" algn="l">
              <a:lnSpc>
                <a:spcPts val="3287"/>
              </a:lnSpc>
              <a:spcBef>
                <a:spcPct val="0"/>
              </a:spcBef>
              <a:buAutoNum type="arabicPeriod"/>
            </a:pPr>
            <a:r>
              <a:rPr lang="en-US" sz="1922" b="1" spc="105">
                <a:solidFill>
                  <a:srgbClr val="111111"/>
                </a:solidFill>
                <a:latin typeface="Times New Roman Bold"/>
                <a:ea typeface="Times New Roman Bold"/>
                <a:cs typeface="Times New Roman Bold"/>
                <a:sym typeface="Times New Roman Bold"/>
              </a:rPr>
              <a:t>Generate predicates:</a:t>
            </a:r>
            <a:r>
              <a:rPr lang="en-US" sz="1922" spc="105">
                <a:solidFill>
                  <a:srgbClr val="111111"/>
                </a:solidFill>
                <a:latin typeface="Times New Roman"/>
                <a:ea typeface="Times New Roman"/>
                <a:cs typeface="Times New Roman"/>
                <a:sym typeface="Times New Roman"/>
              </a:rPr>
              <a:t> Compile the field checks into reusable functions and combine them according to the AST.</a:t>
            </a:r>
          </a:p>
          <a:p>
            <a:pPr marL="415088" lvl="1" indent="-207544" algn="l">
              <a:lnSpc>
                <a:spcPts val="3287"/>
              </a:lnSpc>
              <a:spcBef>
                <a:spcPct val="0"/>
              </a:spcBef>
              <a:buAutoNum type="arabicPeriod"/>
            </a:pPr>
            <a:r>
              <a:rPr lang="en-US" sz="1922" b="1" spc="105">
                <a:solidFill>
                  <a:srgbClr val="111111"/>
                </a:solidFill>
                <a:latin typeface="Times New Roman Bold"/>
                <a:ea typeface="Times New Roman Bold"/>
                <a:cs typeface="Times New Roman Bold"/>
                <a:sym typeface="Times New Roman Bold"/>
              </a:rPr>
              <a:t>Evaluate the event: </a:t>
            </a:r>
            <a:r>
              <a:rPr lang="en-US" sz="1922" spc="105">
                <a:solidFill>
                  <a:srgbClr val="111111"/>
                </a:solidFill>
                <a:latin typeface="Times New Roman"/>
                <a:ea typeface="Times New Roman"/>
                <a:cs typeface="Times New Roman"/>
                <a:sym typeface="Times New Roman"/>
              </a:rPr>
              <a:t>If the message contains the specified phrase and the source IP is not the excluded IP, the condition evaluates to true.</a:t>
            </a:r>
          </a:p>
          <a:p>
            <a:pPr marL="415088" lvl="1" indent="-207544" algn="l">
              <a:lnSpc>
                <a:spcPts val="3287"/>
              </a:lnSpc>
              <a:spcBef>
                <a:spcPct val="0"/>
              </a:spcBef>
              <a:buAutoNum type="arabicPeriod"/>
            </a:pPr>
            <a:r>
              <a:rPr lang="en-US" sz="1922" b="1" spc="105">
                <a:solidFill>
                  <a:srgbClr val="111111"/>
                </a:solidFill>
                <a:latin typeface="Times New Roman Bold"/>
                <a:ea typeface="Times New Roman Bold"/>
                <a:cs typeface="Times New Roman Bold"/>
                <a:sym typeface="Times New Roman Bold"/>
              </a:rPr>
              <a:t>Generate the alert:</a:t>
            </a:r>
            <a:r>
              <a:rPr lang="en-US" sz="1922" spc="105">
                <a:solidFill>
                  <a:srgbClr val="111111"/>
                </a:solidFill>
                <a:latin typeface="Times New Roman"/>
                <a:ea typeface="Times New Roman"/>
                <a:cs typeface="Times New Roman"/>
                <a:sym typeface="Times New Roman"/>
              </a:rPr>
              <a:t> A matching event produces a structured alert containing the rule identity, severity, matched event and condition information.</a:t>
            </a:r>
          </a:p>
          <a:p>
            <a:pPr algn="l">
              <a:lnSpc>
                <a:spcPts val="3287"/>
              </a:lnSpc>
              <a:spcBef>
                <a:spcPct val="0"/>
              </a:spcBef>
            </a:pPr>
            <a:endParaRPr lang="en-US" sz="1922" spc="105">
              <a:solidFill>
                <a:srgbClr val="111111"/>
              </a:solidFill>
              <a:latin typeface="Times New Roman"/>
              <a:ea typeface="Times New Roman"/>
              <a:cs typeface="Times New Roman"/>
              <a:sym typeface="Times New Roman"/>
            </a:endParaRPr>
          </a:p>
        </p:txBody>
      </p:sp>
      <p:sp>
        <p:nvSpPr>
          <p:cNvPr id="8" name="TextBox 8"/>
          <p:cNvSpPr txBox="1"/>
          <p:nvPr/>
        </p:nvSpPr>
        <p:spPr>
          <a:xfrm>
            <a:off x="7960212" y="2336463"/>
            <a:ext cx="5343357" cy="2437699"/>
          </a:xfrm>
          <a:prstGeom prst="rect">
            <a:avLst/>
          </a:prstGeom>
        </p:spPr>
        <p:txBody>
          <a:bodyPr lIns="0" tIns="0" rIns="0" bIns="0" rtlCol="0" anchor="t">
            <a:spAutoFit/>
          </a:bodyPr>
          <a:lstStyle/>
          <a:p>
            <a:pPr algn="l">
              <a:lnSpc>
                <a:spcPts val="3287"/>
              </a:lnSpc>
              <a:spcBef>
                <a:spcPct val="0"/>
              </a:spcBef>
            </a:pPr>
            <a:r>
              <a:rPr lang="en-US" sz="1922" spc="105">
                <a:solidFill>
                  <a:srgbClr val="111111"/>
                </a:solidFill>
                <a:latin typeface="Times New Roman"/>
                <a:ea typeface="Times New Roman"/>
                <a:cs typeface="Times New Roman"/>
                <a:sym typeface="Times New Roman"/>
              </a:rPr>
              <a:t>{</a:t>
            </a:r>
          </a:p>
          <a:p>
            <a:pPr algn="l">
              <a:lnSpc>
                <a:spcPts val="3287"/>
              </a:lnSpc>
              <a:spcBef>
                <a:spcPct val="0"/>
              </a:spcBef>
            </a:pPr>
            <a:r>
              <a:rPr lang="en-US" sz="1922" spc="105">
                <a:solidFill>
                  <a:srgbClr val="111111"/>
                </a:solidFill>
                <a:latin typeface="Times New Roman"/>
                <a:ea typeface="Times New Roman"/>
                <a:cs typeface="Times New Roman"/>
                <a:sym typeface="Times New Roman"/>
              </a:rPr>
              <a:t>  "message": "Failed password for user admin",</a:t>
            </a:r>
          </a:p>
          <a:p>
            <a:pPr algn="l">
              <a:lnSpc>
                <a:spcPts val="3287"/>
              </a:lnSpc>
              <a:spcBef>
                <a:spcPct val="0"/>
              </a:spcBef>
            </a:pPr>
            <a:r>
              <a:rPr lang="en-US" sz="1922" spc="105">
                <a:solidFill>
                  <a:srgbClr val="111111"/>
                </a:solidFill>
                <a:latin typeface="Times New Roman"/>
                <a:ea typeface="Times New Roman"/>
                <a:cs typeface="Times New Roman"/>
                <a:sym typeface="Times New Roman"/>
              </a:rPr>
              <a:t>  "src_endpoint": {</a:t>
            </a:r>
          </a:p>
          <a:p>
            <a:pPr algn="l">
              <a:lnSpc>
                <a:spcPts val="3287"/>
              </a:lnSpc>
              <a:spcBef>
                <a:spcPct val="0"/>
              </a:spcBef>
            </a:pPr>
            <a:r>
              <a:rPr lang="en-US" sz="1922" spc="105">
                <a:solidFill>
                  <a:srgbClr val="111111"/>
                </a:solidFill>
                <a:latin typeface="Times New Roman"/>
                <a:ea typeface="Times New Roman"/>
                <a:cs typeface="Times New Roman"/>
                <a:sym typeface="Times New Roman"/>
              </a:rPr>
              <a:t>    "ip": "192.168.1.25"</a:t>
            </a:r>
          </a:p>
          <a:p>
            <a:pPr algn="l">
              <a:lnSpc>
                <a:spcPts val="3287"/>
              </a:lnSpc>
              <a:spcBef>
                <a:spcPct val="0"/>
              </a:spcBef>
            </a:pPr>
            <a:r>
              <a:rPr lang="en-US" sz="1922" spc="105">
                <a:solidFill>
                  <a:srgbClr val="111111"/>
                </a:solidFill>
                <a:latin typeface="Times New Roman"/>
                <a:ea typeface="Times New Roman"/>
                <a:cs typeface="Times New Roman"/>
                <a:sym typeface="Times New Roman"/>
              </a:rPr>
              <a:t>  }</a:t>
            </a:r>
          </a:p>
          <a:p>
            <a:pPr algn="l">
              <a:lnSpc>
                <a:spcPts val="3287"/>
              </a:lnSpc>
              <a:spcBef>
                <a:spcPct val="0"/>
              </a:spcBef>
            </a:pPr>
            <a:r>
              <a:rPr lang="en-US" sz="1922" spc="105">
                <a:solidFill>
                  <a:srgbClr val="111111"/>
                </a:solidFill>
                <a:latin typeface="Times New Roman"/>
                <a:ea typeface="Times New Roman"/>
                <a:cs typeface="Times New Roman"/>
                <a:sym typeface="Times New Roman"/>
              </a:rPr>
              <a:t>}</a:t>
            </a:r>
          </a:p>
        </p:txBody>
      </p:sp>
      <p:sp>
        <p:nvSpPr>
          <p:cNvPr id="9" name="TextBox 9"/>
          <p:cNvSpPr txBox="1"/>
          <p:nvPr/>
        </p:nvSpPr>
        <p:spPr>
          <a:xfrm>
            <a:off x="7960212" y="1836015"/>
            <a:ext cx="2867424" cy="391295"/>
          </a:xfrm>
          <a:prstGeom prst="rect">
            <a:avLst/>
          </a:prstGeom>
        </p:spPr>
        <p:txBody>
          <a:bodyPr lIns="0" tIns="0" rIns="0" bIns="0" rtlCol="0" anchor="t">
            <a:spAutoFit/>
          </a:bodyPr>
          <a:lstStyle/>
          <a:p>
            <a:pPr algn="l">
              <a:lnSpc>
                <a:spcPts val="2965"/>
              </a:lnSpc>
            </a:pPr>
            <a:r>
              <a:rPr lang="en-US" sz="2601">
                <a:solidFill>
                  <a:srgbClr val="111111"/>
                </a:solidFill>
                <a:latin typeface="Times New Roman"/>
                <a:ea typeface="Times New Roman"/>
                <a:cs typeface="Times New Roman"/>
                <a:sym typeface="Times New Roman"/>
              </a:rPr>
              <a:t>Alert generated</a:t>
            </a:r>
          </a:p>
        </p:txBody>
      </p:sp>
      <p:grpSp>
        <p:nvGrpSpPr>
          <p:cNvPr id="10" name="Group 10"/>
          <p:cNvGrpSpPr/>
          <p:nvPr/>
        </p:nvGrpSpPr>
        <p:grpSpPr>
          <a:xfrm>
            <a:off x="6190857" y="3233784"/>
            <a:ext cx="1208666" cy="747831"/>
            <a:chOff x="0" y="0"/>
            <a:chExt cx="733447" cy="453802"/>
          </a:xfrm>
        </p:grpSpPr>
        <p:sp>
          <p:nvSpPr>
            <p:cNvPr id="11" name="Freeform 11"/>
            <p:cNvSpPr/>
            <p:nvPr/>
          </p:nvSpPr>
          <p:spPr>
            <a:xfrm>
              <a:off x="0" y="0"/>
              <a:ext cx="733447" cy="453802"/>
            </a:xfrm>
            <a:custGeom>
              <a:avLst/>
              <a:gdLst/>
              <a:ahLst/>
              <a:cxnLst/>
              <a:rect l="l" t="t" r="r" b="b"/>
              <a:pathLst>
                <a:path w="733447" h="453802">
                  <a:moveTo>
                    <a:pt x="733447" y="226901"/>
                  </a:moveTo>
                  <a:lnTo>
                    <a:pt x="327047" y="0"/>
                  </a:lnTo>
                  <a:lnTo>
                    <a:pt x="327047" y="203200"/>
                  </a:lnTo>
                  <a:lnTo>
                    <a:pt x="0" y="203200"/>
                  </a:lnTo>
                  <a:lnTo>
                    <a:pt x="0" y="250602"/>
                  </a:lnTo>
                  <a:lnTo>
                    <a:pt x="327047" y="250602"/>
                  </a:lnTo>
                  <a:lnTo>
                    <a:pt x="327047" y="453802"/>
                  </a:lnTo>
                  <a:lnTo>
                    <a:pt x="733447" y="226901"/>
                  </a:lnTo>
                  <a:close/>
                </a:path>
              </a:pathLst>
            </a:custGeom>
            <a:solidFill>
              <a:srgbClr val="000000"/>
            </a:solidFill>
          </p:spPr>
          <p:txBody>
            <a:bodyPr/>
            <a:lstStyle/>
            <a:p>
              <a:endParaRPr lang="en-IN"/>
            </a:p>
          </p:txBody>
        </p:sp>
        <p:sp>
          <p:nvSpPr>
            <p:cNvPr id="12" name="TextBox 12"/>
            <p:cNvSpPr txBox="1"/>
            <p:nvPr/>
          </p:nvSpPr>
          <p:spPr>
            <a:xfrm>
              <a:off x="0" y="184150"/>
              <a:ext cx="631847" cy="66452"/>
            </a:xfrm>
            <a:prstGeom prst="rect">
              <a:avLst/>
            </a:prstGeom>
          </p:spPr>
          <p:txBody>
            <a:bodyPr lIns="50800" tIns="50800" rIns="50800" bIns="50800" rtlCol="0" anchor="ctr"/>
            <a:lstStyle/>
            <a:p>
              <a:pPr algn="ctr">
                <a:lnSpc>
                  <a:spcPts val="2341"/>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graphicFrame>
        <p:nvGraphicFramePr>
          <p:cNvPr id="5" name="Table 5"/>
          <p:cNvGraphicFramePr>
            <a:graphicFrameLocks noGrp="1"/>
          </p:cNvGraphicFramePr>
          <p:nvPr/>
        </p:nvGraphicFramePr>
        <p:xfrm>
          <a:off x="488931" y="2358316"/>
          <a:ext cx="16333910" cy="7432041"/>
        </p:xfrm>
        <a:graphic>
          <a:graphicData uri="http://schemas.openxmlformats.org/drawingml/2006/table">
            <a:tbl>
              <a:tblPr/>
              <a:tblGrid>
                <a:gridCol w="4408452">
                  <a:extLst>
                    <a:ext uri="{9D8B030D-6E8A-4147-A177-3AD203B41FA5}">
                      <a16:colId xmlns:a16="http://schemas.microsoft.com/office/drawing/2014/main" val="20000"/>
                    </a:ext>
                  </a:extLst>
                </a:gridCol>
                <a:gridCol w="11925458">
                  <a:extLst>
                    <a:ext uri="{9D8B030D-6E8A-4147-A177-3AD203B41FA5}">
                      <a16:colId xmlns:a16="http://schemas.microsoft.com/office/drawing/2014/main" val="20001"/>
                    </a:ext>
                  </a:extLst>
                </a:gridCol>
              </a:tblGrid>
              <a:tr h="834222">
                <a:tc>
                  <a:txBody>
                    <a:bodyPr/>
                    <a:lstStyle/>
                    <a:p>
                      <a:pPr algn="ctr">
                        <a:lnSpc>
                          <a:spcPts val="2800"/>
                        </a:lnSpc>
                        <a:defRPr/>
                      </a:pPr>
                      <a:r>
                        <a:rPr lang="en-US" sz="2000" b="1">
                          <a:solidFill>
                            <a:srgbClr val="222222"/>
                          </a:solidFill>
                          <a:latin typeface="Times New Roman Bold"/>
                          <a:ea typeface="Times New Roman Bold"/>
                          <a:cs typeface="Times New Roman Bold"/>
                          <a:sym typeface="Times New Roman Bold"/>
                        </a:rPr>
                        <a:t>Test case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222222"/>
                          </a:solidFill>
                          <a:latin typeface="Times New Roman Bold"/>
                          <a:ea typeface="Times New Roman Bold"/>
                          <a:cs typeface="Times New Roman Bold"/>
                          <a:sym typeface="Times New Roman Bold"/>
                        </a:rPr>
                        <a:t>Expected outcome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4222">
                <a:tc>
                  <a:txBody>
                    <a:bodyPr/>
                    <a:lstStyle/>
                    <a:p>
                      <a:pPr algn="ctr">
                        <a:lnSpc>
                          <a:spcPts val="2800"/>
                        </a:lnSpc>
                        <a:defRPr/>
                      </a:pPr>
                      <a:r>
                        <a:rPr lang="en-US" sz="2000" dirty="0">
                          <a:solidFill>
                            <a:srgbClr val="222222"/>
                          </a:solidFill>
                          <a:latin typeface="Times New Roman"/>
                          <a:ea typeface="Times New Roman"/>
                          <a:cs typeface="Times New Roman"/>
                          <a:sym typeface="Times New Roman"/>
                        </a:rPr>
                        <a:t>Valid YAML rule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222222"/>
                          </a:solidFill>
                          <a:latin typeface="Times New Roman"/>
                          <a:ea typeface="Times New Roman"/>
                          <a:cs typeface="Times New Roman"/>
                          <a:sym typeface="Times New Roman"/>
                        </a:rPr>
                        <a:t>Successfully parsed into a structured rule object.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3371">
                <a:tc>
                  <a:txBody>
                    <a:bodyPr/>
                    <a:lstStyle/>
                    <a:p>
                      <a:pPr algn="ctr">
                        <a:lnSpc>
                          <a:spcPts val="2799"/>
                        </a:lnSpc>
                        <a:defRPr/>
                      </a:pPr>
                      <a:r>
                        <a:rPr lang="en-US" sz="1999" dirty="0">
                          <a:solidFill>
                            <a:srgbClr val="222222"/>
                          </a:solidFill>
                          <a:latin typeface="Times New Roman"/>
                          <a:ea typeface="Times New Roman"/>
                          <a:cs typeface="Times New Roman"/>
                          <a:sym typeface="Times New Roman"/>
                        </a:rPr>
                        <a:t>Invalid YAML structure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222222"/>
                          </a:solidFill>
                          <a:latin typeface="Times New Roman"/>
                          <a:ea typeface="Times New Roman"/>
                          <a:cs typeface="Times New Roman"/>
                          <a:sym typeface="Times New Roman"/>
                        </a:rPr>
                        <a:t>Rejected during parsing or structural validation.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3371">
                <a:tc>
                  <a:txBody>
                    <a:bodyPr/>
                    <a:lstStyle/>
                    <a:p>
                      <a:pPr algn="ctr">
                        <a:lnSpc>
                          <a:spcPts val="2800"/>
                        </a:lnSpc>
                        <a:defRPr/>
                      </a:pPr>
                      <a:r>
                        <a:rPr lang="en-US" sz="2000">
                          <a:solidFill>
                            <a:srgbClr val="222222"/>
                          </a:solidFill>
                          <a:latin typeface="Times New Roman"/>
                          <a:ea typeface="Times New Roman"/>
                          <a:cs typeface="Times New Roman"/>
                          <a:sym typeface="Times New Roman"/>
                        </a:rPr>
                        <a:t>Unsupported Boolean operator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222222"/>
                          </a:solidFill>
                          <a:latin typeface="Times New Roman"/>
                          <a:ea typeface="Times New Roman"/>
                          <a:cs typeface="Times New Roman"/>
                          <a:sym typeface="Times New Roman"/>
                        </a:rPr>
                        <a:t>Rejected by the condition parser.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23371">
                <a:tc>
                  <a:txBody>
                    <a:bodyPr/>
                    <a:lstStyle/>
                    <a:p>
                      <a:pPr algn="ctr">
                        <a:lnSpc>
                          <a:spcPts val="2800"/>
                        </a:lnSpc>
                        <a:defRPr/>
                      </a:pPr>
                      <a:r>
                        <a:rPr lang="en-US" sz="2000">
                          <a:solidFill>
                            <a:srgbClr val="222222"/>
                          </a:solidFill>
                          <a:latin typeface="Times New Roman"/>
                          <a:ea typeface="Times New Roman"/>
                          <a:cs typeface="Times New Roman"/>
                          <a:sym typeface="Times New Roman"/>
                        </a:rPr>
                        <a:t>Undefined selection reference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222222"/>
                          </a:solidFill>
                          <a:latin typeface="Times New Roman"/>
                          <a:ea typeface="Times New Roman"/>
                          <a:cs typeface="Times New Roman"/>
                          <a:sym typeface="Times New Roman"/>
                        </a:rPr>
                        <a:t>Rejected during semantic analysis.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3371">
                <a:tc>
                  <a:txBody>
                    <a:bodyPr/>
                    <a:lstStyle/>
                    <a:p>
                      <a:pPr algn="ctr">
                        <a:lnSpc>
                          <a:spcPts val="2800"/>
                        </a:lnSpc>
                        <a:defRPr/>
                      </a:pPr>
                      <a:r>
                        <a:rPr lang="en-US" sz="2000">
                          <a:solidFill>
                            <a:srgbClr val="222222"/>
                          </a:solidFill>
                          <a:latin typeface="Times New Roman"/>
                          <a:ea typeface="Times New Roman"/>
                          <a:cs typeface="Times New Roman"/>
                          <a:sym typeface="Times New Roman"/>
                        </a:rPr>
                        <a:t>Matching OCSF event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222222"/>
                          </a:solidFill>
                          <a:latin typeface="Times New Roman"/>
                          <a:ea typeface="Times New Roman"/>
                          <a:cs typeface="Times New Roman"/>
                          <a:sym typeface="Times New Roman"/>
                        </a:rPr>
                        <a:t>Compiled predicate returns true and generates an alert.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23371">
                <a:tc>
                  <a:txBody>
                    <a:bodyPr/>
                    <a:lstStyle/>
                    <a:p>
                      <a:pPr algn="ctr">
                        <a:lnSpc>
                          <a:spcPts val="2800"/>
                        </a:lnSpc>
                        <a:defRPr/>
                      </a:pPr>
                      <a:r>
                        <a:rPr lang="en-US" sz="2000">
                          <a:solidFill>
                            <a:srgbClr val="222222"/>
                          </a:solidFill>
                          <a:latin typeface="Times New Roman"/>
                          <a:ea typeface="Times New Roman"/>
                          <a:cs typeface="Times New Roman"/>
                          <a:sym typeface="Times New Roman"/>
                        </a:rPr>
                        <a:t>Non-matching OCSF event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222222"/>
                          </a:solidFill>
                          <a:latin typeface="Times New Roman"/>
                          <a:ea typeface="Times New Roman"/>
                          <a:cs typeface="Times New Roman"/>
                          <a:sym typeface="Times New Roman"/>
                        </a:rPr>
                        <a:t>Predicate returns false and no rule alert is generated.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23371">
                <a:tc>
                  <a:txBody>
                    <a:bodyPr/>
                    <a:lstStyle/>
                    <a:p>
                      <a:pPr algn="ctr">
                        <a:lnSpc>
                          <a:spcPts val="2800"/>
                        </a:lnSpc>
                        <a:defRPr/>
                      </a:pPr>
                      <a:r>
                        <a:rPr lang="en-US" sz="2000">
                          <a:solidFill>
                            <a:srgbClr val="222222"/>
                          </a:solidFill>
                          <a:latin typeface="Times New Roman"/>
                          <a:ea typeface="Times New Roman"/>
                          <a:cs typeface="Times New Roman"/>
                          <a:sym typeface="Times New Roman"/>
                        </a:rPr>
                        <a:t>Unrelated event class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222222"/>
                          </a:solidFill>
                          <a:latin typeface="Times New Roman"/>
                          <a:ea typeface="Times New Roman"/>
                          <a:cs typeface="Times New Roman"/>
                          <a:sym typeface="Times New Roman"/>
                        </a:rPr>
                        <a:t>Rule is excluded through class-based indexing.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823371">
                <a:tc>
                  <a:txBody>
                    <a:bodyPr/>
                    <a:lstStyle/>
                    <a:p>
                      <a:pPr algn="ctr">
                        <a:lnSpc>
                          <a:spcPts val="2800"/>
                        </a:lnSpc>
                        <a:defRPr/>
                      </a:pPr>
                      <a:r>
                        <a:rPr lang="en-US" sz="2000">
                          <a:solidFill>
                            <a:srgbClr val="222222"/>
                          </a:solidFill>
                          <a:latin typeface="Times New Roman"/>
                          <a:ea typeface="Times New Roman"/>
                          <a:cs typeface="Times New Roman"/>
                          <a:sym typeface="Times New Roman"/>
                        </a:rPr>
                        <a:t>Invalid rule update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dirty="0">
                          <a:solidFill>
                            <a:srgbClr val="222222"/>
                          </a:solidFill>
                          <a:latin typeface="Times New Roman"/>
                          <a:ea typeface="Times New Roman"/>
                          <a:cs typeface="Times New Roman"/>
                          <a:sym typeface="Times New Roman"/>
                        </a:rPr>
                        <a:t>Existing valid compiled rule is retained where the reload fallback is implemented.</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6"/>
          <p:cNvSpPr txBox="1"/>
          <p:nvPr/>
        </p:nvSpPr>
        <p:spPr>
          <a:xfrm>
            <a:off x="488931" y="265182"/>
            <a:ext cx="4273811" cy="1055370"/>
          </a:xfrm>
          <a:prstGeom prst="rect">
            <a:avLst/>
          </a:prstGeom>
        </p:spPr>
        <p:txBody>
          <a:bodyPr lIns="0" tIns="0" rIns="0" bIns="0" rtlCol="0" anchor="t">
            <a:spAutoFit/>
          </a:bodyPr>
          <a:lstStyle/>
          <a:p>
            <a:pPr algn="ctr">
              <a:lnSpc>
                <a:spcPts val="6839"/>
              </a:lnSpc>
            </a:pPr>
            <a:r>
              <a:rPr lang="en-US" sz="6000" b="1">
                <a:solidFill>
                  <a:srgbClr val="222222"/>
                </a:solidFill>
                <a:latin typeface="Agrandir Wide Bold"/>
                <a:ea typeface="Agrandir Wide Bold"/>
                <a:cs typeface="Agrandir Wide Bold"/>
                <a:sym typeface="Agrandir Wide Bold"/>
              </a:rPr>
              <a:t>RESULTS</a:t>
            </a:r>
          </a:p>
        </p:txBody>
      </p:sp>
      <p:sp>
        <p:nvSpPr>
          <p:cNvPr id="7" name="TextBox 7"/>
          <p:cNvSpPr txBox="1"/>
          <p:nvPr/>
        </p:nvSpPr>
        <p:spPr>
          <a:xfrm>
            <a:off x="488931" y="1529871"/>
            <a:ext cx="4389705" cy="495300"/>
          </a:xfrm>
          <a:prstGeom prst="rect">
            <a:avLst/>
          </a:prstGeom>
        </p:spPr>
        <p:txBody>
          <a:bodyPr lIns="0" tIns="0" rIns="0" bIns="0" rtlCol="0" anchor="t">
            <a:spAutoFit/>
          </a:bodyPr>
          <a:lstStyle/>
          <a:p>
            <a:pPr algn="ctr">
              <a:lnSpc>
                <a:spcPts val="4274"/>
              </a:lnSpc>
              <a:spcBef>
                <a:spcPct val="0"/>
              </a:spcBef>
            </a:pPr>
            <a:r>
              <a:rPr lang="en-US" sz="2499" b="1" spc="137">
                <a:solidFill>
                  <a:srgbClr val="222222"/>
                </a:solidFill>
                <a:latin typeface="Canva Sans Bold"/>
                <a:ea typeface="Canva Sans Bold"/>
                <a:cs typeface="Canva Sans Bold"/>
                <a:sym typeface="Canva Sans Bold"/>
              </a:rPr>
              <a:t>A. Functional validation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488931" y="408057"/>
            <a:ext cx="4273811" cy="912495"/>
          </a:xfrm>
          <a:prstGeom prst="rect">
            <a:avLst/>
          </a:prstGeom>
        </p:spPr>
        <p:txBody>
          <a:bodyPr lIns="0" tIns="0" rIns="0" bIns="0" rtlCol="0" anchor="t">
            <a:spAutoFit/>
          </a:bodyPr>
          <a:lstStyle/>
          <a:p>
            <a:pPr algn="ctr">
              <a:lnSpc>
                <a:spcPts val="6839"/>
              </a:lnSpc>
            </a:pPr>
            <a:r>
              <a:rPr lang="en-US" sz="6000" b="1">
                <a:solidFill>
                  <a:srgbClr val="222222"/>
                </a:solidFill>
                <a:latin typeface="Times New Roman Bold"/>
                <a:ea typeface="Times New Roman Bold"/>
                <a:cs typeface="Times New Roman Bold"/>
                <a:sym typeface="Times New Roman Bold"/>
              </a:rPr>
              <a:t>RESULTS</a:t>
            </a:r>
          </a:p>
        </p:txBody>
      </p:sp>
      <p:sp>
        <p:nvSpPr>
          <p:cNvPr id="6" name="TextBox 6"/>
          <p:cNvSpPr txBox="1"/>
          <p:nvPr/>
        </p:nvSpPr>
        <p:spPr>
          <a:xfrm>
            <a:off x="0" y="1839053"/>
            <a:ext cx="5598922" cy="533643"/>
          </a:xfrm>
          <a:prstGeom prst="rect">
            <a:avLst/>
          </a:prstGeom>
        </p:spPr>
        <p:txBody>
          <a:bodyPr lIns="0" tIns="0" rIns="0" bIns="0" rtlCol="0" anchor="t">
            <a:spAutoFit/>
          </a:bodyPr>
          <a:lstStyle/>
          <a:p>
            <a:pPr algn="ctr">
              <a:lnSpc>
                <a:spcPts val="4497"/>
              </a:lnSpc>
              <a:spcBef>
                <a:spcPct val="0"/>
              </a:spcBef>
            </a:pPr>
            <a:r>
              <a:rPr lang="en-US" sz="2629" b="1" spc="144">
                <a:solidFill>
                  <a:srgbClr val="222222"/>
                </a:solidFill>
                <a:latin typeface="Times New Roman Bold"/>
                <a:ea typeface="Times New Roman Bold"/>
                <a:cs typeface="Times New Roman Bold"/>
                <a:sym typeface="Times New Roman Bold"/>
              </a:rPr>
              <a:t>B. Quantitative evaluation</a:t>
            </a:r>
          </a:p>
        </p:txBody>
      </p:sp>
      <p:sp>
        <p:nvSpPr>
          <p:cNvPr id="7" name="TextBox 7"/>
          <p:cNvSpPr txBox="1"/>
          <p:nvPr/>
        </p:nvSpPr>
        <p:spPr>
          <a:xfrm>
            <a:off x="488931" y="2459245"/>
            <a:ext cx="16345560" cy="7439088"/>
          </a:xfrm>
          <a:prstGeom prst="rect">
            <a:avLst/>
          </a:prstGeom>
        </p:spPr>
        <p:txBody>
          <a:bodyPr lIns="0" tIns="0" rIns="0" bIns="0" rtlCol="0" anchor="t">
            <a:spAutoFit/>
          </a:bodyPr>
          <a:lstStyle/>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Compilation success rate: Valid rules compiled successfully / valid rules submitted.</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Detection precision: True positive alerts / all positive alerts generated.</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False-positive rate: False positives / all actual negative events.</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Average event evaluation latency: Average time taken to evaluate an event.</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Throughput: Number of events processed per second.</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Compilation overhead: Time required to compile a rule.</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Optimization benefit: Runtime comparison between repeated interpretation and compiled predicate evaluation, using the same rules and events.</a:t>
            </a:r>
          </a:p>
          <a:p>
            <a:pPr algn="l">
              <a:lnSpc>
                <a:spcPts val="3532"/>
              </a:lnSpc>
              <a:spcBef>
                <a:spcPct val="0"/>
              </a:spcBef>
            </a:pPr>
            <a:endParaRPr lang="en-US" sz="2065" spc="113" dirty="0">
              <a:solidFill>
                <a:srgbClr val="222222"/>
              </a:solidFill>
              <a:latin typeface="Times New Roman"/>
              <a:ea typeface="Times New Roman"/>
              <a:cs typeface="Times New Roman"/>
              <a:sym typeface="Times New Roman"/>
            </a:endParaRPr>
          </a:p>
          <a:p>
            <a:pPr algn="l">
              <a:lnSpc>
                <a:spcPts val="3532"/>
              </a:lnSpc>
              <a:spcBef>
                <a:spcPct val="0"/>
              </a:spcBef>
            </a:pPr>
            <a:r>
              <a:rPr lang="en-US" sz="2065" b="1" spc="113" dirty="0">
                <a:solidFill>
                  <a:srgbClr val="222222"/>
                </a:solidFill>
                <a:latin typeface="Times New Roman Bold"/>
                <a:ea typeface="Times New Roman Bold"/>
                <a:cs typeface="Times New Roman Bold"/>
                <a:sym typeface="Times New Roman Bold"/>
              </a:rPr>
              <a:t>Future enhancements:</a:t>
            </a:r>
          </a:p>
          <a:p>
            <a:pPr marL="445959" lvl="1" indent="-222979">
              <a:spcBef>
                <a:spcPct val="0"/>
              </a:spcBef>
              <a:buFont typeface="Arial"/>
              <a:buChar char="•"/>
            </a:pPr>
            <a:r>
              <a:rPr lang="en-IN" sz="2000" dirty="0">
                <a:latin typeface="Times New Roman" panose="02020603050405020304" pitchFamily="18" charset="0"/>
                <a:cs typeface="Times New Roman" panose="02020603050405020304" pitchFamily="18" charset="0"/>
              </a:rPr>
              <a:t>Real-Time Incident Response</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Introduce automated response actions to contain detected threats and reduce incident response time.</a:t>
            </a:r>
            <a:endParaRPr lang="en-US" sz="2000" spc="113"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Integrate AI-based anomaly detection with rule-based alerts.</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Introduce automated cross-platform rule translation using retrieval-augmented generation and target-platform validation.</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Improve alert correlation and explainability.</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Expand testing to larger rule sets and higher event volumes.</a:t>
            </a:r>
          </a:p>
          <a:p>
            <a:pPr marL="445959" lvl="1" indent="-222979" algn="l">
              <a:lnSpc>
                <a:spcPts val="3532"/>
              </a:lnSpc>
              <a:spcBef>
                <a:spcPct val="0"/>
              </a:spcBef>
              <a:buFont typeface="Arial"/>
              <a:buChar char="•"/>
            </a:pPr>
            <a:r>
              <a:rPr lang="en-US" sz="2065" spc="113" dirty="0">
                <a:solidFill>
                  <a:srgbClr val="222222"/>
                </a:solidFill>
                <a:latin typeface="Times New Roman"/>
                <a:ea typeface="Times New Roman"/>
                <a:cs typeface="Times New Roman"/>
                <a:sym typeface="Times New Roman"/>
              </a:rPr>
              <a:t>Expand this framework to </a:t>
            </a:r>
            <a:r>
              <a:rPr lang="en-US" sz="2065" spc="113" dirty="0" err="1">
                <a:solidFill>
                  <a:srgbClr val="222222"/>
                </a:solidFill>
                <a:latin typeface="Times New Roman"/>
                <a:ea typeface="Times New Roman"/>
                <a:cs typeface="Times New Roman"/>
                <a:sym typeface="Times New Roman"/>
              </a:rPr>
              <a:t>analyse</a:t>
            </a:r>
            <a:r>
              <a:rPr lang="en-US" sz="2065" spc="113" dirty="0">
                <a:solidFill>
                  <a:srgbClr val="222222"/>
                </a:solidFill>
                <a:latin typeface="Times New Roman"/>
                <a:ea typeface="Times New Roman"/>
                <a:cs typeface="Times New Roman"/>
                <a:sym typeface="Times New Roman"/>
              </a:rPr>
              <a:t> semi-structured Data, unstructured data</a:t>
            </a:r>
          </a:p>
          <a:p>
            <a:pPr algn="l">
              <a:lnSpc>
                <a:spcPts val="3532"/>
              </a:lnSpc>
              <a:spcBef>
                <a:spcPct val="0"/>
              </a:spcBef>
            </a:pPr>
            <a:endParaRPr lang="en-US" sz="2065" spc="113" dirty="0">
              <a:solidFill>
                <a:srgbClr val="22222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70432" y="618260"/>
            <a:ext cx="9062240" cy="920447"/>
          </a:xfrm>
          <a:prstGeom prst="rect">
            <a:avLst/>
          </a:prstGeom>
        </p:spPr>
        <p:txBody>
          <a:bodyPr lIns="0" tIns="0" rIns="0" bIns="0" rtlCol="0" anchor="t">
            <a:spAutoFit/>
          </a:bodyPr>
          <a:lstStyle/>
          <a:p>
            <a:pPr algn="l">
              <a:lnSpc>
                <a:spcPts val="6971"/>
              </a:lnSpc>
            </a:pPr>
            <a:r>
              <a:rPr lang="en-US" sz="6114" b="1">
                <a:solidFill>
                  <a:srgbClr val="000000"/>
                </a:solidFill>
                <a:latin typeface="Times New Roman Bold"/>
                <a:ea typeface="Times New Roman Bold"/>
                <a:cs typeface="Times New Roman Bold"/>
                <a:sym typeface="Times New Roman Bold"/>
              </a:rPr>
              <a:t>REFERENCES</a:t>
            </a:r>
          </a:p>
        </p:txBody>
      </p:sp>
      <p:sp>
        <p:nvSpPr>
          <p:cNvPr id="6" name="TextBox 6"/>
          <p:cNvSpPr txBox="1"/>
          <p:nvPr/>
        </p:nvSpPr>
        <p:spPr>
          <a:xfrm>
            <a:off x="0" y="1950213"/>
            <a:ext cx="16984254" cy="7526485"/>
          </a:xfrm>
          <a:prstGeom prst="rect">
            <a:avLst/>
          </a:prstGeom>
        </p:spPr>
        <p:txBody>
          <a:bodyPr lIns="0" tIns="0" rIns="0" bIns="0" rtlCol="0" anchor="t">
            <a:spAutoFit/>
          </a:bodyPr>
          <a:lstStyle/>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M. Y. B. Darus et al., “A Log Aggregation Design Criteria for Robust SIEM (Security Information and Event Management) in Enhancing Threat Detection,” IEEE ICRAIE, 2023. DOI: </a:t>
            </a:r>
            <a:r>
              <a:rPr lang="en-US" sz="2071" u="sng" spc="113">
                <a:solidFill>
                  <a:srgbClr val="000000"/>
                </a:solidFill>
                <a:latin typeface="Times New Roman"/>
                <a:ea typeface="Times New Roman"/>
                <a:cs typeface="Times New Roman"/>
                <a:sym typeface="Times New Roman"/>
                <a:hlinkClick r:id="rId2" tooltip="https://doi.org/10.1109/ICRAIE59459.2023.10468438"/>
              </a:rPr>
              <a:t>10.1109/ICRAIE59459.2023.10468438</a:t>
            </a:r>
            <a:r>
              <a:rPr lang="en-US" sz="2071" spc="113">
                <a:solidFill>
                  <a:srgbClr val="000000"/>
                </a:solidFill>
                <a:latin typeface="Times New Roman"/>
                <a:ea typeface="Times New Roman"/>
                <a:cs typeface="Times New Roman"/>
                <a:sym typeface="Times New Roman"/>
              </a:rPr>
              <a:t>.</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T. Ban, T. Takahashi, S. Ndichu and D. Inoue, “Breaking Alert Fatigue: AI-Assisted SIEM Framework for Effective Incident Response,” Applied Sciences, vol. 13, no. 11, 6610, 2023. DOI: </a:t>
            </a:r>
            <a:r>
              <a:rPr lang="en-US" sz="2071" u="sng" spc="113">
                <a:solidFill>
                  <a:srgbClr val="000000"/>
                </a:solidFill>
                <a:latin typeface="Times New Roman"/>
                <a:ea typeface="Times New Roman"/>
                <a:cs typeface="Times New Roman"/>
                <a:sym typeface="Times New Roman"/>
                <a:hlinkClick r:id="rId3" tooltip="https://doi.org/10.3390/app13116610"/>
              </a:rPr>
              <a:t>10.3390/app13116610</a:t>
            </a:r>
            <a:r>
              <a:rPr lang="en-US" sz="2071" spc="113">
                <a:solidFill>
                  <a:srgbClr val="000000"/>
                </a:solidFill>
                <a:latin typeface="Times New Roman"/>
                <a:ea typeface="Times New Roman"/>
                <a:cs typeface="Times New Roman"/>
                <a:sym typeface="Times New Roman"/>
              </a:rPr>
              <a:t>.</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M. O. Lawal, “Human-AI Collaboration in Security Operations Centers (SOC 2.0): Opportunities, Challenges, and Pathways Forward,” Journal of Computational Analysis and Applications, vol. 33, no. 8, 2024.</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E. V. Bulgakova et al., “Analysis of Explainable Artificial Intelligence Methods in Security Information and Event Management Systems,” IEEE, 2025. DOI: </a:t>
            </a:r>
            <a:r>
              <a:rPr lang="en-US" sz="2071" u="sng" spc="113">
                <a:solidFill>
                  <a:srgbClr val="000000"/>
                </a:solidFill>
                <a:latin typeface="Times New Roman"/>
                <a:ea typeface="Times New Roman"/>
                <a:cs typeface="Times New Roman"/>
                <a:sym typeface="Times New Roman"/>
                <a:hlinkClick r:id="rId4" tooltip="https://doi.org/10.1109/IEEECONF64229.2025.10948089"/>
              </a:rPr>
              <a:t>10.1109/IEEECONF64229.2025.10948089</a:t>
            </a:r>
            <a:r>
              <a:rPr lang="en-US" sz="2071" spc="113">
                <a:solidFill>
                  <a:srgbClr val="000000"/>
                </a:solidFill>
                <a:latin typeface="Times New Roman"/>
                <a:ea typeface="Times New Roman"/>
                <a:cs typeface="Times New Roman"/>
                <a:sym typeface="Times New Roman"/>
              </a:rPr>
              <a:t>.</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Y. Liu et al., “Explainable AI Cloud Security Framework with Automating SIEM Event Management,” IEEE ICSI, 2026. DOI: </a:t>
            </a:r>
            <a:r>
              <a:rPr lang="en-US" sz="2071" u="sng" spc="113">
                <a:solidFill>
                  <a:srgbClr val="000000"/>
                </a:solidFill>
                <a:latin typeface="Times New Roman"/>
                <a:ea typeface="Times New Roman"/>
                <a:cs typeface="Times New Roman"/>
                <a:sym typeface="Times New Roman"/>
                <a:hlinkClick r:id="rId5" tooltip="https://doi.org/10.1109/ICSI70302.2026.11544238"/>
              </a:rPr>
              <a:t>10.1109/ICSI70302.2026.11544238</a:t>
            </a:r>
            <a:r>
              <a:rPr lang="en-US" sz="2071" spc="113">
                <a:solidFill>
                  <a:srgbClr val="000000"/>
                </a:solidFill>
                <a:latin typeface="Times New Roman"/>
                <a:ea typeface="Times New Roman"/>
                <a:cs typeface="Times New Roman"/>
                <a:sym typeface="Times New Roman"/>
              </a:rPr>
              <a:t>.</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A. Ibragimova et al., “Poster: Automated SIEM Detection Rule Translation System,” IEEE ICAIC, 2026. DOI: </a:t>
            </a:r>
            <a:r>
              <a:rPr lang="en-US" sz="2071" u="sng" spc="113">
                <a:solidFill>
                  <a:srgbClr val="000000"/>
                </a:solidFill>
                <a:latin typeface="Times New Roman"/>
                <a:ea typeface="Times New Roman"/>
                <a:cs typeface="Times New Roman"/>
                <a:sym typeface="Times New Roman"/>
                <a:hlinkClick r:id="rId6" tooltip="https://doi.org/10.1109/ICAIC67076.2026.11395856"/>
              </a:rPr>
              <a:t>10.1109/ICAIC67076.2026.11395856</a:t>
            </a:r>
            <a:r>
              <a:rPr lang="en-US" sz="2071" spc="113">
                <a:solidFill>
                  <a:srgbClr val="000000"/>
                </a:solidFill>
                <a:latin typeface="Times New Roman"/>
                <a:ea typeface="Times New Roman"/>
                <a:cs typeface="Times New Roman"/>
                <a:sym typeface="Times New Roman"/>
              </a:rPr>
              <a:t>.</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P. Lewis et al., “Retrieval-Augmented Generation for Knowledge-Intensive NLP Tasks,” Advances in Neural Information Processing Systems, vol. 33, 2020.</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N. Thakur et al., “BEIR: A Heterogeneous Benchmark for Zero-shot Retrieval Models,” NeurIPS Datasets and Benchmarks, 2021.</a:t>
            </a:r>
          </a:p>
          <a:p>
            <a:pPr marL="447188" lvl="1" indent="-223594" algn="l">
              <a:lnSpc>
                <a:spcPts val="3541"/>
              </a:lnSpc>
              <a:spcBef>
                <a:spcPct val="0"/>
              </a:spcBef>
              <a:buFont typeface="Arial"/>
              <a:buChar char="•"/>
            </a:pPr>
            <a:r>
              <a:rPr lang="en-US" sz="2071" spc="113">
                <a:solidFill>
                  <a:srgbClr val="000000"/>
                </a:solidFill>
                <a:latin typeface="Times New Roman"/>
                <a:ea typeface="Times New Roman"/>
                <a:cs typeface="Times New Roman"/>
                <a:sym typeface="Times New Roman"/>
              </a:rPr>
              <a:t>M. T. Ribeiro, S. Singh and C. Guestrin, “‘Why Should I Trust You?’: Explaining the Predictions of Any Classifier,” Proceedings of the 22nd ACM SIGKDD Conference, 2016. DOI: </a:t>
            </a:r>
            <a:r>
              <a:rPr lang="en-US" sz="2071" u="sng" spc="113">
                <a:solidFill>
                  <a:srgbClr val="000000"/>
                </a:solidFill>
                <a:latin typeface="Times New Roman"/>
                <a:ea typeface="Times New Roman"/>
                <a:cs typeface="Times New Roman"/>
                <a:sym typeface="Times New Roman"/>
                <a:hlinkClick r:id="rId7" tooltip="https://doi.org/10.1145/2939672.2939778"/>
              </a:rPr>
              <a:t>10.1145/2939672.2939778</a:t>
            </a:r>
            <a:r>
              <a:rPr lang="en-US" sz="2071" spc="113">
                <a:solidFill>
                  <a:srgbClr val="000000"/>
                </a:solidFill>
                <a:latin typeface="Times New Roman"/>
                <a:ea typeface="Times New Roman"/>
                <a:cs typeface="Times New Roman"/>
                <a:sym typeface="Times New Roman"/>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647700" y="354230"/>
            <a:ext cx="8891934" cy="912495"/>
          </a:xfrm>
          <a:prstGeom prst="rect">
            <a:avLst/>
          </a:prstGeom>
        </p:spPr>
        <p:txBody>
          <a:bodyPr lIns="0" tIns="0" rIns="0" bIns="0" rtlCol="0" anchor="t">
            <a:spAutoFit/>
          </a:bodyPr>
          <a:lstStyle/>
          <a:p>
            <a:pPr algn="l">
              <a:lnSpc>
                <a:spcPts val="6839"/>
              </a:lnSpc>
            </a:pPr>
            <a:r>
              <a:rPr lang="en-US" sz="6000" b="1">
                <a:solidFill>
                  <a:srgbClr val="000000"/>
                </a:solidFill>
                <a:latin typeface="Times New Roman Bold"/>
                <a:ea typeface="Times New Roman Bold"/>
                <a:cs typeface="Times New Roman Bold"/>
                <a:sym typeface="Times New Roman Bold"/>
              </a:rPr>
              <a:t>REFERENCES</a:t>
            </a:r>
          </a:p>
        </p:txBody>
      </p:sp>
      <p:sp>
        <p:nvSpPr>
          <p:cNvPr id="6" name="TextBox 6"/>
          <p:cNvSpPr txBox="1"/>
          <p:nvPr/>
        </p:nvSpPr>
        <p:spPr>
          <a:xfrm>
            <a:off x="144337" y="1478952"/>
            <a:ext cx="16833709" cy="7883772"/>
          </a:xfrm>
          <a:prstGeom prst="rect">
            <a:avLst/>
          </a:prstGeom>
        </p:spPr>
        <p:txBody>
          <a:bodyPr lIns="0" tIns="0" rIns="0" bIns="0" rtlCol="0" anchor="t">
            <a:spAutoFit/>
          </a:bodyPr>
          <a:lstStyle/>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S. M. Lundberg and S.-I. Lee, “A Unified Approach to Interpreting Model Predictions,” Advances in Neural Information Processing Systems, vol. 30, 2017.</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B. Strom et al., “Finding Cyber Threats with ATT&amp;CK-Based Analytics,” MITRE, 2017. </a:t>
            </a:r>
            <a:r>
              <a:rPr lang="en-US" sz="2052" u="sng" spc="112">
                <a:solidFill>
                  <a:srgbClr val="000000"/>
                </a:solidFill>
                <a:latin typeface="Times New Roman"/>
                <a:ea typeface="Times New Roman"/>
                <a:cs typeface="Times New Roman"/>
                <a:sym typeface="Times New Roman"/>
                <a:hlinkClick r:id="rId2" tooltip="https://www.mitre.org/news-insights/publication/finding-cyber-threats-attck-based-analytics"/>
              </a:rPr>
              <a:t>Publication page</a:t>
            </a:r>
            <a:r>
              <a:rPr lang="en-US" sz="2052" spc="112">
                <a:solidFill>
                  <a:srgbClr val="000000"/>
                </a:solidFill>
                <a:latin typeface="Times New Roman"/>
                <a:ea typeface="Times New Roman"/>
                <a:cs typeface="Times New Roman"/>
                <a:sym typeface="Times New Roman"/>
              </a:rPr>
              <a:t>.</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“Systematic Literature Review of Security Event Correlation Methods,” IEEE Access, 2022. </a:t>
            </a:r>
            <a:r>
              <a:rPr lang="en-US" sz="2052" u="sng" spc="112">
                <a:solidFill>
                  <a:srgbClr val="000000"/>
                </a:solidFill>
                <a:latin typeface="Times New Roman"/>
                <a:ea typeface="Times New Roman"/>
                <a:cs typeface="Times New Roman"/>
                <a:sym typeface="Times New Roman"/>
                <a:hlinkClick r:id="rId3" tooltip="https://doi.org/10.1109/ACCESS.2022.3168976"/>
              </a:rPr>
              <a:t>Publication DOI</a:t>
            </a:r>
            <a:r>
              <a:rPr lang="en-US" sz="2052" spc="112">
                <a:solidFill>
                  <a:srgbClr val="000000"/>
                </a:solidFill>
                <a:latin typeface="Times New Roman"/>
                <a:ea typeface="Times New Roman"/>
                <a:cs typeface="Times New Roman"/>
                <a:sym typeface="Times New Roman"/>
              </a:rPr>
              <a:t>.</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“New Types of Alert Correlation for Security Information and Event Management Systems,” 8th IFIP International Conference on New Technologies, Mobility and Security, 2016. DOI: </a:t>
            </a:r>
            <a:r>
              <a:rPr lang="en-US" sz="2052" u="sng" spc="112">
                <a:solidFill>
                  <a:srgbClr val="000000"/>
                </a:solidFill>
                <a:latin typeface="Times New Roman"/>
                <a:ea typeface="Times New Roman"/>
                <a:cs typeface="Times New Roman"/>
                <a:sym typeface="Times New Roman"/>
                <a:hlinkClick r:id="rId4" tooltip="https://doi.org/10.1109/NTMS.2016.7792462"/>
              </a:rPr>
              <a:t>10.1109/NTMS.2016.7792462</a:t>
            </a:r>
            <a:r>
              <a:rPr lang="en-US" sz="2052" spc="112">
                <a:solidFill>
                  <a:srgbClr val="000000"/>
                </a:solidFill>
                <a:latin typeface="Times New Roman"/>
                <a:ea typeface="Times New Roman"/>
                <a:cs typeface="Times New Roman"/>
                <a:sym typeface="Times New Roman"/>
              </a:rPr>
              <a:t>.</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S. Salah, G. Maciá-Fernández and J. E. Díaz-Verdejo, “A Model-Based Survey of Alert Correlation Techniques,” Computer Networks, vol. 57, no. 5, pp. 1289–1317, 2013. DOI: </a:t>
            </a:r>
            <a:r>
              <a:rPr lang="en-US" sz="2052" u="sng" spc="112">
                <a:solidFill>
                  <a:srgbClr val="000000"/>
                </a:solidFill>
                <a:latin typeface="Times New Roman"/>
                <a:ea typeface="Times New Roman"/>
                <a:cs typeface="Times New Roman"/>
                <a:sym typeface="Times New Roman"/>
                <a:hlinkClick r:id="rId5" tooltip="https://doi.org/10.1016/j.comnet.2012.10.022"/>
              </a:rPr>
              <a:t>10.1016/j.comnet.2012.10.022</a:t>
            </a:r>
            <a:r>
              <a:rPr lang="en-US" sz="2052" spc="112">
                <a:solidFill>
                  <a:srgbClr val="000000"/>
                </a:solidFill>
                <a:latin typeface="Times New Roman"/>
                <a:ea typeface="Times New Roman"/>
                <a:cs typeface="Times New Roman"/>
                <a:sym typeface="Times New Roman"/>
              </a:rPr>
              <a:t>.</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“Security Information Event Management Data Acquisition and Analysis Methods with Machine Learning Principles,” Results in Engineering, 2024. DOI: </a:t>
            </a:r>
            <a:r>
              <a:rPr lang="en-US" sz="2052" u="sng" spc="112">
                <a:solidFill>
                  <a:srgbClr val="000000"/>
                </a:solidFill>
                <a:latin typeface="Times New Roman"/>
                <a:ea typeface="Times New Roman"/>
                <a:cs typeface="Times New Roman"/>
                <a:sym typeface="Times New Roman"/>
                <a:hlinkClick r:id="rId6" tooltip="https://doi.org/10.1016/j.rineng.2024.102254"/>
              </a:rPr>
              <a:t>10.1016/j.rineng.2024.102254</a:t>
            </a:r>
            <a:r>
              <a:rPr lang="en-US" sz="2052" spc="112">
                <a:solidFill>
                  <a:srgbClr val="000000"/>
                </a:solidFill>
                <a:latin typeface="Times New Roman"/>
                <a:ea typeface="Times New Roman"/>
                <a:cs typeface="Times New Roman"/>
                <a:sym typeface="Times New Roman"/>
              </a:rPr>
              <a:t>.</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EvoSIEM: Detecting and Generating SIEM Rule Evasion Behaviors in Network Systems,” 2025 RIVF International Conference on Computing and Communication Technologies, 2025. DOI: 10.1109/RIVF68649.2025.11365129.</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A. Sapegin, D. Jaeger, F. Cheng, and C. Meinel, “Towards a System for Complex Analysis of Security Events in Large-Scale Networks,” Computers &amp; Security, vol. 67, pp. 16–34, Jun. 2017, doi: 10.1016/j.cose.2017.02.001.</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R. Uetz, M. Herzog, L. Hackländer, S. Schwarz, and M. Henze, “You Cannot Escape Me: Detecting Evasions of SIEM Rules in Enterprise Networks,” in Proc. 33rd USENIX Security Symp. (USENIX Security 24), 2024, pp. 5179–5196.</a:t>
            </a:r>
          </a:p>
          <a:p>
            <a:pPr marL="443224" lvl="1" indent="-221612" algn="l">
              <a:lnSpc>
                <a:spcPts val="3510"/>
              </a:lnSpc>
              <a:spcBef>
                <a:spcPct val="0"/>
              </a:spcBef>
              <a:buFont typeface="Arial"/>
              <a:buChar char="•"/>
            </a:pPr>
            <a:r>
              <a:rPr lang="en-US" sz="2052" spc="112">
                <a:solidFill>
                  <a:srgbClr val="000000"/>
                </a:solidFill>
                <a:latin typeface="Times New Roman"/>
                <a:ea typeface="Times New Roman"/>
                <a:cs typeface="Times New Roman"/>
                <a:sym typeface="Times New Roman"/>
              </a:rPr>
              <a:t>J. Piet, V. Fang, R. Khare, S. Coull, V. Paxson, R. A. Popa, and D. Wagner, “Semantic-Aware Parsing for Security Logs</a:t>
            </a:r>
          </a:p>
          <a:p>
            <a:pPr algn="just">
              <a:lnSpc>
                <a:spcPts val="3374"/>
              </a:lnSpc>
              <a:spcBef>
                <a:spcPct val="0"/>
              </a:spcBef>
            </a:pPr>
            <a:endParaRPr lang="en-US" sz="2052" spc="112">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3654261" y="4028243"/>
            <a:ext cx="10208996" cy="1555195"/>
          </a:xfrm>
          <a:prstGeom prst="rect">
            <a:avLst/>
          </a:prstGeom>
        </p:spPr>
        <p:txBody>
          <a:bodyPr lIns="0" tIns="0" rIns="0" bIns="0" rtlCol="0" anchor="t">
            <a:spAutoFit/>
          </a:bodyPr>
          <a:lstStyle/>
          <a:p>
            <a:pPr algn="l">
              <a:lnSpc>
                <a:spcPts val="11791"/>
              </a:lnSpc>
            </a:pPr>
            <a:r>
              <a:rPr lang="en-US" sz="10343" b="1">
                <a:solidFill>
                  <a:srgbClr val="222222"/>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2539</Words>
  <Application>Microsoft Office PowerPoint</Application>
  <PresentationFormat>Custom</PresentationFormat>
  <Paragraphs>264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Canva Sans Bold</vt:lpstr>
      <vt:lpstr>Times New Roman</vt:lpstr>
      <vt:lpstr>Calibri</vt:lpstr>
      <vt:lpstr>Arial</vt:lpstr>
      <vt:lpstr>Times New Roman Bold</vt:lpstr>
      <vt:lpstr>Agrandir Wide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Security Analytics Platform</dc:title>
  <dc:creator>Abhay Kapale</dc:creator>
  <cp:lastModifiedBy>Abhay Kapale</cp:lastModifiedBy>
  <cp:revision>5</cp:revision>
  <dcterms:created xsi:type="dcterms:W3CDTF">2006-08-16T00:00:00Z</dcterms:created>
  <dcterms:modified xsi:type="dcterms:W3CDTF">2026-10-13T09:21:49Z</dcterms:modified>
  <dc:identifier>DAHXyDCxcVU</dc:identifier>
</cp:coreProperties>
</file>